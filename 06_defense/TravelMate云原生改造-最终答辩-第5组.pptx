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各位老师好，我们是第 5 组 Miracle 小组，答辩项目是旅行服务平台 TravelMate。本次实践我们先复活并补齐了上学期的前后端单体，再把后端物理拆分为六个独立微服务，完成了容器化、CI/CD 流水线、Kubernetes 部署、自动扩缩容、故障隔离和性能对比。接下来四分钟先介绍项目与架构，随后进行七分钟现场演示。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这一页是全局结论：任务书要求的八个验收点我们全部落地。上面一排是关键数字：19 个业务用例、6 个微服务、207 次 Git 提交、12 个流水线任务、276 项自动化测试全部通过、35 张表一表一主。下面表格逐项给出完成情况和仓库内的证据位置，老师问到任何一项，我们都能直接定位到对应目录。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任务书把十天实践切成两段：前五天复活单体、补齐文档测试、容器化和 CI，冻结 monolith-start 基线；后五天在不改动单体仓库的前提下，把后端物理拆成六个微服务，部署到 Kubernetes，完成扩缩容、故障和性能实验，9 月 1 日通过拆分边界验证。下方时间轴是我们的真实里程碑，所有交付物按六个目录归档，过程管理证据齐全。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整体架构是经典的前后端分离四层结构：Vue3 单页应用通过 REST 接口访问 Spring Boot 业务层，业务层落到 MySQL 和 Redis。技术栈版本全部锁定，保证老师现场可复现。特别说明两点：一是单体和微服务两个形态在仓库里并存，数据模型一致，便于做同口径性能对比；二是项目不接真实支付和出票，外部能力都是可演示的桩，这一边界在 README 和答辩中都明确说明。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业务全景共 19 个用例，按业务能力归为六大域，左侧表格逐项列出，所有用例在追溯矩阵中的状态都是 covered。右侧是我们的追溯链：从需求条目到用例、子系统组件、数据对象、代码类和接口，最后落到自动化测试，正反两个方向都能查。老师任意点一个需求，我们都能顺着链条找到对应代码和测试；点一个测试，也能反查它覆盖哪个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这张图是我们的目标服务划分全景。拆分不是按 controller、service 这种技术层切，而是按业务能力：身份、交通、当地、AI、社区、运维六个服务，各自独立进程、独立数据库、独立镜像和副本。四条拆分依据列在右侧。特别强调：原来的单体代码全程没有改动，它保留下来作为性能对比的对照组，这也是任务书要求的对照实验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这张表把六个服务的边界一次性讲清：端口从 8081 到 8086，表归属精确到张数，身份 3 张、交通 6 张、本地 14 张、AI 6 张、社区 3 张、运维 2 张，合计 34 张；剩下一张媒体资源表暂留单体，文档里有明确说明，没有藏着掖着。最右列是服务间协作，全部走带令牌的内部 HTTP 接口，任何服务都不能直接读别人的库，这条规则由结构门禁自动检查。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数据归属是这次拆分的核心考点，我们用三条硬规则保证：一表一主、一服务一库一账号、跨服务取数只走内部接口。这不是口头约定：右侧是 9 月 1 日的实测记录，用每个服务自己的账号去查别人的库，MySQL 全部返回 1142 权限拒绝。右下角是引导脚本原文，先回收全部权限，再只授予本库的增删改查，连 DDL 权限都不给。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左图是跨服务调用和失败补偿的完整路径。右侧是我们冻结的内部接口契约：第一，所有内部调用必须带服务令牌；第二，超时严格限定在 1 秒连接、2 秒读取，避免级联阻塞；第三，依赖出问题统一返回 503 和固定错误码，前端能给出稳定提示；第四，通知类事件通过 Outbox 表加幂等键投递，失败退避重试、超限死信；最关键的是事务保护，比如身份服务不可用时交通订单根本不会进入扣库存阶段，保证不会出现扣了库存却没有订单的脏数据。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这是我们的流水线拓扑。每次 push 到 GitHub，Actions 会依次通过四道闸：先做变更识别，再跑后端、微服务、前端和真实数据库 E2E，由 ci-gate 汇总，任何一项失败都不能合并；合并后 Trivy 扫描镜像、推送 GHCR 镜像仓库并留存发布证据；最后部署到 Kubernetes 并做健康检查，交付闸全绿才算完成。整条流水线定义在 .github/workflows/ci.yml，共 12 个任务，下一页看真实运行记录。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CI/CD 不是写了个配置文件就算数，左边是真实的运行记录：第 217 次运行，12 个任务全部成功，耗时 11 分 44 秒，产出 10 个制品归档，包括测试报告和部署证据。特别说明真实数据库 E2E 是在流水线容器里跑真实 MySQL，不是 Mock。右下角是对应的 PR 合并记录，我们的分支保护要求评审通过且 CI 全绿才能合并，测试失败的提交确实被拦下来过，这条门禁是生效的。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微服务不是只在本地能跑，而是真正部署到了 Kubernetes。左上是流水线里的部署日志和部署后健康检查；右侧是集群工作负载清单：六个业务 Deployment 都配了三类健康探针和资源配额，六个 MySQL 用 StatefulSet 加独立存储卷，六个 Service 做服务发现，六个 HPA 负责扩缩容。下方宽截图是 kubectl 看到的工作负载和 Pod 状态，全部 Running、Ready，现场演示我们会直接在集群里操作。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测试分六层：单体后端 161 个、前端组件 24 个、Mock 端到端 6 个、真实数据库端到端 16 个，拆分后六服务新增 52 个后端测试和 17 个微服务端到端，合计 276 项，全部通过、零失败零跳过。下方是两个值得展开的点：一是关键业务断言，比如并发抢房防超卖和越权拦截；二是质量闭环，19 个用例全部可追溯，每次提交 CI 必跑，失败直接阻断合并。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扩缩容分两部分讲：左边是已经入库的真实配置，六个服务各绑一个 HPA，CPU 平均利用率超过 60% 就扩容，副本下限 2、上限 6；扩容零等待、每 30 秒最多翻倍或加两个 Pod，缩容有 120 秒稳定窗口防抖。右边是现场实验的五个步骤，用 k6 加压、用 kubectl 观察副本爬升和回落，前中后三态自动存档。底部如实说明：实测曲线在答辩现场触发，我们不提前编造数字。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故障处理我们做了真实实验而不是口头描述：8 月 31 日主动停掉身份服务。左侧时间线显示，故障期间交通服务的下单请求在超时控制下快速返回 503 和固定中文提示，但不依赖身份的航班查询依然 200，自身健康检查保持 UP；身份服务约 28 秒后重启完成，系统自动恢复。右侧对比表是关键：订单数 0 比 0、库存 317 比 317，没有产生任何脏数据。这说明超时、固定错误码、事务前置校验和优雅停机这四道防线确实生效。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性能对比我们最重视口径公平：同一提交、同一数据量、同一台机器、同一套 k6 脚本，三个场景各跑三轮取中位数，单体跑 8080、微服务跑 8081 到 8086。右侧记录表如实保留为待实测状态，数值由 summary-export 的原始 JSON 回填，不虚报提升、也不预设谁快。底部是并发下单的双重一致性核对：脚本断言加 SQL 复核，保证高压下不超卖。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最后一页两部分：左边是过程管理和工程诚信，每日站会、PR 评审、207 次提交和两个阶段标签都可查，AI 辅助内容全部经过人工复核和测试验证，没做完的实测绝不冒充结论。右边是七分钟现场演示的六步路线，从流水线、集群状态到重点用例、HPA 扩容和故障恢复，每一步都有脚本可重复执行。一句话总结：单体基线和六服务云原生形态在同一代码库交付，所有结论有证据、可复现，边界不夸大。答辩汇报到此，请老师提问。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57290">
            <a:off x="711253" y="93600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11200" y="540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软件工程基础实践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11200" y="1188000"/>
            <a:ext cx="5867400" cy="22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6666"/>
              </a:lnSpc>
              <a:defRPr/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TravelMate</a:t>
            </a:r>
            <a:endParaRPr lang="en-US" sz="1100" dirty="0"/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从单体到六服务微服务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的云原生改造实践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1200" y="3708000"/>
            <a:ext cx="57404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单体复活与容器化 → Kubernetes 六服务部署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 · 故障隔离 · 同口径性能对比</a:t>
            </a:r>
          </a:p>
        </p:txBody>
      </p:sp>
      <p:cxnSp>
        <p:nvCxnSpPr>
          <p:cNvPr id="6" name="Connector 6"/>
          <p:cNvCxnSpPr/>
          <p:nvPr/>
        </p:nvCxnSpPr>
        <p:spPr>
          <a:xfrm rot="-7994">
            <a:off x="711207" y="525600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5A8C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55440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第 5 组 · Miracle 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小组</a:t>
            </a: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全栈旅行服务平台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11200" y="5903999"/>
            <a:ext cx="5740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A6B8C"/>
                </a:solidFill>
                <a:latin typeface="Roboto Mono"/>
                <a:ea typeface="Roboto Mono"/>
                <a:cs typeface="Roboto Mono"/>
                <a:sym typeface="Roboto Mono"/>
              </a:rPr>
              <a:t>2026-09-04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68" r="68"/>
          <a:stretch>
            <a:fillRect/>
          </a:stretch>
        </p:blipFill>
        <p:spPr>
          <a:xfrm>
            <a:off x="6858000" y="1397000"/>
            <a:ext cx="4622800" cy="3086100"/>
          </a:xfrm>
          <a:prstGeom prst="rect">
            <a:avLst/>
          </a:prstGeom>
          <a:noFill/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858000" y="4597400"/>
            <a:ext cx="4622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系统总体架构：Vue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 3 + Spring Boot 3.5 + Java 21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+ Redis 7 + Docker + </a:t>
            </a: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Kubernetes（kind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八项验收要求与证据总览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4053">
            <a:off x="711204" y="133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业务用例全部可运行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146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146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独立微服务独立部署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245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提交·双标签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214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214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流水线任务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248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325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248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自动化测试全部通过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28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28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数据表一表一主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53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92207"/>
              </p:ext>
            </p:extLst>
          </p:nvPr>
        </p:nvGraphicFramePr>
        <p:xfrm>
          <a:off x="711200" y="2438400"/>
          <a:ext cx="10769600" cy="437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答辩验收点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证据位置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19/19 </a:t>
                      </a: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用例可运行，单体与微服务双形态交付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01_requirements / microservices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CI/CD 过程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14 个 Job 门禁链，测试失败即阻断合并与部署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.github/workflows/ci.yml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微服务拆分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个独立进程、独立库、独立部署的 Spring Boot 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microservices/services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数据归属管理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34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张业务表一表一主</a:t>
                      </a:r>
                      <a:r>
                        <a:rPr lang="zh-CN" altLang="en-US"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，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套独立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MySQL，跨库访问被账号拒绝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k8s/mysql + 权限隔离测试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单元 / 集成 / E2E 三层共 325 项全绿，需求可追溯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 / docs/ci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自动扩缩容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6 个 HPA：副本 2→6、CPU 阈值 60%，09-02 已实测通过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k8s/hpa.yaml / 04_tests/stress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身份服务宕机真实实验：故障不级联、数据不变、自动恢复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04_tests/fault/results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性能对比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同机同数据同脚本，2 场景 × 3 轮已实测出数；并发下单防超卖验证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04_tests/stress/k6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02 / PROCESS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组内分工与大模型使用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712800" y="1296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组内分工方案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2800" y="1602000"/>
            <a:ext cx="5220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2800" y="1728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邹林利 · 测试验收 / 六服务拆分收尾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800" y="1998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CI 用例门禁与真实 E2E；HPA / 故障 / 性能实验；需求用例与追溯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800" y="2700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李科 · 部署闭环 / 需求设计文档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800" y="2970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微服务首批拆分；K8s 自动部署与健康检查；概要设计；答辩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800" y="3671999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杜新诚 · 拆分代码 / 数据库迁移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800" y="3941999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微服务拆分核心代码；Flyway 迁移与部署门禁；看板归档；演示材料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800" y="4644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陈一鸿 · CI/CD 发布 / 安全门禁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00" y="4914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GHCR 镜像发布与持续部署；CodeQL 安全门禁；镜像加固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800" y="565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3B5A8C"/>
                </a:solidFill>
                <a:latin typeface="微软雅黑"/>
              </a:rPr>
              <a:t>协作机制：每日站会、看板任务流转、PR 评审全程留痕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601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Git 全量留痕：245 次提交、两个阶段标签冻结基线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296000"/>
            <a:ext cx="5148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大模型使用情况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36000" y="1602000"/>
            <a:ext cx="5148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36000" y="1728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998000"/>
            <a:ext cx="5148000" cy="252643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 dirty="0" err="1">
                <a:solidFill>
                  <a:srgbClr val="5A6B8C"/>
                </a:solidFill>
                <a:latin typeface="微软雅黑"/>
              </a:rPr>
              <a:t>Codex（AI</a:t>
            </a:r>
            <a:r>
              <a:rPr sz="1500" b="0" dirty="0">
                <a:solidFill>
                  <a:srgbClr val="5A6B8C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5A6B8C"/>
                </a:solidFill>
                <a:latin typeface="微软雅黑"/>
              </a:rPr>
              <a:t>编程助手）</a:t>
            </a:r>
            <a:r>
              <a:rPr lang="en-US" altLang="zh-CN" sz="1500" b="0" dirty="0" err="1">
                <a:solidFill>
                  <a:srgbClr val="5A6B8C"/>
                </a:solidFill>
                <a:latin typeface="微软雅黑"/>
              </a:rPr>
              <a:t>kimi</a:t>
            </a:r>
            <a:r>
              <a:rPr lang="en-US" altLang="zh-CN" sz="1500" b="0" dirty="0">
                <a:solidFill>
                  <a:srgbClr val="5A6B8C"/>
                </a:solidFill>
                <a:latin typeface="微软雅黑"/>
              </a:rPr>
              <a:t> </a:t>
            </a:r>
            <a:r>
              <a:rPr lang="zh-CN" altLang="en-US" sz="1500" b="0" dirty="0">
                <a:solidFill>
                  <a:srgbClr val="5A6B8C"/>
                </a:solidFill>
                <a:latin typeface="微软雅黑"/>
              </a:rPr>
              <a:t>豆包</a:t>
            </a:r>
            <a:endParaRPr sz="1500" b="0" dirty="0">
              <a:solidFill>
                <a:srgbClr val="5A6B8C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000" y="2700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000" y="2970000"/>
            <a:ext cx="5148000" cy="717001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5A6B8C"/>
                </a:solidFill>
                <a:latin typeface="微软雅黑"/>
              </a:rPr>
              <a:t>辅助编写代码脚手架与单元测试；生成与润色需求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/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设计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/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测试文档；辅助排查报错与脚本编写</a:t>
            </a:r>
            <a:endParaRPr sz="1600" b="0" dirty="0">
              <a:solidFill>
                <a:srgbClr val="5A6B8C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6000" y="4031999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人工检查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000" y="4302000"/>
            <a:ext cx="5148000" cy="1086333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5A6B8C"/>
                </a:solidFill>
                <a:latin typeface="微软雅黑"/>
              </a:rPr>
              <a:t>所有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AI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产出经人工代码评审（PR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review）；CI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六层测试门禁拦截；锁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/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事务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/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幂等等关键实现人工核对并补充边界测试；AI</a:t>
            </a:r>
            <a:r>
              <a:rPr sz="1600" b="0" dirty="0">
                <a:solidFill>
                  <a:srgbClr val="5A6B8C"/>
                </a:solidFill>
                <a:latin typeface="微软雅黑"/>
              </a:rPr>
              <a:t> </a:t>
            </a:r>
            <a:r>
              <a:rPr sz="1600" b="0" dirty="0" err="1">
                <a:solidFill>
                  <a:srgbClr val="5A6B8C"/>
                </a:solidFill>
                <a:latin typeface="微软雅黑"/>
              </a:rPr>
              <a:t>使用记录留存可查</a:t>
            </a:r>
            <a:endParaRPr sz="1600" b="0" dirty="0">
              <a:solidFill>
                <a:srgbClr val="5A6B8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03 / ROADMAP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十天两阶段实施路线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· 单体复活与工程化（08-22 → 08-27）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07999"/>
            <a:ext cx="5257800" cy="24903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" y="1997999"/>
            <a:ext cx="5112000" cy="21738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恢复上学期前后端单体，19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个用例本地可运行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补齐需求规格、设计说明、测试用例与追溯矩阵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 Dockerfile 与 docker-compose 一键部署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Actions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流水线：测试门禁、自动构建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冻结回归基线，建立 monolith-start 标签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08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2000"/>
              </a:spcAft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 · 微服务与云原生（08-28 → 09-01）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8000"/>
            <a:ext cx="5257800" cy="249034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26200" y="1998000"/>
            <a:ext cx="5112000" cy="21992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后端物理拆分为 6 个业务微服务（不少于 3 个）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套独立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MySQL 与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Redis，内部接口令牌鉴权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Kubernetes：Deployment、StatefulSet、Service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自动扩缩容、故障注入、k6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性能对比实验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17 项微服务 E2E 全绿，建立 microservices-phase1 标签</a:t>
            </a:r>
          </a:p>
        </p:txBody>
      </p:sp>
      <p:cxnSp>
        <p:nvCxnSpPr>
          <p:cNvPr id="14" name="Connector 14"/>
          <p:cNvCxnSpPr>
            <a:cxnSpLocks/>
          </p:cNvCxnSpPr>
          <p:nvPr/>
        </p:nvCxnSpPr>
        <p:spPr>
          <a:xfrm>
            <a:off x="760171" y="6247726"/>
            <a:ext cx="1072062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3175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207000" y="49320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239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271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998200" y="4932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81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需求冻结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413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13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单体测试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全量转绿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445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08-27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中期验收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基线冻结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477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六服务上线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部署就绪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509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09-01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09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E2E 17/17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边界验证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362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09-04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2362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最终答辩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</a:p>
        </p:txBody>
      </p:sp>
      <p:cxnSp>
        <p:nvCxnSpPr>
          <p:cNvPr id="33" name="Connector 33"/>
          <p:cNvCxnSpPr/>
          <p:nvPr/>
        </p:nvCxnSpPr>
        <p:spPr>
          <a:xfrm rot="-4053">
            <a:off x="711204" y="669600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6">
            <a:extLst>
              <a:ext uri="{FF2B5EF4-FFF2-40B4-BE49-F238E27FC236}">
                <a16:creationId xmlns:a16="http://schemas.microsoft.com/office/drawing/2014/main" id="{FF7DCB77-7E2B-D880-BBC9-E91399D760EC}"/>
              </a:ext>
            </a:extLst>
          </p:cNvPr>
          <p:cNvSpPr/>
          <p:nvPr/>
        </p:nvSpPr>
        <p:spPr>
          <a:xfrm>
            <a:off x="1143000" y="4958946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04 / ARCHITECTURE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总体架构与技术选型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71600"/>
            <a:ext cx="6553200" cy="43688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7912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　TravelMate 系统总体架构（源自《详细设计说明》图 01）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69200" y="1371600"/>
            <a:ext cx="3911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技术选型与版本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523999" y="1727200"/>
          <a:ext cx="4463999" cy="23926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选型与版本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Vue 3 / Vite / Element Plus / Pinia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Spring Boot 3.5 / Java 21 / MyBatis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100" b="0">
                          <a:solidFill>
                            <a:srgbClr val="2E343C"/>
                          </a:solidFill>
                          <a:latin typeface="Roboto Mono"/>
                        </a:rPr>
                        <a:t>　MySQL 8（单体 8.0 / 微服务 8.4）/ Redis 7（缓存与锁）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Docker / Kubernetes（kind）/ GHCR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/ Playwright / k6 / Trivy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0" name="Connector 10"/>
          <p:cNvCxnSpPr/>
          <p:nvPr/>
        </p:nvCxnSpPr>
        <p:spPr>
          <a:xfrm rot="-11161">
            <a:off x="7523999" y="4184650"/>
            <a:ext cx="44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523999" y="4343400"/>
            <a:ext cx="44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23999" y="4699000"/>
            <a:ext cx="44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表现、接口、业务、数据四层分离</a:t>
            </a:r>
            <a:endParaRPr lang="en-US" sz="1100"/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单体与微服务双形态并存、同模型演进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配置外置，健康检查 /actuator/health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无真实支付与出票，外部能力均为可演示桩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05 / REQUIREMENTS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UC01—UC19 用例全景与追溯链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71600"/>
          <a:ext cx="68580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用例（共 19，状态全部 covered）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账号与权限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UC01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注册登录与账户安全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常用旅客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UC17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主页与关注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交通出行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UC02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航班查询与预订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UC03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火车票与候补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交通订单支付退改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当地服务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UC05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酒店订房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酒店订单与库存回补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UC07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景点购票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UC08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一日游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周边游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权益与 AI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UC10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优惠券领取核销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UC11 AI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行程生成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UC12 AI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客服对话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旅行社区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UC09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评价与举报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游记发布审核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UC15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点赞收藏评论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后台与消息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UC13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通知与私信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UC18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管理后台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UC19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内容安全与可观测性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8136000" y="1371600"/>
            <a:ext cx="350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需求追溯链（双向）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36000" y="1778400"/>
            <a:ext cx="3505200" cy="38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36000" y="17784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 需求条目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14181">
            <a:off x="9813600" y="24120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8136000" y="2664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36000" y="26640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 业务用例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14181">
            <a:off x="9813600" y="32976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8136000" y="35496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36000" y="35496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SYS 子系统 / COMP 组件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14181">
            <a:off x="9813600" y="4183199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7" name="AutoShape 17"/>
          <p:cNvSpPr/>
          <p:nvPr/>
        </p:nvSpPr>
        <p:spPr>
          <a:xfrm>
            <a:off x="8136000" y="44352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36000" y="44352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OBJ 数据对象（35 张表）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9813600" y="50688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0" name="AutoShape 20"/>
          <p:cNvSpPr/>
          <p:nvPr/>
        </p:nvSpPr>
        <p:spPr>
          <a:xfrm>
            <a:off x="8136000" y="53208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36000" y="53208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代码类 / 接口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114181">
            <a:off x="9813600" y="59544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3" name="AutoShape 23"/>
          <p:cNvSpPr/>
          <p:nvPr/>
        </p:nvSpPr>
        <p:spPr>
          <a:xfrm>
            <a:off x="8136000" y="6206399"/>
            <a:ext cx="3505200" cy="381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36000" y="6206399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 / 接口 / E2E 测试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5003827" y="1544551"/>
            <a:ext cx="262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chemeClr val="bg1"/>
                </a:solidFill>
                <a:latin typeface="微软雅黑"/>
              </a:rPr>
              <a:t>代表用例：UC0</a:t>
            </a:r>
            <a:r>
              <a:rPr lang="en-US" altLang="zh-CN" sz="1300" dirty="0">
                <a:solidFill>
                  <a:schemeClr val="bg1"/>
                </a:solidFill>
                <a:latin typeface="微软雅黑"/>
              </a:rPr>
              <a:t>3</a:t>
            </a:r>
            <a:r>
              <a:rPr sz="1300" dirty="0">
                <a:solidFill>
                  <a:schemeClr val="bg1"/>
                </a:solidFill>
                <a:latin typeface="微软雅黑"/>
              </a:rPr>
              <a:t> · UC</a:t>
            </a:r>
            <a:r>
              <a:rPr lang="en-US" altLang="zh-CN" sz="1300" dirty="0">
                <a:solidFill>
                  <a:schemeClr val="bg1"/>
                </a:solidFill>
                <a:latin typeface="微软雅黑"/>
              </a:rPr>
              <a:t>11</a:t>
            </a:r>
            <a:r>
              <a:rPr sz="1300" dirty="0">
                <a:solidFill>
                  <a:schemeClr val="bg1"/>
                </a:solidFill>
                <a:latin typeface="微软雅黑"/>
              </a:rPr>
              <a:t> · UC1</a:t>
            </a:r>
            <a:r>
              <a:rPr lang="en-US" altLang="zh-CN" sz="1300" dirty="0">
                <a:solidFill>
                  <a:schemeClr val="bg1"/>
                </a:solidFill>
                <a:latin typeface="微软雅黑"/>
              </a:rPr>
              <a:t>4</a:t>
            </a:r>
            <a:endParaRPr sz="1300" dirty="0">
              <a:solidFill>
                <a:schemeClr val="bg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按业务能力的六服务划分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295400"/>
            <a:ext cx="7620000" cy="5080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4262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TravelMate 目标服务划分（源自《详细设计说明》图 26）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20000" y="1320800"/>
            <a:ext cx="284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四条拆分依据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346">
            <a:off x="8820000" y="1670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820000" y="1689100"/>
            <a:ext cx="2844800" cy="464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spcAft>
                <a:spcPts val="1500"/>
              </a:spcAft>
              <a:defRPr/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业务能力边界</a:t>
            </a:r>
            <a:endParaRPr lang="en-US" sz="1600" dirty="0"/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按业务域拆，不按技术分层拆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每服务独占自己的表与库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独立部署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独立进程、镜像与副本伸缩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4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显式协作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</a:t>
            </a:r>
            <a:r>
              <a:rPr lang="en-US" sz="16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HTTP </a:t>
            </a: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接口加消息表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5346">
            <a:off x="8820000" y="648000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六服务职责、端口与表归属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07696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职责边界（独占数据）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跨服务协作（仅走内部接口）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identity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注册登录、RBAC 权限、常用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旅客、关注关系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向交通、社区提供旅客归属与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用户快照内部接口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traffic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航班、火车、候补、交通订单、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价格历史、交通 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调身份校验旅客；调本地核销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优惠券，失败即回滚订单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local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酒店、景点、目的地、评价、举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报、优惠券、本地游、Outbox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提供优惠券核销内部接口；酒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店库存防超卖在本服务闭环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AI 行程、AI 对话、通知、私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信、事件消费去重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以 Idempotency-Key 幂等消费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交通、本地的通知事件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community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帖子、评论、点赞与收藏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（攻略社区闭环）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调身份取用户快照；调运维做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敏感内容检查，不绕过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ops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敏感词、操作日志，后台聚合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管理入口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经 /internal/admin 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下发命令</a:t>
                      </a: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不直接访问业务数据库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07 / DATA OWNERSHIP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09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数据所有权：一表一主与账号隔离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三条数据所有权硬规则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542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18288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一表一主：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34 张表每张只有一个服务可写；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禁止跨服务 JOIN、禁止共享数据库与共享表。</a:t>
            </a:r>
          </a:p>
        </p:txBody>
      </p:sp>
      <p:cxnSp>
        <p:nvCxnSpPr>
          <p:cNvPr id="10" name="Connector 10"/>
          <p:cNvCxnSpPr/>
          <p:nvPr/>
        </p:nvCxnSpPr>
        <p:spPr>
          <a:xfrm rot="-8107">
            <a:off x="711207" y="27876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29464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29210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一服务一库一账号：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travelmate_* 独立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Schema；先 REVOKE ALL，再仅授予本库增删改查。</a:t>
            </a:r>
          </a:p>
        </p:txBody>
      </p:sp>
      <p:cxnSp>
        <p:nvCxnSpPr>
          <p:cNvPr id="13" name="Connector 13"/>
          <p:cNvCxnSpPr/>
          <p:nvPr/>
        </p:nvCxnSpPr>
        <p:spPr>
          <a:xfrm rot="-8107">
            <a:off x="711207" y="38798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11200" y="4038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7600" y="40132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跨服务取数只走接口：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/internal/** 配合内部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令牌；状态变更走 Outbox 与幂等键，不直连他库。</a:t>
            </a:r>
          </a:p>
        </p:txBody>
      </p:sp>
      <p:cxnSp>
        <p:nvCxnSpPr>
          <p:cNvPr id="16" name="Connector 16"/>
          <p:cNvCxnSpPr/>
          <p:nvPr/>
        </p:nvCxnSpPr>
        <p:spPr>
          <a:xfrm rot="-8107">
            <a:off x="711207" y="49720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11200" y="5130800"/>
            <a:ext cx="53848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中 6 个 MySQL StatefulSet，各自挂载独立 5Gi PVC；本地 Compose 六库端口 3307–3312；Redis 单实例按服务 key 前缀隔离。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13462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隔离实证：跨库查询全部被 MySQL 拒绝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769">
            <a:off x="6502408" y="1695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502400" y="1854200"/>
          <a:ext cx="4978400" cy="29339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应用账号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尝试访问他库表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travelmate_identity_app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traffic.tm_flight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travelmate_traffic_app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local.tm_hotel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travelmate_local_app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ai.tm_notification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 dirty="0">
                          <a:solidFill>
                            <a:srgbClr val="2E343C"/>
                          </a:solidFill>
                          <a:latin typeface="Roboto Mono"/>
                        </a:rPr>
                        <a:t>　</a:t>
                      </a:r>
                      <a:r>
                        <a:rPr sz="1000" b="0" dirty="0" err="1">
                          <a:solidFill>
                            <a:srgbClr val="2E343C"/>
                          </a:solidFill>
                          <a:latin typeface="Roboto Mono"/>
                        </a:rPr>
                        <a:t>travelmate_ai_app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identity.tm_user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AutoShape 21"/>
          <p:cNvSpPr/>
          <p:nvPr/>
        </p:nvSpPr>
        <p:spPr>
          <a:xfrm>
            <a:off x="6502400" y="5078882"/>
            <a:ext cx="4978400" cy="13843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54800" y="5351932"/>
            <a:ext cx="467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REVOKE ALL PRIVILEGES, GRANT OPTION</a:t>
            </a:r>
            <a:endParaRPr lang="en-US" sz="1200" dirty="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FROM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SELECT,INSERT,UPDATE,DELETE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ON travelmate_traffic.* TO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02400" y="6463182"/>
            <a:ext cx="4978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deploy/k8s/microservice-database-</a:t>
            </a:r>
            <a:r>
              <a:rPr lang="en-US" sz="1000" b="0" i="0" u="none" strike="noStrike" dirty="0" err="1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bootstrap.yaml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08 / INTEGRATION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10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跨服务协作与失败补偿契约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6858000" cy="4572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943600"/>
            <a:ext cx="685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　跨服务调用与失败补偿（源自《详细设计说明》图 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74000" y="1320800"/>
            <a:ext cx="3606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内部接口契约（已冻结）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104">
            <a:off x="7874011" y="16700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7874000" y="1803400"/>
            <a:ext cx="36068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鉴权｜证明是自己人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调用须带共享密钥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X-Internal-Token；/internal/**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不走浏览器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CSRF，但必过服务令牌校验</a:t>
            </a:r>
            <a:endParaRPr lang="en-US" sz="1100" dirty="0"/>
          </a:p>
          <a:p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超时｜防止被拖垮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1s、读取 2s，超时即放弃，不无限等待；四个超时均可配环境变量</a:t>
            </a:r>
          </a:p>
          <a:p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降级｜失败统一口径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连接失败、超时、依赖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5xx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统一转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503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固定错误码；业务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4xx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原样透传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幂等｜防止重复处理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带唯一键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Idempotency-Key=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eventId，重发同键不重复处理；Outbox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退避重试、超限进死信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事务保护｜全成或全撤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身份校验失败不进库存扣减；优惠券核销失败则订单事务整体回滚、不写订单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2104">
            <a:off x="7874011" y="60642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11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CI/CD 四道质量闸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7086600" cy="47244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096000"/>
            <a:ext cx="7086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4　容器化与 CI/CD 流水线拓扑（源自《详细设计说明》图 28）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208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14 个 Job · 四道闸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70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03400"/>
            <a:ext cx="34036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1　变更识别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changes 按路径决定要跑哪些任务，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避免无效构建。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27876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077200" y="28956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2　质量门 ci-gate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/ 微服务 / 前端测试 + 真实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E2E，任一失败则不可合并。</a:t>
            </a:r>
          </a:p>
        </p:txBody>
      </p:sp>
      <p:cxnSp>
        <p:nvCxnSpPr>
          <p:cNvPr id="13" name="Connector 13"/>
          <p:cNvCxnSpPr/>
          <p:nvPr/>
        </p:nvCxnSpPr>
        <p:spPr>
          <a:xfrm rot="-12827">
            <a:off x="8077212" y="4032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077200" y="41402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3　发布门 release-gate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扫描镜像并推送 GHCR，生成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发布证据与制品清单。</a:t>
            </a:r>
          </a:p>
        </p:txBody>
      </p:sp>
      <p:cxnSp>
        <p:nvCxnSpPr>
          <p:cNvPr id="15" name="Connector 15"/>
          <p:cNvCxnSpPr/>
          <p:nvPr/>
        </p:nvCxnSpPr>
        <p:spPr>
          <a:xfrm rot="-12827">
            <a:off x="8077212" y="52768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077200" y="5384800"/>
            <a:ext cx="3403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4　交付门 delivery-gate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Kubernetes、跑健康检查，全绿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才标记本次交付完成。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流水线实证：Run #217 全绿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55" b="55"/>
          <a:stretch>
            <a:fillRect/>
          </a:stretch>
        </p:blipFill>
        <p:spPr>
          <a:xfrm>
            <a:off x="711200" y="1346200"/>
            <a:ext cx="7061200" cy="38227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232400"/>
            <a:ext cx="706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截图：GitHub Actions Run #217（对应合并提交 PR #216），原始证据存于 05_management/CI-CD验收截图/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462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本次运行结论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954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54200"/>
            <a:ext cx="34036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Success，总耗时 11 分 44 秒</a:t>
            </a:r>
            <a:endParaRPr lang="en-US" sz="1100"/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全部 Job 通过，无跳过项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10 个 Artifacts：测试报告、构建与部署证据自动归档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真实数据库 E2E 在流水线容器内执行，非 Mock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镜像漏洞扫描通过后才允许推送 GHCR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Job 绑定具体 commit，结果可回放复核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4667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272" b="272"/>
          <a:stretch>
            <a:fillRect/>
          </a:stretch>
        </p:blipFill>
        <p:spPr>
          <a:xfrm>
            <a:off x="8077200" y="4826000"/>
            <a:ext cx="3403600" cy="7493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077200" y="5638800"/>
            <a:ext cx="3403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PR #216 合并记录：评审通过且 CI 全绿后才允许 Merge，门禁对失败提交真实拦截。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10 / KUBERNETES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部署实证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23" r="23"/>
          <a:stretch>
            <a:fillRect/>
          </a:stretch>
        </p:blipFill>
        <p:spPr>
          <a:xfrm>
            <a:off x="711200" y="1346200"/>
            <a:ext cx="5588000" cy="28575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4203700"/>
            <a:ext cx="5588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流水线内部署日志与部署后健康检查（截图 03）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53200" y="1346200"/>
            <a:ext cx="492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集群工作负载清单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860">
            <a:off x="6553208" y="16954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6553200" y="1854200"/>
            <a:ext cx="4927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个业务 Deployment，启动 / 就绪 / 存活三类探针齐全</a:t>
            </a:r>
            <a:endParaRPr lang="en-US" sz="1100"/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每个容器声明 CPU 与内存 requests、limits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MySQL StatefulSet，各自独立 5Gi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 个 Redis StatefulSet，1Gi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Service 提供集群内服务发现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HPA 绑定业务 Deployment（下页展开）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711200" y="4419600"/>
            <a:ext cx="7848600" cy="23622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763000" y="4419600"/>
            <a:ext cx="2717800" cy="236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现场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六服务与数据层 Pod 全部 Running / Ready；</a:t>
            </a:r>
          </a:p>
          <a:p>
            <a:pPr marL="0" indent="0" algn="l">
              <a:lnSpc>
                <a:spcPct val="141666"/>
              </a:lnSpc>
            </a:pPr>
            <a:endParaRPr lang="en-US" sz="1300" b="0" i="0" u="none" strike="noStrike">
              <a:solidFill>
                <a:srgbClr val="53617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多时间点集群清单脱敏后备份于 backups/kubernetes。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11 / TEST RESULTS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六层自动化测试结果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1123999" cy="36971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测试层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工具与范围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执行位置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单体后端单元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MockMvc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backend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前端组件单元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Vitest + Vue Test Utils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单体端到端（Mock 后端）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路由拦截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单体端到端（真实数据库）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+ 容器化 MySQL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real-e2e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MockRestServiceServer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microservices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六服务端到端（UC01–19）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路由到 8081–8086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本地真实库 + CI 证据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11200" y="51562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关键业务断言（节选）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UC06 并发抢房：Redis 锁加数据库事务，库存不出现负值、不超卖；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UC02 越权访问被拦截；UC04 订单状态机完整流转、退改可回滚。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99200" y="5156200"/>
            <a:ext cx="5181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个用例在追溯矩阵中全部 covered；每次提交 CI 必跑六层测试，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失败即阻断合并；测试执行报告按日期归档于 document/ 与 docs/ci。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12 / AUTOSCALING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自动扩缩容实测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策略（hpa.yaml 已入库的真实配置）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384800" cy="363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取值（autoscaling/v2）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绑定对象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6 个业务 Deployment 各 1 个 HPA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触发指标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CPU averageUtilization = 60%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副本区间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minReplicas 2 → maxReplicas 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0s；每 30s 最多 +100% 或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+2 Pod，selectPolicy 取较快者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120s；每 60s 最多 -50%，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避免负载抖动导致频繁伸缩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4008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实测五步（脚本自动留存三态）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400800" y="1854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07200" y="1828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记录扩容前副本数、CPU 基线与 HPA 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00800" y="2466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07200" y="2440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三场景持续加压：航班查询、酒店查询、并发下单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00800" y="3078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07200" y="3052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watch kubectl get hpa、get pods，观察副本 2 → 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00800" y="369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07200" y="3664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停止加压，经过 120s 稳定窗口后观察逐步回落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00800" y="4302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200" y="4276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扩容前 / 中 / 后三态存档，回填实验记录表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594">
            <a:off x="6400808" y="489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223000" y="505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scripts/experiments/Invoke-MicroserviceHpaExperiment.ps1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11200" y="5588000"/>
            <a:ext cx="10769600" cy="1044000"/>
          </a:xfrm>
          <a:prstGeom prst="roundRect">
            <a:avLst>
              <a:gd name="adj" fmla="val 0"/>
            </a:avLst>
          </a:prstGeom>
          <a:solidFill>
            <a:srgbClr val="FCF7EB">
              <a:alpha val="100000"/>
            </a:srgbClr>
          </a:solidFill>
          <a:ln w="12700" cap="flat" cmpd="sng">
            <a:solidFill>
              <a:srgbClr val="D6B27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4400" y="5742000"/>
            <a:ext cx="1397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B07610"/>
                </a:solidFill>
                <a:latin typeface="Noto Sans SC"/>
                <a:ea typeface="Noto Sans SC"/>
                <a:cs typeface="Noto Sans SC"/>
                <a:sym typeface="Noto Sans SC"/>
              </a:rPr>
              <a:t>已实测通过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2413000" y="5742000"/>
            <a:ext cx="889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09-02 已实测：k6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加压后副本由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扩至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6，停止加压后经 120s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稳定窗口缩回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2，CPU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峰值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237%，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实验判定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passed=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true；完整记录与截图存于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04_tests/stress/results。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13 / FAULT TOLERANCE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故障隔离实证：身份服务宕机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实验时间线（2026-08-31，真实执行留档）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62000" y="193040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1400" y="1854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10:15:51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18542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采集基线：订单 0、机票库存 317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14074">
            <a:off x="571500" y="2355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62000" y="2667000"/>
            <a:ext cx="127000" cy="1270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41400" y="2590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10:16:04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25908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主动停止 identity-service（注入故障）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67569">
            <a:off x="152400" y="351158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1041400" y="2946400"/>
            <a:ext cx="47498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19200" y="3048000"/>
            <a:ext cx="43942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故障期间观测：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下单接口 503「身份服务暂不可用，请稍后重试」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航班查询仍返回 200；traffic 健康检查保持 UP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4292600"/>
            <a:ext cx="127000" cy="127000"/>
          </a:xfrm>
          <a:prstGeom prst="ellipse">
            <a:avLst/>
          </a:prstGeom>
          <a:solidFill>
            <a:srgbClr val="1E7E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41400" y="42164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7E45"/>
                </a:solidFill>
                <a:latin typeface="Roboto Mono"/>
                <a:ea typeface="Roboto Mono"/>
                <a:cs typeface="Roboto Mono"/>
                <a:sym typeface="Roboto Mono"/>
              </a:rPr>
              <a:t>10:16:32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42164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重启完成（中断约 28s），自动恢复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" y="47244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四道防线共同生效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1s / 读取 2s 超时；依赖失败统一 503；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校验不过则事务不进入库存扣减阶段；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优雅停机保证在途请求处理完再退出。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 / 故障中 / 恢复后对比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096000" y="1854200"/>
          <a:ext cx="5384800" cy="347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观测指标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恢复后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订单总数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 未新增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机票库存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 未扣减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下单接口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503 固定提示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 不受影响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traffic 健康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 未被拖垮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AutoShape 25"/>
          <p:cNvSpPr/>
          <p:nvPr/>
        </p:nvSpPr>
        <p:spPr>
          <a:xfrm>
            <a:off x="6096000" y="5689600"/>
            <a:ext cx="5384800" cy="685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99200" y="5791200"/>
            <a:ext cx="49784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结论：故障被封闭在单条依赖链路，不级联、零脏数据，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重启后自动恢复，实验判定 passed = true。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14 / BENCHMARK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vs 微服务性能对比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公平性设计：四同 + 三场景 + 三轮中位数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080000" cy="28397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接口（k6 脚本）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验证目标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/api/flight/search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/api/hotel/search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8333"/>
                        </a:lnSpc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POST /api/hotel/order/create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50 VU 竞争 1 间房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高压下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不超卖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同提交 / 同数据量 / 同硬件 / 同脚本，预热后 3 轮取中位数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11200" y="45212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采集指标：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并发数、总请求、吞吐 req/s、平均与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P95 响应、错误率，另开终端采样 CPU 与内存。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对照方式：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8080 与微服务 8081–8086 各跑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 轮，--summary-export 原始 JSON 落 results/。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结果记录表（2026-09-02 实测，三轮中位数）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096000" y="1854200"/>
          <a:ext cx="5384800" cy="36865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P95 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30.964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20.533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4.595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30.803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22.794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4.436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并发下单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30.667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801.52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23.626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139.68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711200" y="5943600"/>
            <a:ext cx="10769600" cy="6096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6019800"/>
            <a:ext cx="1036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并发下单双重核对：k6 teardown 自动断言成功订单数 ≤ 初始库存；SQL 复核库存非负且订单数等于库存扣减量，任一不过即判失败。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15 / SUMMARY &amp; DEMO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过程管理与演示路线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过程管理与工程诚信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796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  <a:defRPr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每日站会记录、看板任务流转、PR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评审全程留痕</a:t>
            </a:r>
            <a:endParaRPr lang="en-US" sz="1500" dirty="0"/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245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次提交，monolith-start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与 microservices-phase1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两个标签冻结阶段基线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需求至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06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交付六目录归档，证据总表逐项索引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使用规范与记录详见第 3 页</a:t>
            </a: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边界声明：不含真实支付与出票；API Gateway、注册中心、配置中心列为后续阶段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性能对比与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HPA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扩缩容均已有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09-02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实测记录，结论可复现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现场演示路线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096000" y="1905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02400" y="1879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仓库结构与 Run #217 流水线全绿记录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438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02400" y="24130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提交改动触发流水线，展示测试门禁实时执行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9718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2946400"/>
            <a:ext cx="54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展示 Deployment、HPA、StatefulSet 与 Pod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35052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34798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重点用例：UC04 交通订单履约、UC11 AI 行程生成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40386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02400" y="40132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加压观察 HPA 副本 2 向 6 弹性爬升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4572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02400" y="4546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停止身份服务复现故障隔离与自动恢复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5124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096000" y="5257800"/>
            <a:ext cx="5384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演示脚本位于 scripts/experiments/ 与 04_tests，所有命令可重复执行。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" y="5791200"/>
            <a:ext cx="10769600" cy="711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65200" y="58928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总结：同一代码库交付单体回归基线与六服务云原生形态——结论有证据、过程可复现、边界不夸大。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000" y="1620000"/>
            <a:ext cx="107532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latin typeface="Microsoft YaHei"/>
              </a:rPr>
              <a:t>谢谢大家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84000"/>
            <a:ext cx="8534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Microsoft YaHei"/>
              </a:rPr>
              <a:t>TravelMate：从单体到六服务的云原生改造</a:t>
            </a:r>
          </a:p>
          <a:p>
            <a:pPr algn="ctr"/>
            <a:r>
              <a:rPr sz="2200" b="0">
                <a:latin typeface="Microsoft YaHei"/>
              </a:rPr>
              <a:t>第 5 组 · Miracle 小组　|　2026-09-04 最终答辩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800" y="331200"/>
            <a:ext cx="635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微软雅黑"/>
              </a:rPr>
              <a:t>16 / THANKS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2853</Words>
  <Application>Microsoft Office PowerPoint</Application>
  <PresentationFormat>宽屏</PresentationFormat>
  <Paragraphs>577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Noto Sans SC</vt:lpstr>
      <vt:lpstr>微软雅黑</vt:lpstr>
      <vt:lpstr>微软雅黑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Youth Yang</cp:lastModifiedBy>
  <cp:revision>11</cp:revision>
  <dcterms:modified xsi:type="dcterms:W3CDTF">2026-09-03T10:15:32Z</dcterms:modified>
</cp:coreProperties>
</file>