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oftEngneeringHomework\Software_engineering\ppt_build\assets\01_系统总体架构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72768"/>
            <a:ext cx="5330952" cy="355701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8580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SOFTWARE ENGINEERING PROJECT SHOWCASE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85800" y="1828800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AF4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 伴游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EEA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一站式智慧旅行平台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85800" y="3703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DC3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覆盖"行前规划 → 资源预订 → 行中服务 → 行后分享"全链路，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DC3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个业务场景全部具备自动化验收证据的完整工程实践。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3232" y="4983480"/>
            <a:ext cx="109728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138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4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Miracle 团队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一个真实的旅行平台，一次完整的工程实践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 不是玩具 Demo —— 它是一个主链路可运行、可部署、可追溯的旅行服务平台：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6F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578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318211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行前规划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" y="3621024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生成个性化行程，机票火车酒店一键比价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76372" y="3337560"/>
            <a:ext cx="192024" cy="36576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172968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2578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74136" y="318211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资源预订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374136" y="3621024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航班、火车票候补、订房、景点购票与一日游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92140" y="3337560"/>
            <a:ext cx="192024" cy="36576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>
            <a:off x="5888736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6F5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2578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89904" y="318211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行中服务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089904" y="3621024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订单支付退款、优惠券核销、通知与 AI 客服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07908" y="3337560"/>
            <a:ext cx="192024" cy="36576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04504" y="2377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F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8805672" y="25786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805672" y="318211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行后分享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805672" y="3621024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游记发布审核、评价互动、点赞收藏与关注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模拟支付与出票环境，聚焦工程完整性：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需求 → 设计 → 实现 → 测试 → 交付，每一环都有真实产物与流水线证据。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 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个业务场景 · 五大业务域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121408" cy="4206240"/>
          </a:xfrm>
          <a:prstGeom prst="roundRect">
            <a:avLst>
              <a:gd name="adj" fmla="val 3017"/>
            </a:avLst>
          </a:prstGeom>
          <a:solidFill>
            <a:srgbClr val="EFF6F5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202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账号与旅客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6060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UC01 · 16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31546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注册登录与账户安全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常用旅客管理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用户主页与关注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70632" y="1691640"/>
            <a:ext cx="2121408" cy="4206240"/>
          </a:xfrm>
          <a:prstGeom prst="roundRect">
            <a:avLst>
              <a:gd name="adj" fmla="val 3017"/>
            </a:avLst>
          </a:prstGeom>
          <a:solidFill>
            <a:srgbClr val="EFF6F5"/>
          </a:solidFill>
          <a:ln/>
        </p:spPr>
      </p:sp>
      <p:sp>
        <p:nvSpPr>
          <p:cNvPr id="11" name="Text 9"/>
          <p:cNvSpPr/>
          <p:nvPr/>
        </p:nvSpPr>
        <p:spPr>
          <a:xfrm>
            <a:off x="2935224" y="19202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交通票务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35224" y="26060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UC02 · 03 · 04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35224" y="31546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航班查询与预订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火车票与候补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支付、退款与凭证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84064" y="1691640"/>
            <a:ext cx="2121408" cy="4206240"/>
          </a:xfrm>
          <a:prstGeom prst="roundRect">
            <a:avLst>
              <a:gd name="adj" fmla="val 3017"/>
            </a:avLst>
          </a:prstGeom>
          <a:solidFill>
            <a:srgbClr val="E2EFED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656" y="19202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住宿与本地生活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48656" y="26060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UC05 · 06 · 07 · 08 · 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48656" y="31546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酒店搜索与订房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库存回补与退款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景点购票 / 一日游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优惠券领取与核销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97496" y="1691640"/>
            <a:ext cx="2121408" cy="4206240"/>
          </a:xfrm>
          <a:prstGeom prst="roundRect">
            <a:avLst>
              <a:gd name="adj" fmla="val 3017"/>
            </a:avLst>
          </a:prstGeom>
          <a:solidFill>
            <a:srgbClr val="EF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7562088" y="19202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智能服务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62088" y="26060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UC11 · 12 · 13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62088" y="31546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行程生成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客服多轮对话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通知中心与私信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10928" y="1691640"/>
            <a:ext cx="2121408" cy="4206240"/>
          </a:xfrm>
          <a:prstGeom prst="roundRect">
            <a:avLst>
              <a:gd name="adj" fmla="val 3017"/>
            </a:avLst>
          </a:prstGeom>
          <a:solidFill>
            <a:srgbClr val="EF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92024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社区与运营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0" y="26060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UC09 · 14 · 15 · 17 · 18 · 19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0" y="315468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游记发布与审核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评价、点赞、收藏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管理后台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内容安全与可观测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每个用例均对应系统级、组件级、对象级三层设计模型与自动化测试，追溯覆盖率 100%。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 · 渐进式走向微服务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01_系统总体架构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27632"/>
            <a:ext cx="5742432" cy="383133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Element Plus 单页应用，Nginx 托管，统一 REST 网关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624328"/>
            <a:ext cx="539496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770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57400" y="27889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3.5 单体优先，按领域分包：票务、住宿、AI、社区、运营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539496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057400" y="37764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8.0（Flyway 版本化迁移）+ Redis（缓存、限流、库存扣减）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599432"/>
            <a:ext cx="539496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745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演进路线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57400" y="476402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个目标微服务边界已冻结，identity / traffic / local / ai 四服务已落地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现代化技术栈，全流程工程化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46504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4650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709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· Vite · Element Plus · Pinia · ECharts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103120" y="20756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组件化 SPA，健康检查内建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778240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全链路可观测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478024"/>
            <a:ext cx="960120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42616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426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606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21 · Spring Boot 3.5 · Spring Security · MyBatis-Plus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103120" y="2971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认证，模块化领域分包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安全内建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3374136"/>
            <a:ext cx="960120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38728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3872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35021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 + Flyway · Redis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103120" y="38679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版本化迁移；缓存 / 限流 / 防超卖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8240" y="3593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声明式迁移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4270248"/>
            <a:ext cx="960120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34840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4348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03120" y="439826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Cloud 风格 · Docker Compose · 独立 Maven 模块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103120" y="47640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identity / traffic / local / ai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78240" y="4489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边界已冻结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5166360"/>
            <a:ext cx="960120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330952"/>
            <a:ext cx="132588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33095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03120" y="52943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· Kubernetes · GitHub Actions · GHCR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2103120" y="566013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一条流水线从提交走到线上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78240" y="53858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不可变交付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HIGHLIGHT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交通票务：高并发下的库存一致性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06_库存防超卖流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91640"/>
            <a:ext cx="5394960" cy="359359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从查票到出票的完整订单状态机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航班实时查询与预订，火车票支持候补队列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订单支付、取消、退款全状态流转，凭证可追溯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预扣库存 + 确认制落库，杜绝超卖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候补兑现、退款回补库存由事件驱动，最终一致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5720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2EFE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46817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关键设计：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库存扣减前置到 Redis 原子操作，数据库只承接确认订单，把热点航段的并发压力挡在数据库之外。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深度融入旅行全流程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05_AI行程生成流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394960" cy="359359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35508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会规划的行程助手，随时候命的客服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55080" y="2286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行程生成（UC11）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55080" y="2651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输入目的地、天数与偏好，生成可保存、可调整的逐日行程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3273552"/>
            <a:ext cx="512064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3429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客服多轮对话（UC12）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订单查询、退改政策、平台使用问题的一站式应答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4416552"/>
            <a:ext cx="512064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4572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通知与私信（UC13）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4937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订单状态、候补兑现实时触达；用户间站内私信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社区生态：内容生产与安全并重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09_社区内容审核流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554480"/>
            <a:ext cx="2999232" cy="423367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17830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游记发布与审核（UC14）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130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发布、编辑、删除全生命周期，机审 + 人审双通道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651760"/>
            <a:ext cx="786384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8072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评价与举报（UC09）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订单绑定评价防刷分，举报进入处理工作流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675888"/>
            <a:ext cx="786384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8313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互动与关注（UC15 · 17）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4178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点赞、收藏、评论与关注关系，构建用户主页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700016"/>
            <a:ext cx="786384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554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内容安全（UC19）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52029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敏感词过滤、审核留痕、全链路可观测性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59436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审核流程：发布 → 机器初审（敏感词）→ 人工复核 → 上架 / 驳回，全程留痕可审计。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按业务能力划分的六个目标服务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sv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943600" cy="460857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8580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SVC-IDENTITY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身份与用户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78440" y="17099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已落地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2240280"/>
            <a:ext cx="484632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SVC-TRAFFIC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交通与订单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78440" y="24597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已落地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0" y="2990088"/>
            <a:ext cx="484632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SVC-LOCAL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酒店景点与权益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378440" y="3209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已落地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0" y="3739896"/>
            <a:ext cx="484632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3941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SVC-AI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与消息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78440" y="39593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已落地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4489704"/>
            <a:ext cx="484632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4690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SVC-COMMUNITY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社区内容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78440" y="4709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边界冻结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58000" y="5239512"/>
            <a:ext cx="484632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SVC-OPS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运营管理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378440" y="54589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边界冻结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0" y="6172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原则：一表一主，跨服务只能通过接口或领域事件访问数据，Outbox 保证业务与事件同事务。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测试金字塔 + 全链路追溯门禁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161/161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后端单元与集成测试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个测试类，真实 MySQL 环境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70832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24/24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370832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前端单元测试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70832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个测试文件，流水线自动执行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84464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19/19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84464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业务场景全覆盖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84464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真实后端 E2E，0 partial / 0 planned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追溯链：每一个需求都能走到测试结果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2EFE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96796" y="4773168"/>
            <a:ext cx="246888" cy="256032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84832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2EFED"/>
          </a:solidFill>
          <a:ln/>
        </p:spPr>
      </p:sp>
      <p:sp>
        <p:nvSpPr>
          <p:cNvPr id="20" name="Text 18"/>
          <p:cNvSpPr/>
          <p:nvPr/>
        </p:nvSpPr>
        <p:spPr>
          <a:xfrm>
            <a:off x="2084832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24428" y="4773168"/>
            <a:ext cx="246888" cy="256032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3712464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2EFED"/>
          </a:solidFill>
          <a:ln/>
        </p:spPr>
      </p:sp>
      <p:sp>
        <p:nvSpPr>
          <p:cNvPr id="23" name="Text 21"/>
          <p:cNvSpPr/>
          <p:nvPr/>
        </p:nvSpPr>
        <p:spPr>
          <a:xfrm>
            <a:off x="3712464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52060" y="4773168"/>
            <a:ext cx="246888" cy="256032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5340096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2EFED"/>
          </a:solidFill>
          <a:ln/>
        </p:spPr>
      </p:sp>
      <p:sp>
        <p:nvSpPr>
          <p:cNvPr id="26" name="Text 24"/>
          <p:cNvSpPr/>
          <p:nvPr/>
        </p:nvSpPr>
        <p:spPr>
          <a:xfrm>
            <a:off x="5340096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9692" y="4773168"/>
            <a:ext cx="246888" cy="256032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6967728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2EFED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728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OBJ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07324" y="4773168"/>
            <a:ext cx="246888" cy="256032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5360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2EFED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34956" y="4773168"/>
            <a:ext cx="246888" cy="256032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22992" y="4617720"/>
            <a:ext cx="1298448" cy="566928"/>
          </a:xfrm>
          <a:prstGeom prst="roundRect">
            <a:avLst>
              <a:gd name="adj" fmla="val 12903"/>
            </a:avLst>
          </a:prstGeom>
          <a:solidFill>
            <a:srgbClr val="E8590C"/>
          </a:solidFill>
          <a:ln/>
        </p:spPr>
      </p:sp>
      <p:sp>
        <p:nvSpPr>
          <p:cNvPr id="35" name="Text 33"/>
          <p:cNvSpPr/>
          <p:nvPr/>
        </p:nvSpPr>
        <p:spPr>
          <a:xfrm>
            <a:off x="10222992" y="4617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流水线内置追溯校验脚本：追溯结构或证据不完整，质量门禁直接失败，代码无法合入主分支。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/ CD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一条流水线，从 git push 到线上健康检查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28_容器化与CI-CD流水线拓扑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645920"/>
            <a:ext cx="5559552" cy="370332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457200" y="168249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6824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配置与追溯校验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/ 前端 / 微服务测试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889504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2889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真实后端 E2E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49300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镜像构建 + Trivy 扫描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096512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GHCR 发布（不可变 digest）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70001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4700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K8s 部署 + 健康检查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5303520"/>
            <a:ext cx="347472" cy="34747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5303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012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交付门禁 delivery gate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63640" y="5623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任一必需阶段失败，发布与部署即中止；部署使用完整 commit 对应的 digest，绝不使用 latest。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DELIVERY EVIDENCE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真实运行的成功流水线与线上健康状态</a:t>
            </a:r>
            <a:endParaRPr lang="en-US" sz="3200" dirty="0"/>
          </a:p>
        </p:txBody>
      </p:sp>
      <p:pic>
        <p:nvPicPr>
          <p:cNvPr id="6" name="Image 0" descr="E:\SoftEngneeringHomework\Software_engineering\ppt_build\assets\01-流水线总览成功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40680" cy="295351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pic>
        <p:nvPicPr>
          <p:cNvPr id="7" name="Image 1" descr="E:\SoftEngneeringHomework\Software_engineering\ppt_build\assets\03-Kubernetes部署与健康检查成功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5440680" cy="2779776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548640" y="48920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Actions 全流水线 Success（Run #33154114496，总时长 11 分 44 秒）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63640" y="48920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Kubernetes 部署与健康检查通过：前后端各 2/2 Ready，6 个 Pod 全部 Running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证据可复核：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流水线日志、镜像 digest、K8s 运行状态与测试报告共同构成验收证据链。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四道安全门，内建在流水线里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EFF6F5"/>
          </a:solidFill>
          <a:ln/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Gitleaks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29900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密钥泄露扫描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3558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提交与全量历史扫描，Token、密码不入库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178308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EFF6F5"/>
          </a:solidFill>
          <a:ln/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5304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75304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SpotBugs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75304" y="29900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后端静态分析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75304" y="33558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字节码级缺陷检测，阻断高危问题合入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178308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EFF6F5"/>
          </a:solidFill>
          <a:ln/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64808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Trivy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64808" y="29900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镜像漏洞扫描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64808" y="33558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前后端镜像逐层扫描，高危漏洞不放行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25712" y="178308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EFF6F5"/>
          </a:solidFill>
          <a:ln/>
          <a:effectLst>
            <a:outerShdw sx="100000" sy="100000" kx="0" ky="0" algn="bl" rotWithShape="0" blurRad="101600" dist="25400" dir="3600000">
              <a:srgbClr val="0B2B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54312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54312" y="2560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CodeQL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54312" y="29900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代码语义分析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54312" y="33558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官方语义引擎，持续追踪注入与漏洞模式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F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安全左移：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四道门全部为流水线必需阶段，任何一道不通过，镜像不会发布、应用不会部署。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项目全景数据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02736" cy="2011680"/>
          </a:xfrm>
          <a:prstGeom prst="roundRect">
            <a:avLst>
              <a:gd name="adj" fmla="val 3636"/>
            </a:avLst>
          </a:prstGeom>
          <a:solidFill>
            <a:srgbClr val="EFF6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个业务场景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UC01-UC19 全部自动化验收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737360"/>
            <a:ext cx="3602736" cy="2011680"/>
          </a:xfrm>
          <a:prstGeom prst="roundRect">
            <a:avLst>
              <a:gd name="adj" fmla="val 3636"/>
            </a:avLst>
          </a:prstGeom>
          <a:solidFill>
            <a:srgbClr val="EFF6F5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92024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62856" y="2834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个自动化测试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2856" y="32186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161 + 前端 24，全部通过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602736" cy="2011680"/>
          </a:xfrm>
          <a:prstGeom prst="roundRect">
            <a:avLst>
              <a:gd name="adj" fmla="val 3636"/>
            </a:avLst>
          </a:prstGeom>
          <a:solidFill>
            <a:srgbClr val="EF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92024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60+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394192" y="2834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张设计模型图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4192" y="32186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系统级 / 组件级 / 对象级三层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602736" cy="2011680"/>
          </a:xfrm>
          <a:prstGeom prst="roundRect">
            <a:avLst>
              <a:gd name="adj" fmla="val 3636"/>
            </a:avLst>
          </a:prstGeom>
          <a:solidFill>
            <a:srgbClr val="EF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31520" y="5120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个目标微服务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5046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个已落地，边界全部冻结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88536" y="4023360"/>
            <a:ext cx="3602736" cy="2011680"/>
          </a:xfrm>
          <a:prstGeom prst="roundRect">
            <a:avLst>
              <a:gd name="adj" fmla="val 3636"/>
            </a:avLst>
          </a:prstGeom>
          <a:solidFill>
            <a:srgbClr val="E2EFED"/>
          </a:solidFill>
          <a:ln/>
        </p:spPr>
      </p:sp>
      <p:sp>
        <p:nvSpPr>
          <p:cNvPr id="23" name="Text 21"/>
          <p:cNvSpPr/>
          <p:nvPr/>
        </p:nvSpPr>
        <p:spPr>
          <a:xfrm>
            <a:off x="4562856" y="420624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562856" y="5120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追溯覆盖率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2856" y="55046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 → 设计 → 代码 → 测试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9872" y="4023360"/>
            <a:ext cx="3602736" cy="2011680"/>
          </a:xfrm>
          <a:prstGeom prst="roundRect">
            <a:avLst>
              <a:gd name="adj" fmla="val 3636"/>
            </a:avLst>
          </a:prstGeom>
          <a:solidFill>
            <a:srgbClr val="EFF6F5"/>
          </a:solidFill>
          <a:ln/>
        </p:spPr>
      </p:sp>
      <p:sp>
        <p:nvSpPr>
          <p:cNvPr id="27" name="Text 25"/>
          <p:cNvSpPr/>
          <p:nvPr/>
        </p:nvSpPr>
        <p:spPr>
          <a:xfrm>
            <a:off x="8394192" y="420624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11'44"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394192" y="51206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端到端流水线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94192" y="55046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提交到 Kubernetes 部署完成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TravelMate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TEAM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Miracle 团队 · 五人分工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FF6F5"/>
          </a:solidFill>
          <a:ln/>
        </p:spPr>
      </p:sp>
      <p:sp>
        <p:nvSpPr>
          <p:cNvPr id="7" name="Shape 5"/>
          <p:cNvSpPr/>
          <p:nvPr/>
        </p:nvSpPr>
        <p:spPr>
          <a:xfrm>
            <a:off x="1037844" y="2240280"/>
            <a:ext cx="960120" cy="9601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/>
          <p:nvPr/>
        </p:nvSpPr>
        <p:spPr>
          <a:xfrm>
            <a:off x="1037844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邹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邹林利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大交通票务与订单域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192024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F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351276" y="224028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3351276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莫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70632" y="33375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莫谨瑞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70632" y="37033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住宿与本地生活域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84064" y="192024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F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4708" y="224028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4708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084064" y="33375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陈一鸿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84064" y="37033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21224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规划与 Agent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97496" y="192024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FF6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978140" y="224028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9781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杜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397496" y="33375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杜新诚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97496" y="37033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34656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社区与用户画像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10928" y="1920240"/>
            <a:ext cx="2121408" cy="3017520"/>
          </a:xfrm>
          <a:prstGeom prst="roundRect">
            <a:avLst>
              <a:gd name="adj" fmla="val 3448"/>
            </a:avLst>
          </a:prstGeom>
          <a:solidFill>
            <a:srgbClr val="EFF6F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91572" y="224028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10291572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710928" y="33375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李科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710928" y="37033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48088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管理后台与可观测性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按业务领域纵向分工：每人端到端负责自己领域的需求、设计、实现、测试与交付。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21488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EAF4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把一条完整的软件工程链路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EAF4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真正跑通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DC3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19 个用例到 185 个自动化测试，从单体到六个微服务边界，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DC3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从一行提交到 Kubernetes 上的健康检查 —— 每一步都有证据。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5257800"/>
            <a:ext cx="109728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413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4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github.com/Miracle060811/Software_engineering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TravelMate 项目展示</dc:title>
  <dc:subject>PptxGenJS Presentation</dc:subject>
  <dc:creator>Miracle Team</dc:creator>
  <cp:lastModifiedBy>Miracle Team</cp:lastModifiedBy>
  <cp:revision>1</cp:revision>
  <dcterms:created xsi:type="dcterms:W3CDTF">2026-08-29T07:57:27Z</dcterms:created>
  <dcterms:modified xsi:type="dcterms:W3CDTF">2026-08-29T07:57:27Z</dcterms:modified>
</cp:coreProperties>
</file>