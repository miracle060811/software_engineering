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4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E9D6CC"/>
          </a:solidFill>
          <a:ln w="12700">
            <a:solidFill>
              <a:srgbClr val="E9D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4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909560" y="841248"/>
            <a:ext cx="2194560" cy="2194560"/>
          </a:xfrm>
          <a:prstGeom prst="ellipse">
            <a:avLst/>
          </a:prstGeom>
          <a:solidFill>
            <a:srgbClr val="A6604F"/>
          </a:solidFill>
          <a:ln w="12700">
            <a:solidFill>
              <a:srgbClr val="A66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1389888"/>
            <a:ext cx="1280160" cy="1280160"/>
          </a:xfrm>
          <a:prstGeom prst="ellipse">
            <a:avLst/>
          </a:prstGeom>
          <a:solidFill>
            <a:srgbClr val="A6604F"/>
          </a:solidFill>
          <a:ln w="12700">
            <a:solidFill>
              <a:srgbClr val="A66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4480560"/>
            <a:ext cx="1645920" cy="1645920"/>
          </a:xfrm>
          <a:prstGeom prst="ellipse">
            <a:avLst/>
          </a:prstGeom>
          <a:solidFill>
            <a:srgbClr val="9C5B4B"/>
          </a:solidFill>
          <a:ln w="12700">
            <a:solidFill>
              <a:srgbClr val="9C5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60120"/>
            <a:ext cx="4389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TravelMate 伴游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出行旅游平台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066544"/>
            <a:ext cx="25603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E7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软件工程课程项目答辩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0DF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围绕“行前规划 · 行中预订 · 行后分享”构建的一站式智慧旅游平台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2816352"/>
            <a:ext cx="713232" cy="237744"/>
          </a:xfrm>
          <a:prstGeom prst="roundRect">
            <a:avLst/>
          </a:prstGeom>
          <a:solidFill>
            <a:srgbClr val="A96656"/>
          </a:solidFill>
          <a:ln w="12700">
            <a:solidFill>
              <a:srgbClr val="A96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825496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规划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09344" y="2816352"/>
            <a:ext cx="859536" cy="237744"/>
          </a:xfrm>
          <a:prstGeom prst="roundRect">
            <a:avLst/>
          </a:prstGeom>
          <a:solidFill>
            <a:srgbClr val="A96656"/>
          </a:solidFill>
          <a:ln w="12700">
            <a:solidFill>
              <a:srgbClr val="A96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344" y="2825496"/>
            <a:ext cx="85953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票务预订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15184" y="2816352"/>
            <a:ext cx="859536" cy="237744"/>
          </a:xfrm>
          <a:prstGeom prst="roundRect">
            <a:avLst/>
          </a:prstGeom>
          <a:solidFill>
            <a:srgbClr val="A96656"/>
          </a:solidFill>
          <a:ln w="12700">
            <a:solidFill>
              <a:srgbClr val="A96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2825496"/>
            <a:ext cx="85953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社区互动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21024" y="2816352"/>
            <a:ext cx="859536" cy="237744"/>
          </a:xfrm>
          <a:prstGeom prst="roundRect">
            <a:avLst/>
          </a:prstGeom>
          <a:solidFill>
            <a:srgbClr val="A96656"/>
          </a:solidFill>
          <a:ln w="12700">
            <a:solidFill>
              <a:srgbClr val="A96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2825496"/>
            <a:ext cx="85953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8096" y="5669280"/>
            <a:ext cx="2194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Miracle 开发小组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68096" y="5925312"/>
            <a:ext cx="2011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ED6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 13 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859536"/>
            <a:ext cx="4206240" cy="4800600"/>
          </a:xfrm>
          <a:prstGeom prst="roundRect">
            <a:avLst/>
          </a:prstGeom>
          <a:solidFill>
            <a:srgbClr val="FDF8F4"/>
          </a:solidFill>
          <a:ln w="12700">
            <a:solidFill>
              <a:srgbClr val="D7C0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68896" y="1143000"/>
            <a:ext cx="3675888" cy="4754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1280160"/>
            <a:ext cx="1645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伴游 TravelMate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40112" y="1261872"/>
            <a:ext cx="438912" cy="201168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40112" y="1271016"/>
            <a:ext cx="43891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607040" y="1280160"/>
            <a:ext cx="34747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0991088" y="1280160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AI规划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7351776" y="1828800"/>
            <a:ext cx="3054096" cy="1554480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5904" y="2011680"/>
            <a:ext cx="118872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2020824"/>
            <a:ext cx="1188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驱动的智能旅行规划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26680" y="2340864"/>
            <a:ext cx="23225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探索世界，</a:t>
            </a:r>
            <a:pPr algn="ctr" indent="0" marL="0">
              <a:buNone/>
            </a:pPr>
            <a:r>
              <a:rPr lang="en-US" sz="160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从这里开始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10144" y="2743200"/>
            <a:ext cx="175564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 · 火车票 · 酒店 · 景点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790688" y="3108960"/>
            <a:ext cx="234086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3200400"/>
            <a:ext cx="15179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    火车票    酒店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7918704" y="3383280"/>
            <a:ext cx="2084832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3511296"/>
            <a:ext cx="658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3511296"/>
            <a:ext cx="658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0" y="3511296"/>
            <a:ext cx="566928" cy="164592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0" y="3529584"/>
            <a:ext cx="566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690" dirty="0"/>
          </a:p>
        </p:txBody>
      </p:sp>
      <p:sp>
        <p:nvSpPr>
          <p:cNvPr id="39" name="Shape 37"/>
          <p:cNvSpPr/>
          <p:nvPr/>
        </p:nvSpPr>
        <p:spPr>
          <a:xfrm>
            <a:off x="7589520" y="4069080"/>
            <a:ext cx="281635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4160520"/>
            <a:ext cx="822960" cy="4389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36992" y="4325112"/>
            <a:ext cx="384048" cy="384048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7344" y="4251960"/>
            <a:ext cx="-1828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1,280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467344" y="4544568"/>
            <a:ext cx="-182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航线覆盖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8705088" y="4160520"/>
            <a:ext cx="822960" cy="4389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69680" y="4325112"/>
            <a:ext cx="384048" cy="384048"/>
          </a:xfrm>
          <a:prstGeom prst="roundRect">
            <a:avLst/>
          </a:prstGeom>
          <a:solidFill>
            <a:srgbClr val="7C67E8"/>
          </a:solidFill>
          <a:ln w="12700">
            <a:solidFill>
              <a:srgbClr val="7C67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00032" y="4251960"/>
            <a:ext cx="-1828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523k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400032" y="4544568"/>
            <a:ext cx="-182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用户信赖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9637776" y="4160520"/>
            <a:ext cx="822960" cy="4389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02368" y="4325112"/>
            <a:ext cx="384048" cy="384048"/>
          </a:xfrm>
          <a:prstGeom prst="roundRect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0" y="4251960"/>
            <a:ext cx="-1828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10332720" y="4544568"/>
            <a:ext cx="-182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出票成功率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7242048" y="5138928"/>
            <a:ext cx="1828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暖陶土叙事风格答辩版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UI主界面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从首页开始，统一承接出行入口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这一页对应真实实现界面的视觉重绘，重点展示导航、统一搜索框、热门搜索与数据看板。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11064240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99616"/>
            <a:ext cx="10844784" cy="4023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536192"/>
            <a:ext cx="19202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伴游 TravelMate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42632" y="1536192"/>
            <a:ext cx="493776" cy="256032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1545336"/>
            <a:ext cx="49377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101584" y="1536192"/>
            <a:ext cx="603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8741664" y="1536192"/>
            <a:ext cx="603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AI规划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9381744" y="1536192"/>
            <a:ext cx="603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0021824" y="1536192"/>
            <a:ext cx="603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10661904" y="1536192"/>
            <a:ext cx="603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注册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822960" y="2103120"/>
            <a:ext cx="10479024" cy="2697480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3792" y="2322576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331720"/>
            <a:ext cx="15087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驱动的智能旅行规划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67912" y="2715768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探索世界，</a:t>
            </a:r>
            <a:pPr algn="ctr" indent="0" marL="0">
              <a:buNone/>
            </a:pPr>
            <a:r>
              <a:rPr lang="en-US" sz="250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从这里开始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456432" y="3218688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 · 火车票 · 酒店 · 景点，一站式智慧出行，让每次旅途都精彩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67712" y="3538728"/>
            <a:ext cx="7589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657600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55264" y="3657600"/>
            <a:ext cx="5120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火车票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59936" y="3657600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05456" y="3931920"/>
            <a:ext cx="7114032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3744" y="4151376"/>
            <a:ext cx="175564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8848" y="4151376"/>
            <a:ext cx="175564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4151376"/>
            <a:ext cx="153619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224528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95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出发城市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45152" y="4224528"/>
            <a:ext cx="11887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95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到达城市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0256" y="4224528"/>
            <a:ext cx="1005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95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出发日期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57032" y="4133088"/>
            <a:ext cx="932688" cy="475488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7032" y="4197096"/>
            <a:ext cx="93268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88720" y="5266944"/>
            <a:ext cx="974750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08176" y="5404104"/>
            <a:ext cx="2286000" cy="58521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2768" y="5568696"/>
            <a:ext cx="384048" cy="384048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5495544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1,280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2103120" y="5788152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航线覆盖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968496" y="5404104"/>
            <a:ext cx="2286000" cy="58521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33088" y="5568696"/>
            <a:ext cx="384048" cy="384048"/>
          </a:xfrm>
          <a:prstGeom prst="roundRect">
            <a:avLst/>
          </a:prstGeom>
          <a:solidFill>
            <a:srgbClr val="7C67E8"/>
          </a:solidFill>
          <a:ln w="12700">
            <a:solidFill>
              <a:srgbClr val="7C67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5495544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523,600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663440" y="5788152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用户信赖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528816" y="5404104"/>
            <a:ext cx="2286000" cy="58521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93408" y="5568696"/>
            <a:ext cx="384048" cy="384048"/>
          </a:xfrm>
          <a:prstGeom prst="roundRect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5495544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223760" y="5788152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出票成功率 (%)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9089136" y="5404104"/>
            <a:ext cx="2286000" cy="58521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53728" y="5568696"/>
            <a:ext cx="384048" cy="384048"/>
          </a:xfrm>
          <a:prstGeom prst="roundRect">
            <a:avLst/>
          </a:prstGeom>
          <a:solidFill>
            <a:srgbClr val="5BC57E"/>
          </a:solidFill>
          <a:ln w="12700">
            <a:solidFill>
              <a:srgbClr val="5BC57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84080" y="5495544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9784080" y="5788152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小时客服在线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 TravelMate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项目不只是功能拼接，而是围绕真实用户旅程，尝试把规划、预订、分享与后台治理做成一套完整系统。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591056"/>
            <a:ext cx="3474720" cy="11155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73936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737360"/>
            <a:ext cx="27249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66544"/>
            <a:ext cx="30723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机票、酒店、攻略和评价分散在多个平台，用户频繁跳转，决策成本高。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2852928"/>
            <a:ext cx="3474720" cy="11155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35808"/>
            <a:ext cx="256032" cy="25603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999232"/>
            <a:ext cx="27249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流程割裂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28416"/>
            <a:ext cx="30723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规划、下单、支付、回看与分享之间缺少连贯体验，难以形成完整闭环。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3232" y="4114800"/>
            <a:ext cx="3474720" cy="111556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97680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4261104"/>
            <a:ext cx="27249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工程验证不足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590288"/>
            <a:ext cx="30723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课程项目常停留在页面演示，我们希望补齐脚本、测试与后台能力。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847088"/>
            <a:ext cx="6876288" cy="352958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048256"/>
            <a:ext cx="1280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我们的目标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56048" y="2505456"/>
            <a:ext cx="1901952" cy="13533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2688336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22976" y="2651760"/>
            <a:ext cx="11521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一站式平台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57216" y="2980944"/>
            <a:ext cx="149961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统一首页和导航，覆盖票务、酒店、AI、社区、后台。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50608" y="2505456"/>
            <a:ext cx="1901952" cy="13533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51776" y="2688336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17536" y="2651760"/>
            <a:ext cx="11521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模块化协作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51776" y="2980944"/>
            <a:ext cx="149961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五位成员分工明确，最终在前后端和数据库上完成集成。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345168" y="2505456"/>
            <a:ext cx="1901952" cy="13533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46336" y="2688336"/>
            <a:ext cx="256032" cy="25603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46336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12096" y="2651760"/>
            <a:ext cx="11521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可验证交付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46336" y="2980944"/>
            <a:ext cx="1499616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补齐权限、脚本、数据库修复、测试与文档。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52160" y="4187952"/>
            <a:ext cx="4389120" cy="27432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4315968"/>
            <a:ext cx="5943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i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我们希望老师看到的不只是“能点开的页面”，而是一套可运行、可修复、可解释的课程项目系统。</a:t>
            </a:r>
            <a:endParaRPr lang="en-US" sz="10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鉴权 + 缓存 + AI 服务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技术架构上既关注业务覆盖，也关注工程稳定性，因此把权限、缓存、降级和脚本化启动都纳入体系。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" y="1591056"/>
            <a:ext cx="8010144" cy="53035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6420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173736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74650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4650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Flight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0" y="173736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74650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0" y="173736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74650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Plan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73736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74650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173736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74650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6384" y="2322576"/>
            <a:ext cx="8010144" cy="53035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239572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认证与接口层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0" y="246888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47802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246888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47802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0" y="246888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47802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0" y="246888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47802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6384" y="3054096"/>
            <a:ext cx="8010144" cy="530352"/>
          </a:xfrm>
          <a:prstGeom prst="roundRect">
            <a:avLst/>
          </a:prstGeom>
          <a:solidFill>
            <a:srgbClr val="EEF4EE"/>
          </a:solidFill>
          <a:ln w="12700">
            <a:solidFill>
              <a:srgbClr val="EEF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12724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320040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20954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Flight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320040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20954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0" y="320040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320954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AiService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0" y="320040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20954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0" y="320040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20954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86384" y="3785616"/>
            <a:ext cx="8010144" cy="530352"/>
          </a:xfrm>
          <a:prstGeom prst="roundRect">
            <a:avLst/>
          </a:prstGeom>
          <a:solidFill>
            <a:srgbClr val="F8EEE9"/>
          </a:solidFill>
          <a:ln w="12700">
            <a:solidFill>
              <a:srgbClr val="F8E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7552" y="385876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A4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数据与缓存层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0" y="393192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394106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0" y="393192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94106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14800" y="393192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394106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29200" y="393192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94106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6384" y="4517136"/>
            <a:ext cx="8010144" cy="530352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" y="4590288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B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AI与任务层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286000" y="466344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467258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0" y="466344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467258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14800" y="466344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0" y="467258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Notification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0" y="4663440"/>
            <a:ext cx="7863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4672584"/>
            <a:ext cx="7863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198864" y="1627632"/>
            <a:ext cx="2340864" cy="9875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00032" y="1773936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363456" y="207568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09760" y="1993392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9363456" y="2295144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509760" y="2212848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 GET 放行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9363456" y="2514600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09760" y="2432304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RBAC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9198864" y="2761488"/>
            <a:ext cx="2340864" cy="9875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00032" y="290779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一致性控制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9363456" y="320954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09760" y="3127248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预减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9363456" y="3429000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09760" y="3346704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9363456" y="3648456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09760" y="3566160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超时回滚</a:t>
            </a:r>
            <a:endParaRPr lang="en-US" sz="880" dirty="0"/>
          </a:p>
        </p:txBody>
      </p:sp>
      <p:sp>
        <p:nvSpPr>
          <p:cNvPr id="80" name="Shape 78"/>
          <p:cNvSpPr/>
          <p:nvPr/>
        </p:nvSpPr>
        <p:spPr>
          <a:xfrm>
            <a:off x="9198864" y="3895344"/>
            <a:ext cx="2340864" cy="9875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00032" y="4041648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运行与恢复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363456" y="4343400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09760" y="4261104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start.ps1</a:t>
            </a:r>
            <a:endParaRPr lang="en-US" sz="880" dirty="0"/>
          </a:p>
        </p:txBody>
      </p:sp>
      <p:sp>
        <p:nvSpPr>
          <p:cNvPr id="84" name="Shape 82"/>
          <p:cNvSpPr/>
          <p:nvPr/>
        </p:nvSpPr>
        <p:spPr>
          <a:xfrm>
            <a:off x="9363456" y="4562856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509760" y="4480560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setup.ps1</a:t>
            </a:r>
            <a:endParaRPr lang="en-US" sz="880" dirty="0"/>
          </a:p>
        </p:txBody>
      </p:sp>
      <p:sp>
        <p:nvSpPr>
          <p:cNvPr id="86" name="Shape 84"/>
          <p:cNvSpPr/>
          <p:nvPr/>
        </p:nvSpPr>
        <p:spPr>
          <a:xfrm>
            <a:off x="9363456" y="4782312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9760" y="4700016"/>
            <a:ext cx="1664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ResetDb 重建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五个模块并行推进，最终汇聚到同一套系统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分工不是把系统拆散，而是保证每个模块各自可交付、最终可联调。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" y="1572768"/>
            <a:ext cx="2176272" cy="442569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572768"/>
            <a:ext cx="2176272" cy="146304"/>
          </a:xfrm>
          <a:prstGeom prst="round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73936"/>
            <a:ext cx="18836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A · 邹林利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大交通票务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244144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59152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航班/火车搜索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49808" y="2752344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670048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订单创建与支付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749808" y="3063240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980944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价格趋势与旅客管理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2907792" y="1572768"/>
            <a:ext cx="2176272" cy="442569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1572768"/>
            <a:ext cx="2176272" cy="146304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1773936"/>
            <a:ext cx="18836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B · 莫谨瑞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54096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酒店与本地生活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54096" y="2441448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359152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酒店搜索与房型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3054096" y="275234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670048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景点、评价、举报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3054096" y="3063240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80944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库存与房态管理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5212080" y="1572768"/>
            <a:ext cx="2176272" cy="442569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1572768"/>
            <a:ext cx="2176272" cy="146304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1773936"/>
            <a:ext cx="18836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C · 陈一鸿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58384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智能规划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58384" y="2441448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2359152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结构化行程生成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5358384" y="2752344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2670048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客服与工具调用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5358384" y="3063240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2980944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通知与降级兜底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7516368" y="1572768"/>
            <a:ext cx="2176272" cy="442569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16368" y="1572768"/>
            <a:ext cx="2176272" cy="146304"/>
          </a:xfrm>
          <a:prstGeom prst="roundRect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62672" y="1773936"/>
            <a:ext cx="18836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D · 杜新诚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62672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社区与用户中心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662672" y="2441448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8976" y="2359152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游记发布与草稿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7662672" y="2752344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08976" y="2670048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点赞评论关注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7662672" y="3063240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08976" y="2980944"/>
            <a:ext cx="17556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通知与用户资料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9820656" y="1572768"/>
            <a:ext cx="1737360" cy="442569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20656" y="1572768"/>
            <a:ext cx="1737360" cy="146304"/>
          </a:xfrm>
          <a:prstGeom prst="roundRect">
            <a:avLst/>
          </a:prstGeom>
          <a:solidFill>
            <a:srgbClr val="D9B064"/>
          </a:solidFill>
          <a:ln w="12700">
            <a:solidFill>
              <a:srgbClr val="D9B0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66960" y="1773936"/>
            <a:ext cx="144475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E · 李科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966960" y="1993392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966960" y="2441448"/>
            <a:ext cx="73152" cy="73152"/>
          </a:xfrm>
          <a:prstGeom prst="ellipse">
            <a:avLst/>
          </a:prstGeom>
          <a:solidFill>
            <a:srgbClr val="D9B064"/>
          </a:solidFill>
          <a:ln w="12700">
            <a:solidFill>
              <a:srgbClr val="D9B0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13264" y="2359152"/>
            <a:ext cx="131673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仪表盘与告警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9966960" y="2752344"/>
            <a:ext cx="73152" cy="73152"/>
          </a:xfrm>
          <a:prstGeom prst="ellipse">
            <a:avLst/>
          </a:prstGeom>
          <a:solidFill>
            <a:srgbClr val="D9B064"/>
          </a:solidFill>
          <a:ln w="12700">
            <a:solidFill>
              <a:srgbClr val="D9B0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13264" y="2670048"/>
            <a:ext cx="131673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用户/日志/敏感词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9966960" y="3063240"/>
            <a:ext cx="73152" cy="73152"/>
          </a:xfrm>
          <a:prstGeom prst="ellipse">
            <a:avLst/>
          </a:prstGeom>
          <a:solidFill>
            <a:srgbClr val="D9B064"/>
          </a:solidFill>
          <a:ln w="12700">
            <a:solidFill>
              <a:srgbClr val="D9B0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13264" y="2980944"/>
            <a:ext cx="131673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房态/优惠券/订单</a:t>
            </a:r>
            <a:endParaRPr lang="en-US" sz="8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用户端闭环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从打开首页到完成分享，业务链路被串成了一次完整旅程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这一页不再按模块展示，而是按用户视角展示平台如何完成“查、订、用、分享”的闭环。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2560320" cy="14264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011680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25296" y="1975104"/>
            <a:ext cx="18105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2304288"/>
            <a:ext cx="21579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首页聚合机票、火车票、酒店与 AI 规划，降低用户第一次进入平台时的选择成本。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36976" y="1828800"/>
            <a:ext cx="2560320" cy="14264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8144" y="2011680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03904" y="1975104"/>
            <a:ext cx="18105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搜索与预订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8144" y="2304288"/>
            <a:ext cx="21579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用户可完成资源检索、下单、模拟支付和订单回看，核心交易链路可闭环运行。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15584" y="1828800"/>
            <a:ext cx="2560320" cy="14264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2011680"/>
            <a:ext cx="256032" cy="25603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82512" y="1975104"/>
            <a:ext cx="18105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辅助决策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16752" y="2304288"/>
            <a:ext cx="21579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规划与旅行助手帮助用户更快完成方案选择与日程组织。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94192" y="1828800"/>
            <a:ext cx="2560320" cy="14264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2011680"/>
            <a:ext cx="256032" cy="25603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1975104"/>
            <a:ext cx="181051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社区沉淀内容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2304288"/>
            <a:ext cx="21579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游记、评论、关注和通知让平台具备内容生态和用户沉淀能力。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97280" y="3712464"/>
            <a:ext cx="9875520" cy="27432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096512"/>
            <a:ext cx="2286000" cy="74980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1872" y="4261104"/>
            <a:ext cx="384048" cy="384048"/>
          </a:xfrm>
          <a:prstGeom prst="round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92224" y="4187952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92224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统一触点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657600" y="4096512"/>
            <a:ext cx="2286000" cy="74980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22192" y="4261104"/>
            <a:ext cx="384048" cy="384048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52544" y="4187952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352544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交易闭环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217920" y="4096512"/>
            <a:ext cx="2286000" cy="74980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4261104"/>
            <a:ext cx="384048" cy="384048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2864" y="4187952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912864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规划增强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778240" y="4096512"/>
            <a:ext cx="2286000" cy="74980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42832" y="4261104"/>
            <a:ext cx="384048" cy="384048"/>
          </a:xfrm>
          <a:prstGeom prst="roundRect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73184" y="4187952"/>
            <a:ext cx="144475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473184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内容留存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大交通票务成果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围绕“能查、能订、能支付、能回看”的核心交易链路完成实现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大交通模块承担了系统最典型的交易流程，也体现了我们在订单与库存控制上的处理方式。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3895344" cy="4480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37360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功能覆盖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9536" y="216712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84832"/>
            <a:ext cx="31272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航班搜索、火车票搜索与筛选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9536" y="2514600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32304"/>
            <a:ext cx="31272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订单创建、模拟支付、取消订单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9536" y="2862072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79776"/>
            <a:ext cx="31272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常用旅客管理与订单回执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" y="3209544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127248"/>
            <a:ext cx="31272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历史价格趋势图表展示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" y="3557016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74720"/>
            <a:ext cx="31272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优惠券中心与订单抵扣逻辑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28032" y="1554480"/>
            <a:ext cx="6675120" cy="18288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755648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84064" y="2066544"/>
            <a:ext cx="1042416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2249424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50992" y="2212848"/>
            <a:ext cx="292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搜索资源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45936" y="2066544"/>
            <a:ext cx="1042416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2249424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2212848"/>
            <a:ext cx="292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选择乘客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47104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07808" y="2066544"/>
            <a:ext cx="1042416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08976" y="2249424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8976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74736" y="2212848"/>
            <a:ext cx="292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创建订单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08976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869680" y="2066544"/>
            <a:ext cx="1042416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70848" y="2249424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0848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36608" y="2212848"/>
            <a:ext cx="292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模拟支付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70848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131552" y="2066544"/>
            <a:ext cx="1042416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32720" y="2249424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3272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698480" y="2212848"/>
            <a:ext cx="292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订单回看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332720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28032" y="3675888"/>
            <a:ext cx="3749040" cy="23591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价格趋势（示意）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230368" y="4974336"/>
            <a:ext cx="201168" cy="548640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57216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5650992" y="4700016"/>
            <a:ext cx="201168" cy="822960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6071616" y="4864608"/>
            <a:ext cx="201168" cy="65836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98464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6492240" y="4562856"/>
            <a:ext cx="201168" cy="960120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6912864" y="4773168"/>
            <a:ext cx="201168" cy="74980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9712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7333488" y="4443984"/>
            <a:ext cx="201168" cy="1078992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60336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730" dirty="0"/>
          </a:p>
        </p:txBody>
      </p:sp>
      <p:sp>
        <p:nvSpPr>
          <p:cNvPr id="61" name="Shape 59"/>
          <p:cNvSpPr/>
          <p:nvPr/>
        </p:nvSpPr>
        <p:spPr>
          <a:xfrm>
            <a:off x="7754112" y="4663440"/>
            <a:ext cx="201168" cy="85953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80960" y="5559552"/>
            <a:ext cx="3474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8759952" y="3675888"/>
            <a:ext cx="2743200" cy="235915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79408" y="385876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工程点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961120" y="4233672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07424" y="4151376"/>
            <a:ext cx="20299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订单状态机流转</a:t>
            </a:r>
            <a:endParaRPr lang="en-US" sz="940" dirty="0"/>
          </a:p>
        </p:txBody>
      </p:sp>
      <p:sp>
        <p:nvSpPr>
          <p:cNvPr id="67" name="Shape 65"/>
          <p:cNvSpPr/>
          <p:nvPr/>
        </p:nvSpPr>
        <p:spPr>
          <a:xfrm>
            <a:off x="8961120" y="4544568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07424" y="4462272"/>
            <a:ext cx="20299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乐观锁防超卖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8961120" y="4855464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07424" y="4773168"/>
            <a:ext cx="20299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旅客信息复用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8961120" y="5166360"/>
            <a:ext cx="73152" cy="7315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07424" y="5084064"/>
            <a:ext cx="20299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订单导出与回看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酒店与本地生活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把搜索、预订、评价与举报都放进住宿场景里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这一块不仅完成了资源查询，还覆盖了房态、评价、举报和防超卖等更接近真实业务的问题。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3986784" cy="444398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酒店预订界面（示意）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2066544"/>
            <a:ext cx="349300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139696"/>
            <a:ext cx="20116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 / 星级 / 价格区间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96112" y="2615184"/>
            <a:ext cx="349300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761488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大理古城伴游酒店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962656"/>
            <a:ext cx="2103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高分亲子酒店 · 洱海景观 · 距古城 1.2km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1042416" y="3236976"/>
            <a:ext cx="512064" cy="201168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246120"/>
            <a:ext cx="5120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双床房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64208" y="3236976"/>
            <a:ext cx="585216" cy="201168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3246120"/>
            <a:ext cx="5852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4 间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0" y="3236976"/>
            <a:ext cx="603504" cy="201168"/>
          </a:xfrm>
          <a:prstGeom prst="roundRect">
            <a:avLst/>
          </a:prstGeom>
          <a:solidFill>
            <a:srgbClr val="EEF4EE"/>
          </a:solidFill>
          <a:ln w="12700">
            <a:solidFill>
              <a:srgbClr val="EEF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246120"/>
            <a:ext cx="6035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¥468/晚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6112" y="3840480"/>
            <a:ext cx="3493008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005072"/>
            <a:ext cx="1097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评价与举报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24128" y="4379976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297680"/>
            <a:ext cx="2670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支持图文评价与标签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1024128" y="4654296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572000"/>
            <a:ext cx="2670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商家回复补齐反馈闭环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1024128" y="4928616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846320"/>
            <a:ext cx="2670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用户可提交举报工单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1024128" y="5202936"/>
            <a:ext cx="73152" cy="7315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5120640"/>
            <a:ext cx="267004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后台可查看并处理结果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4882896" y="1572768"/>
            <a:ext cx="6638544" cy="444398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1773936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防超卖机制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102352" y="2157984"/>
            <a:ext cx="137160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2340864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2304288"/>
            <a:ext cx="6217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查询房型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2633472"/>
            <a:ext cx="9692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按城市、价格、日期获取可用房型。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56832" y="2157984"/>
            <a:ext cx="137160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0" y="2340864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2304288"/>
            <a:ext cx="6217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预减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2633472"/>
            <a:ext cx="9692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先拦截超量请求，减少热点写入冲击。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11312" y="2157984"/>
            <a:ext cx="137160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2340864"/>
            <a:ext cx="256032" cy="25603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778240" y="2304288"/>
            <a:ext cx="6217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乐观锁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12480" y="2633472"/>
            <a:ext cx="9692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落库时再次校验库存，确保最终一致性。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765792" y="2157984"/>
            <a:ext cx="137160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66960" y="2340864"/>
            <a:ext cx="256032" cy="25603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6696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332720" y="2304288"/>
            <a:ext cx="6217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回滚与恢复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966960" y="2633472"/>
            <a:ext cx="9692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支付失败或超时取消时恢复库存。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85232" y="3383280"/>
            <a:ext cx="5632704" cy="27432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365760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扩展能力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102352" y="4050792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48656" y="3968496"/>
            <a:ext cx="550468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景点搜索与门票购买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102352" y="4379976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4297680"/>
            <a:ext cx="550468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一日游 / 周边游产品展示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5102352" y="4709160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48656" y="4626864"/>
            <a:ext cx="550468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房态管理与库存展示为后台联动提供基础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5102352" y="503834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48656" y="4956048"/>
            <a:ext cx="550468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评价标签、举报、回复共同构成内容治理链路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行程规划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让“搜索旅行信息”升级为“直接生成出行方案”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这里结合真实实现页面重绘，重点展示结构化规划、多偏好输入、历史行程和导出能力。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" y="1389888"/>
            <a:ext cx="11100816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36192"/>
            <a:ext cx="2788920" cy="48097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45920"/>
            <a:ext cx="24231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行程规划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029968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目的地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41248" y="2194560"/>
            <a:ext cx="22677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240280"/>
            <a:ext cx="2011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云南大理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670048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出行天数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41248" y="2834640"/>
            <a:ext cx="256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834640"/>
            <a:ext cx="1755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834640"/>
            <a:ext cx="256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852928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852928"/>
            <a:ext cx="175564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2928" y="2852928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236976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出行人数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41248" y="3401568"/>
            <a:ext cx="256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401568"/>
            <a:ext cx="1755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2928" y="3401568"/>
            <a:ext cx="2560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419856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419856"/>
            <a:ext cx="175564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52928" y="3419856"/>
            <a:ext cx="2560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785616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预算（元）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41248" y="3950208"/>
            <a:ext cx="22677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3995928"/>
            <a:ext cx="2011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" y="4425696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出发日期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41248" y="4590288"/>
            <a:ext cx="22677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4636008"/>
            <a:ext cx="2011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5047488"/>
            <a:ext cx="9144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出行偏好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41248" y="5257800"/>
            <a:ext cx="658368" cy="219456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266944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文化历史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609344" y="5257800"/>
            <a:ext cx="658368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9344" y="5266944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自然风光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77440" y="5257800"/>
            <a:ext cx="658368" cy="219456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5266944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美食体验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1248" y="5550408"/>
            <a:ext cx="658368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559552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购物娱乐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609344" y="5550408"/>
            <a:ext cx="658368" cy="219456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09344" y="5559552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亲子游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41248" y="5916168"/>
            <a:ext cx="2267712" cy="310896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5961888"/>
            <a:ext cx="22677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生成行程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1248" y="6345936"/>
            <a:ext cx="226771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9264" y="6419088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历史行程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69264" y="6629400"/>
            <a:ext cx="20116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云南大理4天文化历史亲子美食之旅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639312" y="1536192"/>
            <a:ext cx="771753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58768" y="1645920"/>
            <a:ext cx="744321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云南大理4天文化历史亲子美食之旅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3858768" y="1865376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深度体验大理古城、洱海、崇圣寺三塔等文化景点，品尝白族美食，参与扎染等亲子活动，享受美食与自然风光。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3858768" y="2084832"/>
            <a:ext cx="1225296" cy="219456"/>
          </a:xfrm>
          <a:prstGeom prst="roundRect">
            <a:avLst/>
          </a:prstGeom>
          <a:solidFill>
            <a:srgbClr val="EEF4EE"/>
          </a:solidFill>
          <a:ln w="12700">
            <a:solidFill>
              <a:srgbClr val="EEF4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58768" y="2093976"/>
            <a:ext cx="12252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总预估费用：¥2510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266944" y="2084832"/>
            <a:ext cx="786384" cy="219456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66944" y="2093976"/>
            <a:ext cx="7863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导出行程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81344" y="2084832"/>
            <a:ext cx="1024128" cy="21945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81344" y="2093976"/>
            <a:ext cx="10241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C7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查看关联订单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39312" y="2523744"/>
            <a:ext cx="7717536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0" y="26517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天  大理古城文化探访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059936" y="3072384"/>
            <a:ext cx="18288" cy="2697480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18788" y="3108960"/>
            <a:ext cx="91440" cy="91440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7680" y="3054096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690872" y="3017520"/>
            <a:ext cx="65379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73752" y="3090672"/>
            <a:ext cx="6172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抵达大理站</a:t>
            </a:r>
            <a:endParaRPr lang="en-US" sz="1030" dirty="0"/>
          </a:p>
        </p:txBody>
      </p:sp>
      <p:sp>
        <p:nvSpPr>
          <p:cNvPr id="66" name="Text 64"/>
          <p:cNvSpPr/>
          <p:nvPr/>
        </p:nvSpPr>
        <p:spPr>
          <a:xfrm>
            <a:off x="4873752" y="3236976"/>
            <a:ext cx="6144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乘坐高铁抵达大理站，出站后打车或乘坐景区直通车前往古城，车程约40分钟，费用约50元。</a:t>
            </a:r>
            <a:endParaRPr lang="en-US" sz="830" dirty="0"/>
          </a:p>
        </p:txBody>
      </p:sp>
      <p:sp>
        <p:nvSpPr>
          <p:cNvPr id="67" name="Text 65"/>
          <p:cNvSpPr/>
          <p:nvPr/>
        </p:nvSpPr>
        <p:spPr>
          <a:xfrm>
            <a:off x="4873752" y="3383280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08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预估费用：¥50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4018788" y="3767328"/>
            <a:ext cx="91440" cy="91440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0" y="3712464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4690872" y="3675888"/>
            <a:ext cx="65379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73752" y="3749040"/>
            <a:ext cx="6172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大理古城漫步</a:t>
            </a:r>
            <a:endParaRPr lang="en-US" sz="1030" dirty="0"/>
          </a:p>
        </p:txBody>
      </p:sp>
      <p:sp>
        <p:nvSpPr>
          <p:cNvPr id="72" name="Text 70"/>
          <p:cNvSpPr/>
          <p:nvPr/>
        </p:nvSpPr>
        <p:spPr>
          <a:xfrm>
            <a:off x="4873752" y="3895344"/>
            <a:ext cx="6144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从南门进入古城，游览文献楼、洋人街、人民路，欣赏白族建筑，感受古城历史氛围。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4018788" y="4425696"/>
            <a:ext cx="91440" cy="91440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97680" y="4370832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12:30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4690872" y="4334256"/>
            <a:ext cx="65379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73752" y="4407408"/>
            <a:ext cx="6172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再回首凉鸡米线</a:t>
            </a:r>
            <a:endParaRPr lang="en-US" sz="1030" dirty="0"/>
          </a:p>
        </p:txBody>
      </p:sp>
      <p:sp>
        <p:nvSpPr>
          <p:cNvPr id="77" name="Text 75"/>
          <p:cNvSpPr/>
          <p:nvPr/>
        </p:nvSpPr>
        <p:spPr>
          <a:xfrm>
            <a:off x="4873752" y="4553712"/>
            <a:ext cx="6144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品尝大理著名小吃凉鸡米线，推荐人民路再回首店，人均15元，酸辣爽口。</a:t>
            </a:r>
            <a:endParaRPr lang="en-US" sz="830" dirty="0"/>
          </a:p>
        </p:txBody>
      </p:sp>
      <p:sp>
        <p:nvSpPr>
          <p:cNvPr id="78" name="Text 76"/>
          <p:cNvSpPr/>
          <p:nvPr/>
        </p:nvSpPr>
        <p:spPr>
          <a:xfrm>
            <a:off x="4873752" y="4700016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08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预估费用：¥30</a:t>
            </a:r>
            <a:endParaRPr lang="en-US" sz="810" dirty="0"/>
          </a:p>
        </p:txBody>
      </p:sp>
      <p:sp>
        <p:nvSpPr>
          <p:cNvPr id="79" name="Shape 77"/>
          <p:cNvSpPr/>
          <p:nvPr/>
        </p:nvSpPr>
        <p:spPr>
          <a:xfrm>
            <a:off x="4018788" y="5084064"/>
            <a:ext cx="91440" cy="91440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5029200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14:00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4690872" y="4992624"/>
            <a:ext cx="65379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73752" y="5065776"/>
            <a:ext cx="6172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洱海生态廊道</a:t>
            </a:r>
            <a:endParaRPr lang="en-US" sz="1030" dirty="0"/>
          </a:p>
        </p:txBody>
      </p:sp>
      <p:sp>
        <p:nvSpPr>
          <p:cNvPr id="83" name="Text 81"/>
          <p:cNvSpPr/>
          <p:nvPr/>
        </p:nvSpPr>
        <p:spPr>
          <a:xfrm>
            <a:off x="4873752" y="5212080"/>
            <a:ext cx="6144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下午前往洱海生态廊道骑行，体验湖岸风景与亲子休闲时光，适合家庭同行。</a:t>
            </a:r>
            <a:endParaRPr lang="en-US" sz="830" dirty="0"/>
          </a:p>
        </p:txBody>
      </p:sp>
      <p:sp>
        <p:nvSpPr>
          <p:cNvPr id="84" name="Text 82"/>
          <p:cNvSpPr/>
          <p:nvPr/>
        </p:nvSpPr>
        <p:spPr>
          <a:xfrm>
            <a:off x="4873752" y="5358384"/>
            <a:ext cx="9144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08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预估费用：¥40</a:t>
            </a:r>
            <a:endParaRPr lang="en-US" sz="810" dirty="0"/>
          </a:p>
        </p:txBody>
      </p:sp>
      <p:sp>
        <p:nvSpPr>
          <p:cNvPr id="85" name="Shape 83"/>
          <p:cNvSpPr/>
          <p:nvPr/>
        </p:nvSpPr>
        <p:spPr>
          <a:xfrm>
            <a:off x="8119872" y="1444752"/>
            <a:ext cx="841248" cy="201168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19872" y="1453896"/>
            <a:ext cx="84124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125712" y="1444752"/>
            <a:ext cx="768096" cy="201168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25712" y="1453896"/>
            <a:ext cx="7680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历史行程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0021824" y="1444752"/>
            <a:ext cx="1170432" cy="201168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021824" y="1453896"/>
            <a:ext cx="11704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/ 关联订单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客服与工具调用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不仅能聊天，还能联动天气、航班和酒店查询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为了保证 AI 不只是“会说话”，我们把工具调用、上下文延续和降级兜底一起做了进去。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" y="1645920"/>
            <a:ext cx="3072384" cy="4389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1188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旅行助手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176272"/>
            <a:ext cx="1627632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明天大理天气怎么样？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1938528" y="2761488"/>
            <a:ext cx="1572768" cy="603504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816352"/>
            <a:ext cx="135331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明天大理晴转多云，22°C~28°C，适合古城步行和洱海骑行。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" y="3584448"/>
            <a:ext cx="1517904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675888"/>
            <a:ext cx="12801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帮我查一下北京到上海的航班。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47088" y="4169664"/>
            <a:ext cx="1664208" cy="969264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4261104"/>
            <a:ext cx="144475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已查询到多班航班，可按时间和价格进一步筛选，也可以继续帮你组合酒店方案。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114800" y="1645920"/>
            <a:ext cx="7424928" cy="43891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1865376"/>
            <a:ext cx="1188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工具调用链路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43984" y="2249424"/>
            <a:ext cx="1517904" cy="969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2432304"/>
            <a:ext cx="256032" cy="25603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2395728"/>
            <a:ext cx="76809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5152" y="2724912"/>
            <a:ext cx="11155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输入天气、航班、酒店或路线等旅行相关问题。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2249424"/>
            <a:ext cx="1517904" cy="969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2432304"/>
            <a:ext cx="256032" cy="25603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48272" y="2395728"/>
            <a:ext cx="76809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模型理解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2724912"/>
            <a:ext cx="11155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识别意图并判断是否需要调用工具函数。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18704" y="2249424"/>
            <a:ext cx="1517904" cy="969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2432304"/>
            <a:ext cx="256032" cy="256032"/>
          </a:xfrm>
          <a:prstGeom prst="ellipse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85632" y="2395728"/>
            <a:ext cx="76809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9872" y="2724912"/>
            <a:ext cx="11155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get_weather、search_flights、search_hotels。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56064" y="2249424"/>
            <a:ext cx="1517904" cy="969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57232" y="2432304"/>
            <a:ext cx="256032" cy="256032"/>
          </a:xfrm>
          <a:prstGeom prst="ellipse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57232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22992" y="2395728"/>
            <a:ext cx="76809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生成回复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57232" y="2724912"/>
            <a:ext cx="11155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把工具返回结果拼回消息上下文，输出最终答案。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98848" y="3529584"/>
            <a:ext cx="6400800" cy="27432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43984" y="3803904"/>
            <a:ext cx="321868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对话特性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90288" y="4288536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4206240"/>
            <a:ext cx="24871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支持多轮上下文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590288" y="458114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4498848"/>
            <a:ext cx="24871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sessionId 保存历史对话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4590288" y="4873752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4791456"/>
            <a:ext cx="24871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可继续追问并保留语义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7882128" y="3803904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3950208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稳定性设计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028432" y="4288536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74736" y="4206240"/>
            <a:ext cx="2578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 默认 deepseek-v4-flash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8028432" y="4581144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74736" y="4498848"/>
            <a:ext cx="2578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请求失败自动降级为模板 / 兜底回复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8028432" y="4873752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74736" y="4791456"/>
            <a:ext cx="25786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确保答辩和演示阶段功能稳定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社区与用户中心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把游记发布、互动关系和通知系统做成内容闭环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社区不是附属页面，而是平台从“交易系统”走向“内容平台”的关键一步。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" y="1554480"/>
            <a:ext cx="10972800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792224"/>
            <a:ext cx="2286000" cy="14813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901952"/>
            <a:ext cx="2066544" cy="711037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017520"/>
            <a:ext cx="195681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1.2k 点赞 · 86 评论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996696" y="2651760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美食体验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996696" y="2798064"/>
            <a:ext cx="1956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成都慢生活美食地图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1014984" y="3429000"/>
            <a:ext cx="2011680" cy="122529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" y="3538728"/>
            <a:ext cx="1792224" cy="58814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4398264"/>
            <a:ext cx="168249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864 点赞 · 43 收藏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1179576" y="4288536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美食体验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79576" y="4434840"/>
            <a:ext cx="16824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成都慢生活美食地图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236976" y="2103120"/>
            <a:ext cx="2103120" cy="13533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46704" y="2212848"/>
            <a:ext cx="1883664" cy="64959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200400"/>
            <a:ext cx="17739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998 点赞 · 61 评论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401568" y="2962656"/>
            <a:ext cx="6583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美食体验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401568" y="3108960"/>
            <a:ext cx="17739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成都慢生活美食地图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632704" y="1792224"/>
            <a:ext cx="269748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社区与用户中心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88736" y="2295144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212848"/>
            <a:ext cx="193852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游记发布、图片上传、标签与可见范围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888736" y="2587752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505456"/>
            <a:ext cx="193852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点赞、收藏、评论、关注与粉丝关系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888736" y="2880360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798064"/>
            <a:ext cx="193852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支持保存草稿，兼顾创作与沉淀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888736" y="317296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090672"/>
            <a:ext cx="193852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通知中心与个人资料管理形成闭环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888736" y="3465576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383280"/>
            <a:ext cx="193852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敏感词检测保障内容合规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632704" y="3803904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393192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852160" y="4224528"/>
            <a:ext cx="530352" cy="53035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4261104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杜新诚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10528" y="4443984"/>
            <a:ext cx="1463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帖子 18 · 关注 152 · 粉丝 93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5852160" y="4736592"/>
            <a:ext cx="676656" cy="219456"/>
          </a:xfrm>
          <a:prstGeom prst="roundRect">
            <a:avLst/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4745736"/>
            <a:ext cx="67665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通知中心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56832" y="4736592"/>
            <a:ext cx="658368" cy="21945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4745736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资料编辑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4928" y="4736592"/>
            <a:ext cx="585216" cy="219456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4745736"/>
            <a:ext cx="5852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草稿箱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管理后台与可观测性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从用户侧走到管理侧，系统才真正具备运营能力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这一页展示成员 E 的交付成果：可观测仪表盘、资源管理、内容治理和系统日志。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11064240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99616"/>
            <a:ext cx="1828800" cy="4882896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64208"/>
            <a:ext cx="12801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103120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877824" y="2505456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航班管理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77824" y="2907792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酒店与房态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877824" y="3310128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877824" y="3712464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订单流水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877824" y="4114800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内容审核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877824" y="4517136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敏感词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77824" y="4919472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77824" y="5321808"/>
            <a:ext cx="1188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AF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2743200" y="1645920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管理后台与可观测性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2670048" y="1956816"/>
            <a:ext cx="1965960" cy="6766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2121408"/>
            <a:ext cx="384048" cy="384048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048256"/>
            <a:ext cx="112471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523,600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64992" y="2340864"/>
            <a:ext cx="11247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总用户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828032" y="1956816"/>
            <a:ext cx="1965960" cy="6766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92624" y="2121408"/>
            <a:ext cx="384048" cy="384048"/>
          </a:xfrm>
          <a:prstGeom prst="round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2048256"/>
            <a:ext cx="112471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128,420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22976" y="2340864"/>
            <a:ext cx="11247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总订单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986016" y="1956816"/>
            <a:ext cx="1965960" cy="6766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2121408"/>
            <a:ext cx="384048" cy="384048"/>
          </a:xfrm>
          <a:prstGeom prst="roundRect">
            <a:avLst/>
          </a:prstGeom>
          <a:solidFill>
            <a:srgbClr val="60BFA7"/>
          </a:solidFill>
          <a:ln w="12700">
            <a:solidFill>
              <a:srgbClr val="60BF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2048256"/>
            <a:ext cx="112471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1,836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680960" y="2340864"/>
            <a:ext cx="11247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今日订单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144000" y="1956816"/>
            <a:ext cx="1965960" cy="67665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08592" y="2121408"/>
            <a:ext cx="384048" cy="384048"/>
          </a:xfrm>
          <a:prstGeom prst="roundRect">
            <a:avLst/>
          </a:prstGeom>
          <a:solidFill>
            <a:srgbClr val="D9B064"/>
          </a:solidFill>
          <a:ln w="12700">
            <a:solidFill>
              <a:srgbClr val="D9B0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38944" y="2048256"/>
            <a:ext cx="112471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838944" y="2340864"/>
            <a:ext cx="11247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待审核内容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670048" y="2871216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1808" y="2871216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73568" y="2871216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25328" y="2871216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6352" y="299923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订单趋势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889504" y="3584448"/>
            <a:ext cx="146304" cy="29260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3346704"/>
            <a:ext cx="146304" cy="5303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11296" y="3090672"/>
            <a:ext cx="146304" cy="786384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22192" y="3401568"/>
            <a:ext cx="146304" cy="4754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33088" y="2962656"/>
            <a:ext cx="146304" cy="914400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43984" y="3218688"/>
            <a:ext cx="146304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68112" y="299923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类型分布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7840" y="3310128"/>
            <a:ext cx="621792" cy="62179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91072" y="3310128"/>
            <a:ext cx="420624" cy="420624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03136" y="3310128"/>
            <a:ext cx="274320" cy="274320"/>
          </a:xfrm>
          <a:prstGeom prst="roundRect">
            <a:avLst/>
          </a:prstGeom>
          <a:solidFill>
            <a:srgbClr val="EEF4EE"/>
          </a:solidFill>
          <a:ln w="12700">
            <a:solidFill>
              <a:srgbClr val="EEF4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22976" y="4023360"/>
            <a:ext cx="6400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 42%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6236208" y="4023360"/>
            <a:ext cx="6400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 33%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748272" y="4023360"/>
            <a:ext cx="6400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火车 25%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8119872" y="299923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 / 延迟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247888" y="3328416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84464" y="3291840"/>
            <a:ext cx="164592" cy="1828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40496" y="3273552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77072" y="3145536"/>
            <a:ext cx="164592" cy="1828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33104" y="3127248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3145536"/>
            <a:ext cx="164592" cy="1828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25712" y="3218688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62288" y="3108960"/>
            <a:ext cx="164592" cy="1828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18320" y="3090672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54896" y="3108960"/>
            <a:ext cx="164592" cy="18288"/>
          </a:xfrm>
          <a:prstGeom prst="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10928" y="316382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19872" y="4023360"/>
            <a:ext cx="15544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QPS 18.2 / 延迟 86ms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10771632" y="299923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告警看板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771632" y="3310128"/>
            <a:ext cx="768096" cy="219456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71632" y="3319272"/>
            <a:ext cx="7680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低库存房型 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1612880" y="3310128"/>
            <a:ext cx="658368" cy="21945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612880" y="3319272"/>
            <a:ext cx="65836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失败日志 3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0771632" y="3621024"/>
            <a:ext cx="877824" cy="219456"/>
          </a:xfrm>
          <a:prstGeom prst="roundRect">
            <a:avLst/>
          </a:prstGeom>
          <a:solidFill>
            <a:srgbClr val="EEF4EE"/>
          </a:solidFill>
          <a:ln w="12700">
            <a:solidFill>
              <a:srgbClr val="EEF4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71632" y="3630168"/>
            <a:ext cx="8778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待审核内容 32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670048" y="4407408"/>
            <a:ext cx="466344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16352" y="455371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资源管理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2834640" y="491032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80944" y="4828032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 CRUD、酒店 CRUD、房态库存和价格调整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834640" y="5202936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80944" y="5120640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优惠券新增、编辑、删除，支持满减券 / 折扣券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5495544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80944" y="5413248"/>
            <a:ext cx="39502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订单流水分页查看，交通订单退款审批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52944" y="4407408"/>
            <a:ext cx="5358384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99248" y="4553712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内容与系统治理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717536" y="4910328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63840" y="4828032"/>
            <a:ext cx="44074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游记审核、评价举报工单、用户启用 / 禁用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717536" y="5202936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63840" y="5120640"/>
            <a:ext cx="44074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敏感词管理、操作日志分页、用户画像侧边查看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717536" y="549554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63840" y="5413248"/>
            <a:ext cx="440740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QPS、延迟、告警卡片用于值班观察和答辩展示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关键问题与修复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答辩里展示的不只是一堆功能，还包括遇到的问题与修复能力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我们把最关键的三个工程问题拆开说明：安全边界、数据库导入乱码和启动流程稳定性。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" y="1737360"/>
            <a:ext cx="2798064" cy="4480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01952"/>
            <a:ext cx="841248" cy="219456"/>
          </a:xfrm>
          <a:prstGeom prst="round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59536" y="2267712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450592"/>
            <a:ext cx="243230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SecurityConfig 早期匿名放行过宽，未登录请求可能打到不应公开的接口。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41248" y="3218688"/>
            <a:ext cx="2468880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383280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3566160"/>
            <a:ext cx="243230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按只读资源精确收敛到 GET 接口，并补了 5 条 SecurityConfig 匿名访问回归测试。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41248" y="4480560"/>
            <a:ext cx="2468880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645152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9536" y="4828032"/>
            <a:ext cx="243230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社区写接口、酒店私有接口和“我的内容”请求都被正确拦截为 403。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078224" y="1737360"/>
            <a:ext cx="2798064" cy="4480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2816" y="1901952"/>
            <a:ext cx="841248" cy="219456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数据库乱码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61104" y="2267712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61104" y="2450592"/>
            <a:ext cx="243230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PowerShell 的 Get-Content | mysql 管道会把中文种子数据导成 ?。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242816" y="3218688"/>
            <a:ext cx="2468880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1104" y="3383280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61104" y="3566160"/>
            <a:ext cx="243230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 setup.ps1，直接查找 mysql.exe 并通过 SOURCE 导入，同时支持 -InitDb -ResetDb。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242816" y="4480560"/>
            <a:ext cx="2468880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61104" y="4645152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F9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61104" y="4828032"/>
            <a:ext cx="243230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数据库已实际删库重导验证，中文昵称和游记标题恢复正常。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7479792" y="1737360"/>
            <a:ext cx="2798064" cy="4480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44384" y="1901952"/>
            <a:ext cx="841248" cy="219456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4384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启动流程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62672" y="2267712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62672" y="2450592"/>
            <a:ext cx="243230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环境变量、数据库密码和前后端启动顺序不稳定，容易导致本地运行失败。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7644384" y="3218688"/>
            <a:ext cx="2468880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383280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662672" y="3566160"/>
            <a:ext cx="243230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 start.ps1 与 .env 加载逻辑，等待后端可访问后再启动前端。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7644384" y="4480560"/>
            <a:ext cx="2468880" cy="18288"/>
          </a:xfrm>
          <a:prstGeom prst="rect">
            <a:avLst/>
          </a:prstGeom>
          <a:solidFill>
            <a:srgbClr val="E5D8CA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4645152"/>
            <a:ext cx="548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8A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62672" y="4828032"/>
            <a:ext cx="243230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支持一键启动、DryRun 检查和本地密码继承，联调稳定性明显提升。</a:t>
            </a:r>
            <a:endParaRPr lang="en-US" sz="9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FF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310896"/>
            <a:ext cx="1234440" cy="256032"/>
          </a:xfrm>
          <a:prstGeom prst="roundRect">
            <a:avLst/>
          </a:prstGeom>
          <a:solidFill>
            <a:srgbClr val="F7ECE6"/>
          </a:solidFill>
          <a:ln w="12700">
            <a:solidFill>
              <a:srgbClr val="F7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我们不是只“演示功能”，而是真实做了回归与验证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这一页把已经明确验证过的结果收敛成答辩时最有说服力的证据。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1700784"/>
            <a:ext cx="23774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65376"/>
            <a:ext cx="384048" cy="384048"/>
          </a:xfrm>
          <a:prstGeom prst="round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1792224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36192" y="2084832"/>
            <a:ext cx="153619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后端自动化测试通过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419856" y="1700784"/>
            <a:ext cx="23774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1865376"/>
            <a:ext cx="384048" cy="384048"/>
          </a:xfrm>
          <a:prstGeom prst="roundRect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792224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0" y="2084832"/>
            <a:ext cx="153619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匿名访问安全回归通过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998464" y="1700784"/>
            <a:ext cx="23774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865376"/>
            <a:ext cx="384048" cy="384048"/>
          </a:xfrm>
          <a:prstGeom prst="roundRect">
            <a:avLst/>
          </a:prstGeom>
          <a:solidFill>
            <a:srgbClr val="58A7D7"/>
          </a:solidFill>
          <a:ln w="12700">
            <a:solidFill>
              <a:srgbClr val="58A7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1792224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93408" y="2084832"/>
            <a:ext cx="153619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前端生产构建通过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577072" y="1700784"/>
            <a:ext cx="2377440" cy="841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41664" y="1865376"/>
            <a:ext cx="384048" cy="384048"/>
          </a:xfrm>
          <a:prstGeom prst="roundRect">
            <a:avLst/>
          </a:prstGeom>
          <a:solidFill>
            <a:srgbClr val="F08E60"/>
          </a:solidFill>
          <a:ln w="12700">
            <a:solidFill>
              <a:srgbClr val="F08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1792224"/>
            <a:ext cx="153619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72016" y="2084832"/>
            <a:ext cx="153619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数据库重导恢复验证完成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41248" y="2926080"/>
            <a:ext cx="5596128" cy="2852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3108960"/>
            <a:ext cx="10058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验证清单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8992" y="3511296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3438144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BackendApplicationTests 显式指向 TravelMateApplication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78992" y="3895344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5296" y="3822192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SecurityConfigTests 验证匿名创建/删除/我的内容访问均被拒绝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78992" y="4279392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25296" y="4206240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npm run build 已成功通过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78992" y="4663440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296" y="4590288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start.ps1 -DryRun 可输出完整启动流程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78992" y="5047488"/>
            <a:ext cx="73152" cy="73152"/>
          </a:xfrm>
          <a:prstGeom prst="ellipse">
            <a:avLst/>
          </a:prstGeom>
          <a:solidFill>
            <a:srgbClr val="5F9B8A"/>
          </a:solidFill>
          <a:ln w="12700">
            <a:solidFill>
              <a:srgbClr val="5F9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25296" y="4974336"/>
            <a:ext cx="4846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setup.ps1 -InitDb -ResetDb 已用于恢复中文种子数据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11696" y="2926080"/>
            <a:ext cx="4242816" cy="2852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5D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3108960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当前仍需继续完善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12864" y="353872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3456432"/>
            <a:ext cx="3401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更深层的并发压测与自动化回归仍可继续加强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912864" y="390448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3822192"/>
            <a:ext cx="3401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 / 延迟 / 告警目前为轻量模拟指标，未接入真实 APM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912864" y="4270248"/>
            <a:ext cx="73152" cy="7315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4187952"/>
            <a:ext cx="34015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B2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行程与订单、同行人共享等扩展功能可作为后续演进方向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931152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但就课程项目答辩而言，当前版本已经具备完整演示链路、工程修复案例和验证证据。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A4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320040"/>
            <a:ext cx="502920" cy="256032"/>
          </a:xfrm>
          <a:prstGeom prst="roundRect">
            <a:avLst/>
          </a:prstGeom>
          <a:solidFill>
            <a:srgbClr val="E9D6CC"/>
          </a:solidFill>
          <a:ln w="12700">
            <a:solidFill>
              <a:srgbClr val="E9D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64240" y="329184"/>
            <a:ext cx="5029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4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86384" y="932688"/>
            <a:ext cx="54864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我们完成的不只是功能，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而是一套可运行、可验证、可维护的课程项目系统。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1E1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TravelMate 伴游出行旅游平台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852928"/>
            <a:ext cx="3200400" cy="1078992"/>
          </a:xfrm>
          <a:prstGeom prst="roundRect">
            <a:avLst/>
          </a:prstGeom>
          <a:solidFill>
            <a:srgbClr val="A05B4D"/>
          </a:solidFill>
          <a:ln w="12700">
            <a:solidFill>
              <a:srgbClr val="A05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3054096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0704" y="3328416"/>
            <a:ext cx="2651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3E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首页、搜索、下单、AI、社区与后台都能串起来展示。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97680" y="2852928"/>
            <a:ext cx="3200400" cy="1078992"/>
          </a:xfrm>
          <a:prstGeom prst="roundRect">
            <a:avLst/>
          </a:prstGeom>
          <a:solidFill>
            <a:srgbClr val="A05B4D"/>
          </a:solidFill>
          <a:ln w="12700">
            <a:solidFill>
              <a:srgbClr val="A05B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3054096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工程修复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17136" y="3328416"/>
            <a:ext cx="2651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3E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安全边界、数据库乱码、一键启动流程都完成了实际修复。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754112" y="2852928"/>
            <a:ext cx="3200400" cy="1078992"/>
          </a:xfrm>
          <a:prstGeom prst="roundRect">
            <a:avLst/>
          </a:prstGeom>
          <a:solidFill>
            <a:srgbClr val="A05B4D"/>
          </a:solidFill>
          <a:ln w="12700">
            <a:solidFill>
              <a:srgbClr val="A05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3568" y="3054096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验证证据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73568" y="3328416"/>
            <a:ext cx="2651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3E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自动化测试、构建验证、脚本校验和重导恢复都已完成。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023360" y="4937760"/>
            <a:ext cx="4023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/ Q&amp;A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24528" y="5449824"/>
            <a:ext cx="3657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DE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感谢老师聆听，欢迎提问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TravelMate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TravelMate 伴游出行旅游平台</dc:title>
  <dc:subject>软件工程课程项目答辩</dc:subject>
  <dc:creator>GitHub Copilot</dc:creator>
  <cp:lastModifiedBy>GitHub Copilot</cp:lastModifiedBy>
  <cp:revision>1</cp:revision>
  <dcterms:created xsi:type="dcterms:W3CDTF">2026-05-13T16:21:20Z</dcterms:created>
  <dcterms:modified xsi:type="dcterms:W3CDTF">2026-05-13T16:21:20Z</dcterms:modified>
</cp:coreProperties>
</file>