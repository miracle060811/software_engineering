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theme" Target="theme/theme2.xml"/><Relationship Id="rId8" Type="http://schemas.openxmlformats.org/officeDocument/2006/relationships/slideMaster" Target="slideMasters/slideMaster2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notesSlide" Target="notesSlides/notesSlide1.xml"/><Relationship Id="rId27" Type="http://schemas.openxmlformats.org/officeDocument/2006/relationships/notesSlide" Target="notesSlides/notesSlide2.xml"/><Relationship Id="rId28" Type="http://schemas.openxmlformats.org/officeDocument/2006/relationships/notesSlide" Target="notesSlides/notesSlide3.xml"/><Relationship Id="rId29" Type="http://schemas.openxmlformats.org/officeDocument/2006/relationships/notesSlide" Target="notesSlides/notesSlide4.xml"/><Relationship Id="rId30" Type="http://schemas.openxmlformats.org/officeDocument/2006/relationships/notesSlide" Target="notesSlides/notesSlide5.xml"/><Relationship Id="rId31" Type="http://schemas.openxmlformats.org/officeDocument/2006/relationships/notesSlide" Target="notesSlides/notesSlide6.xml"/><Relationship Id="rId32" Type="http://schemas.openxmlformats.org/officeDocument/2006/relationships/notesSlide" Target="notesSlides/notesSlide7.xml"/><Relationship Id="rId33" Type="http://schemas.openxmlformats.org/officeDocument/2006/relationships/notesSlide" Target="notesSlides/notesSlide8.xml"/><Relationship Id="rId34" Type="http://schemas.openxmlformats.org/officeDocument/2006/relationships/notesSlide" Target="notesSlides/notesSlide9.xml"/><Relationship Id="rId35" Type="http://schemas.openxmlformats.org/officeDocument/2006/relationships/notesSlide" Target="notesSlides/notesSlide10.xml"/><Relationship Id="rId36" Type="http://schemas.openxmlformats.org/officeDocument/2006/relationships/notesSlide" Target="notesSlides/notesSlide11.xml"/><Relationship Id="rId37" Type="http://schemas.openxmlformats.org/officeDocument/2006/relationships/notesSlide" Target="notesSlides/notesSlide12.xml"/><Relationship Id="rId38" Type="http://schemas.openxmlformats.org/officeDocument/2006/relationships/notesSlide" Target="notesSlides/notesSlide13.xml"/><Relationship Id="rId39" Type="http://schemas.openxmlformats.org/officeDocument/2006/relationships/notesSlide" Target="notesSlides/notesSlide14.xml"/><Relationship Id="rId40" Type="http://schemas.openxmlformats.org/officeDocument/2006/relationships/notesSlide" Target="notesSlides/notesSlide15.xml"/><Relationship Id="rId41" Type="http://schemas.openxmlformats.org/officeDocument/2006/relationships/notesSlide" Target="notesSlides/notesSlide16.xml"/><Relationship Id="rId42" Type="http://schemas.openxmlformats.org/officeDocument/2006/relationships/notesSlide" Target="notesSlides/notes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各位老师好，我们是第 5 组 Miracle 小组，答辩项目是旅行服务平台 TravelMate。本次实践我们先复活并补齐了上学期的前后端单体，再把后端物理拆分为六个独立微服务，完成了容器化、CI/CD 流水线、Kubernetes 部署、自动扩缩容、故障隔离和性能对比。接下来四分钟先介绍项目与架构，随后进行七分钟现场演示。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这一页是全局结论：任务书要求的八个验收点我们全部落地。上面一排是关键数字：19 个业务用例、6 个微服务、207 次 Git 提交、12 个流水线任务、276 项自动化测试全部通过、35 张表一表一主。下面表格逐项给出完成情况和仓库内的证据位置，老师问到任何一项，我们都能直接定位到对应目录。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任务书把十天实践切成两段：前五天复活单体、补齐文档测试、容器化和 CI，冻结 monolith-start 基线；后五天在不改动单体仓库的前提下，把后端物理拆成六个微服务，部署到 Kubernetes，完成扩缩容、故障和性能实验，9 月 1 日通过拆分边界验证。下方时间轴是我们的真实里程碑，所有交付物按六个目录归档，过程管理证据齐全。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整体架构是经典的前后端分离四层结构：Vue3 单页应用通过 REST 接口访问 Spring Boot 业务层，业务层落到 MySQL 和 Redis。技术栈版本全部锁定，保证老师现场可复现。特别说明两点：一是单体和微服务两个形态在仓库里并存，数据模型一致，便于做同口径性能对比；二是项目不接真实支付和出票，外部能力都是可演示的桩，这一边界在 README 和答辩中都明确说明。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业务全景共 19 个用例，按业务能力归为六大域，左侧表格逐项列出，所有用例在追溯矩阵中的状态都是 covered。右侧是我们的追溯链：从需求条目到用例、子系统组件、数据对象、代码类和接口，最后落到自动化测试，正反两个方向都能查。老师任意点一个需求，我们都能顺着链条找到对应代码和测试；点一个测试，也能反查它覆盖哪个需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这张图是我们的目标服务划分全景。拆分不是按 controller、service 这种技术层切，而是按业务能力：身份、交通、当地、AI、社区、运维六个服务，各自独立进程、独立数据库、独立镜像和副本。四条拆分依据列在右侧。特别强调：原来的单体代码全程没有改动，它保留下来作为性能对比的对照组，这也是任务书要求的对照实验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这张表把六个服务的边界一次性讲清：端口从 8081 到 8086，表归属精确到张数，身份 3 张、交通 6 张、本地 14 张、AI 6 张、社区 3 张、运维 2 张，合计 34 张；剩下一张媒体资源表暂留单体，文档里有明确说明，没有藏着掖着。最右列是服务间协作，全部走带令牌的内部 HTTP 接口，任何服务都不能直接读别人的库，这条规则由结构门禁自动检查。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数据归属是这次拆分的核心考点，我们用三条硬规则保证：一表一主、一服务一库一账号、跨服务取数只走内部接口。这不是口头约定：右侧是 9 月 1 日的实测记录，用每个服务自己的账号去查别人的库，MySQL 全部返回 1142 权限拒绝。右下角是引导脚本原文，先回收全部权限，再只授予本库的增删改查，连 DDL 权限都不给。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左图是跨服务调用和失败补偿的完整路径。右侧是我们冻结的内部接口契约：第一，所有内部调用必须带服务令牌；第二，超时严格限定在 1 秒连接、2 秒读取，避免级联阻塞；第三，依赖出问题统一返回 503 和固定错误码，前端能给出稳定提示；第四，通知类事件通过 Outbox 表加幂等键投递，失败退避重试、超限死信；最关键的是事务保护，比如身份服务不可用时交通订单根本不会进入扣库存阶段，保证不会出现扣了库存却没有订单的脏数据。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这是我们的流水线拓扑。每次 push 到 GitHub，Actions 会依次通过四道闸：先做变更识别，再跑后端、微服务、前端和真实数据库 E2E，由 ci-gate 汇总，任何一项失败都不能合并；合并后 Trivy 扫描镜像、推送 GHCR 镜像仓库并留存发布证据；最后部署到 Kubernetes 并做健康检查，交付闸全绿才算完成。整条流水线定义在 .github/workflows/ci.yml，共 12 个任务，下一页看真实运行记录。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CI/CD 不是写了个配置文件就算数，左边是真实的运行记录：第 217 次运行，12 个任务全部成功，耗时 11 分 44 秒，产出 10 个制品归档，包括测试报告和部署证据。特别说明真实数据库 E2E 是在流水线容器里跑真实 MySQL，不是 Mock。右下角是对应的 PR 合并记录，我们的分支保护要求评审通过且 CI 全绿才能合并，测试失败的提交确实被拦下来过，这条门禁是生效的。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微服务不是只在本地能跑，而是真正部署到了 Kubernetes。左上是流水线里的部署日志和部署后健康检查；右侧是集群工作负载清单：六个业务 Deployment 都配了三类健康探针和资源配额，六个 MySQL 用 StatefulSet 加独立存储卷，六个 Service 做服务发现，六个 HPA 负责扩缩容。下方宽截图是 kubectl 看到的工作负载和 Pod 状态，全部 Running、Ready，现场演示我们会直接在集群里操作。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测试分六层：单体后端 161 个、前端组件 24 个、Mock 端到端 6 个、真实数据库端到端 16 个，拆分后六服务新增 52 个后端测试和 17 个微服务端到端，合计 276 项，全部通过、零失败零跳过。下方是两个值得展开的点：一是关键业务断言，比如并发抢房防超卖和越权拦截；二是质量闭环，19 个用例全部可追溯，每次提交 CI 必跑，失败直接阻断合并。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扩缩容分两部分讲：左边是已经入库的真实配置，六个服务各绑一个 HPA，CPU 平均利用率超过 60% 就扩容，副本下限 2、上限 6；扩容零等待、每 30 秒最多翻倍或加两个 Pod，缩容有 120 秒稳定窗口防抖。右边是现场实验的五个步骤，用 k6 加压、用 kubectl 观察副本爬升和回落，前中后三态自动存档。底部如实说明：实测曲线在答辩现场触发，我们不提前编造数字。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故障处理我们做了真实实验而不是口头描述：8 月 31 日主动停掉身份服务。左侧时间线显示，故障期间交通服务的下单请求在超时控制下快速返回 503 和固定中文提示，但不依赖身份的航班查询依然 200，自身健康检查保持 UP；身份服务约 28 秒后重启完成，系统自动恢复。右侧对比表是关键：订单数 0 比 0、库存 317 比 317，没有产生任何脏数据。这说明超时、固定错误码、事务前置校验和优雅停机这四道防线确实生效。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性能对比我们最重视口径公平：同一提交、同一数据量、同一台机器、同一套 k6 脚本，三个场景各跑三轮取中位数，单体跑 8080、微服务跑 8081 到 8086。右侧记录表如实保留为待实测状态，数值由 summary-export 的原始 JSON 回填，不虚报提升、也不预设谁快。底部是并发下单的双重一致性核对：脚本断言加 SQL 复核，保证高压下不超卖。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最后一页两部分：左边是过程管理和工程诚信，每日站会、PR 评审、207 次提交和两个阶段标签都可查，AI 辅助内容全部经过人工复核和测试验证，没做完的实测绝不冒充结论。右边是七分钟现场演示的六步路线，从流水线、集群状态到重点用例、HPA 扩容和故障恢复，每一步都有脚本可重复执行。一句话总结：单体基线和六服务云原生形态在同一代码库交付，所有结论有证据、可复现，边界不夸大。答辩汇报到此，请老师提问。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7.jpe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D1326">
                <a:alpha val="100000"/>
              </a:srgbClr>
            </a:gs>
            <a:gs pos="100000">
              <a:srgbClr val="142244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-57290" flipH="false" flipV="false">
            <a:off x="711253" y="12128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3" id="3"/>
          <p:cNvSpPr/>
          <p:nvPr/>
        </p:nvSpPr>
        <p:spPr>
          <a:xfrm rot="0" flipH="false" flipV="false">
            <a:off x="711200" y="685800"/>
            <a:ext cx="635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软件工程基础实践 · 2026 夏季学期 · 最终答辩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11200" y="1397000"/>
            <a:ext cx="58674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6666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TravelMate</a:t>
            </a:r>
            <a:endParaRPr lang="en-US" sz="1100"/>
          </a:p>
          <a:p>
            <a:pPr algn="l" marL="0" indent="0">
              <a:lnSpc>
                <a:spcPct val="106666"/>
              </a:lnSpc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从单体到六服务微服务</a:t>
            </a:r>
          </a:p>
          <a:p>
            <a:pPr algn="l" marL="0" indent="0">
              <a:lnSpc>
                <a:spcPct val="106666"/>
              </a:lnSpc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的云原生改造实践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11200" y="3581400"/>
            <a:ext cx="57404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单体复活与容器化 → Kubernetes 六服务部署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BFD7FF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自动扩缩容 · 故障隔离 · 同口径性能对比</a:t>
            </a:r>
          </a:p>
        </p:txBody>
      </p:sp>
      <p:cxnSp>
        <p:nvCxnSpPr>
          <p:cNvPr name="Connector 6" id="6"/>
          <p:cNvCxnSpPr/>
          <p:nvPr/>
        </p:nvCxnSpPr>
        <p:spPr>
          <a:xfrm rot="-7994" flipH="false" flipV="false">
            <a:off x="711207" y="4743450"/>
            <a:ext cx="546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711200" y="4927600"/>
            <a:ext cx="57404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DCE4F2"/>
                </a:solidFill>
                <a:latin typeface="Noto Sans SC"/>
                <a:ea typeface="Noto Sans SC"/>
                <a:cs typeface="Noto Sans SC"/>
                <a:sym typeface="Noto Sans SC"/>
              </a:rPr>
              <a:t>第 5 组 · Miracle 小组　|　全栈旅行服务平台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11200" y="5283200"/>
            <a:ext cx="57404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6A6C0"/>
                </a:solidFill>
                <a:latin typeface="Roboto Mono"/>
                <a:ea typeface="Roboto Mono"/>
                <a:cs typeface="Roboto Mono"/>
                <a:sym typeface="Roboto Mono"/>
              </a:rPr>
              <a:t>2026-09-04　final defense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68" r="68" t="0" b="0"/>
          <a:stretch>
            <a:fillRect/>
          </a:stretch>
        </p:blipFill>
        <p:spPr>
          <a:xfrm rot="0" flipH="false" flipV="false">
            <a:off x="6858000" y="1397000"/>
            <a:ext cx="4622800" cy="3086100"/>
          </a:xfrm>
          <a:prstGeom prst="rect">
            <a:avLst/>
          </a:prstGeom>
          <a:noFill/>
          <a:ln w="12700" cmpd="sng" cap="flat">
            <a:solidFill>
              <a:srgbClr val="FFFFFF">
                <a:alpha val="22000"/>
              </a:srgbClr>
            </a:solidFill>
            <a:prstDash val="solid"/>
            <a:round/>
          </a:ln>
        </p:spPr>
      </p:pic>
      <p:sp>
        <p:nvSpPr>
          <p:cNvPr name="AutoShape 10" id="10"/>
          <p:cNvSpPr/>
          <p:nvPr/>
        </p:nvSpPr>
        <p:spPr>
          <a:xfrm rot="0" flipH="false" flipV="false">
            <a:off x="6858000" y="4597400"/>
            <a:ext cx="46228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A6C0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系统总体架构：Vue 3 + Spring Boot 3.5 + Java 21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96A6C0"/>
                </a:solidFill>
                <a:latin typeface="Noto Sans SC"/>
                <a:ea typeface="Noto Sans SC"/>
                <a:cs typeface="Noto Sans SC"/>
                <a:sym typeface="Noto Sans SC"/>
              </a:rPr>
              <a:t>MySQL 8 + Redis 7 + Docker + Kubernetes（kind）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1200" y="3302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01 / OVERVIEW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769600" y="330200"/>
            <a:ext cx="711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6A6"/>
                </a:solidFill>
                <a:latin typeface="Roboto Mono"/>
                <a:ea typeface="Roboto Mono"/>
                <a:cs typeface="Roboto Mono"/>
                <a:sym typeface="Roboto Mono"/>
              </a:rPr>
              <a:t>02 / 17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11200" y="584200"/>
            <a:ext cx="107696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八项验收要求全部落地，每项证据均可在仓库复核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53" flipH="false" flipV="false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6" id="6"/>
          <p:cNvCxnSpPr/>
          <p:nvPr/>
        </p:nvCxnSpPr>
        <p:spPr>
          <a:xfrm rot="-4053" flipH="false" flipV="false">
            <a:off x="711204" y="13398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711200" y="1447800"/>
            <a:ext cx="1701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19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11200" y="1955800"/>
            <a:ext cx="17018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业务用例全部可运行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514600" y="1447800"/>
            <a:ext cx="1701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514600" y="1955800"/>
            <a:ext cx="17018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独立微服务独立部署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18000" y="1447800"/>
            <a:ext cx="1701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207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318000" y="1955800"/>
            <a:ext cx="17018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Git 提交、两个阶段标签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121400" y="1447800"/>
            <a:ext cx="1701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12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121400" y="1955800"/>
            <a:ext cx="17018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CI/CD 流水线任务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924800" y="1447800"/>
            <a:ext cx="1701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276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924800" y="1955800"/>
            <a:ext cx="17018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自动化测试全部通过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728200" y="1447800"/>
            <a:ext cx="1701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35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728200" y="1955800"/>
            <a:ext cx="17018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数据表一表一主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4053" flipH="false" flipV="false">
            <a:off x="711204" y="23304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name="Table 20" id="20"/>
          <p:cNvGraphicFramePr>
            <a:graphicFrameLocks noGrp="true"/>
          </p:cNvGraphicFramePr>
          <p:nvPr/>
        </p:nvGraphicFramePr>
        <p:xfrm>
          <a:off x="711200" y="2438400"/>
          <a:ext cx="10769600" cy="3937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651000"/>
                <a:gridCol w="5588000"/>
                <a:gridCol w="3530600"/>
              </a:tblGrid>
              <a:tr h="381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答辩验收点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完成情况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证据位置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任务完成情况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19/19 用例可运行，单体与微服务双形态交付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53617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01_requirements / microservices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CI/CD 过程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12 个 Job 门禁链，测试失败即阻断合并与部署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53617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.github/workflows/ci.yml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微服务拆分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6 个独立进程、独立库、独立部署的 Spring Boot 服务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53617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microservices/services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数据归属管理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35 张表一表一主、6 套独立 MySQL，跨库访问被账号拒绝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53617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k8s/mysql + 权限隔离测试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测试结果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单元 / 集成 / E2E 三层共 276 项全绿，需求可追溯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53617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04_tests / docs/ci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自动扩缩容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6 个 HPA：副本 2→6、CPU 阈值 60%，现场触发实测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53617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k8s/hpa.yaml / 04_tests/stress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故障处理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身份服务宕机真实实验：故障不级联、数据不变、自动恢复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53617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04_tests/fault/results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性能对比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同机同数据同脚本，3 场景 × 3 轮方案就绪、现场出数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53617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04_tests/stress/k6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1200" y="3302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02 / ROADMAP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769600" y="330200"/>
            <a:ext cx="711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6A6"/>
                </a:solidFill>
                <a:latin typeface="Roboto Mono"/>
                <a:ea typeface="Roboto Mono"/>
                <a:cs typeface="Roboto Mono"/>
                <a:sym typeface="Roboto Mono"/>
              </a:rPr>
              <a:t>03 / 17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11200" y="584200"/>
            <a:ext cx="107696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十天两阶段：先复活单体打牢基线，再物理拆分六服务上云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53" flipH="false" flipV="false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711200" y="1397000"/>
            <a:ext cx="5257800" cy="4318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1397000"/>
            <a:ext cx="49022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阶段一 · 单体复活与工程化（40 分，08-22 → 08-27）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11200" y="1828800"/>
            <a:ext cx="52578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14400" y="1955800"/>
            <a:ext cx="4902200" cy="167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39700" marL="139700">
              <a:lnSpc>
                <a:spcPct val="141666"/>
              </a:lnSpc>
              <a:buClr>
                <a:srgbClr val="2E343C"/>
              </a:buClr>
              <a:buChar char="•"/>
              <a:defRPr/>
            </a:pP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恢复上学期前后端单体，19 个用例本地可运行</a:t>
            </a:r>
            <a:endParaRPr lang="en-US" sz="1100"/>
          </a:p>
          <a:p>
            <a:pPr algn="l" indent="-139700" marL="139700">
              <a:lnSpc>
                <a:spcPct val="141666"/>
              </a:lnSpc>
              <a:buClr>
                <a:srgbClr val="2E343C"/>
              </a:buClr>
              <a:buChar char="•"/>
            </a:pP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补齐需求规格、设计说明、测试用例与追溯矩阵</a:t>
            </a:r>
          </a:p>
          <a:p>
            <a:pPr algn="l" indent="-139700" marL="139700">
              <a:lnSpc>
                <a:spcPct val="141666"/>
              </a:lnSpc>
              <a:buClr>
                <a:srgbClr val="2E343C"/>
              </a:buClr>
              <a:buChar char="•"/>
            </a:pP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前后端 Dockerfile 与 docker-compose 一键启动</a:t>
            </a:r>
          </a:p>
          <a:p>
            <a:pPr algn="l" indent="-139700" marL="139700">
              <a:lnSpc>
                <a:spcPct val="141666"/>
              </a:lnSpc>
              <a:buClr>
                <a:srgbClr val="2E343C"/>
              </a:buClr>
              <a:buChar char="•"/>
            </a:pP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GitHub Actions 流水线：测试门禁、自动构建</a:t>
            </a:r>
          </a:p>
          <a:p>
            <a:pPr algn="l" indent="-139700" marL="139700">
              <a:lnSpc>
                <a:spcPct val="141666"/>
              </a:lnSpc>
              <a:buClr>
                <a:srgbClr val="2E343C"/>
              </a:buClr>
              <a:buChar char="•"/>
            </a:pP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冻结回归基线，打标签 monolith-start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1397000"/>
            <a:ext cx="5257800" cy="431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00800" y="1397000"/>
            <a:ext cx="49022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阶段二 · 微服务与云原生（30 分，08-28 → 09-01）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23000" y="1828800"/>
            <a:ext cx="52578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426200" y="1955800"/>
            <a:ext cx="4902200" cy="167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39700" marL="139700">
              <a:lnSpc>
                <a:spcPct val="141666"/>
              </a:lnSpc>
              <a:buClr>
                <a:srgbClr val="2E343C"/>
              </a:buClr>
              <a:buChar char="•"/>
              <a:defRPr/>
            </a:pP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后端物理拆分为 6 个业务微服务（要求 ≥ 3）</a:t>
            </a:r>
            <a:endParaRPr lang="en-US" sz="1100"/>
          </a:p>
          <a:p>
            <a:pPr algn="l" indent="-139700" marL="139700">
              <a:lnSpc>
                <a:spcPct val="141666"/>
              </a:lnSpc>
              <a:buClr>
                <a:srgbClr val="2E343C"/>
              </a:buClr>
              <a:buChar char="•"/>
            </a:pP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6 套独立 MySQL 与 Redis，内部接口令牌鉴权</a:t>
            </a:r>
          </a:p>
          <a:p>
            <a:pPr algn="l" indent="-139700" marL="139700">
              <a:lnSpc>
                <a:spcPct val="141666"/>
              </a:lnSpc>
              <a:buClr>
                <a:srgbClr val="2E343C"/>
              </a:buClr>
              <a:buChar char="•"/>
            </a:pP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Kubernetes：Deployment、StatefulSet、Service</a:t>
            </a:r>
          </a:p>
          <a:p>
            <a:pPr algn="l" indent="-139700" marL="139700">
              <a:lnSpc>
                <a:spcPct val="141666"/>
              </a:lnSpc>
              <a:buClr>
                <a:srgbClr val="2E343C"/>
              </a:buClr>
              <a:buChar char="•"/>
            </a:pP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HPA 自动扩缩容、故障注入、k6 性能对比实验</a:t>
            </a:r>
          </a:p>
          <a:p>
            <a:pPr algn="l" indent="-139700" marL="139700">
              <a:lnSpc>
                <a:spcPct val="141666"/>
              </a:lnSpc>
              <a:buClr>
                <a:srgbClr val="2E343C"/>
              </a:buClr>
              <a:buChar char="•"/>
            </a:pP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17 项微服务 E2E 全绿，打标签 microservices-phase1</a:t>
            </a:r>
          </a:p>
        </p:txBody>
      </p:sp>
      <p:cxnSp>
        <p:nvCxnSpPr>
          <p:cNvPr name="Connector 14" id="14"/>
          <p:cNvCxnSpPr/>
          <p:nvPr/>
        </p:nvCxnSpPr>
        <p:spPr>
          <a:xfrm rot="-4430" flipH="false" flipV="false">
            <a:off x="1219204" y="4514850"/>
            <a:ext cx="9855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BFD7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1143000" y="4445000"/>
            <a:ext cx="152400" cy="1524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175000" y="4445000"/>
            <a:ext cx="152400" cy="1524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207000" y="4445000"/>
            <a:ext cx="152400" cy="152400"/>
          </a:xfrm>
          <a:prstGeom prst="ellipse">
            <a:avLst/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239000" y="4445000"/>
            <a:ext cx="152400" cy="1524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271000" y="4445000"/>
            <a:ext cx="152400" cy="1524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998200" y="4445000"/>
            <a:ext cx="152400" cy="152400"/>
          </a:xfrm>
          <a:prstGeom prst="ellipse">
            <a:avLst/>
          </a:prstGeom>
          <a:solidFill>
            <a:srgbClr val="C9302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381000" y="4038600"/>
            <a:ext cx="16764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08-22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381000" y="4699000"/>
            <a:ext cx="16764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0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项目启动</a:t>
            </a:r>
            <a:endParaRPr lang="en-US" sz="1100"/>
          </a:p>
          <a:p>
            <a:pPr algn="ctr" marL="0" indent="0">
              <a:lnSpc>
                <a:spcPct val="116666"/>
              </a:lnSpc>
            </a:pPr>
            <a:r>
              <a:rPr lang="en-US" b="false" i="false" strike="noStrike" u="none" sz="10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需求冻结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2413000" y="4038600"/>
            <a:ext cx="16764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08-25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2413000" y="4699000"/>
            <a:ext cx="16764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0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单体测试</a:t>
            </a:r>
            <a:endParaRPr lang="en-US" sz="1100"/>
          </a:p>
          <a:p>
            <a:pPr algn="ctr" marL="0" indent="0">
              <a:lnSpc>
                <a:spcPct val="116666"/>
              </a:lnSpc>
            </a:pPr>
            <a:r>
              <a:rPr lang="en-US" b="false" i="false" strike="noStrike" u="none" sz="10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全量转绿</a:t>
            </a:r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4445000" y="4038600"/>
            <a:ext cx="16764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08-27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4445000" y="4699000"/>
            <a:ext cx="16764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0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中期验收</a:t>
            </a:r>
            <a:endParaRPr lang="en-US" sz="1100"/>
          </a:p>
          <a:p>
            <a:pPr algn="ctr" marL="0" indent="0">
              <a:lnSpc>
                <a:spcPct val="116666"/>
              </a:lnSpc>
            </a:pPr>
            <a:r>
              <a:rPr lang="en-US" b="false" i="false" strike="noStrike" u="none" sz="10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基线冻结</a:t>
            </a:r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477000" y="4038600"/>
            <a:ext cx="16764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08-31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477000" y="4699000"/>
            <a:ext cx="16764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0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六服务上线</a:t>
            </a:r>
            <a:endParaRPr lang="en-US" sz="1100"/>
          </a:p>
          <a:p>
            <a:pPr algn="ctr" marL="0" indent="0">
              <a:lnSpc>
                <a:spcPct val="116666"/>
              </a:lnSpc>
            </a:pPr>
            <a:r>
              <a:rPr lang="en-US" b="false" i="false" strike="noStrike" u="none" sz="10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17 项 E2E 通过</a:t>
            </a:r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509000" y="4038600"/>
            <a:ext cx="16764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09-01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509000" y="4699000"/>
            <a:ext cx="16764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0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拆分边界</a:t>
            </a:r>
            <a:endParaRPr lang="en-US" sz="1100"/>
          </a:p>
          <a:p>
            <a:pPr algn="ctr" marL="0" indent="0">
              <a:lnSpc>
                <a:spcPct val="116666"/>
              </a:lnSpc>
            </a:pPr>
            <a:r>
              <a:rPr lang="en-US" b="false" i="false" strike="noStrike" u="none" sz="10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物理验证</a:t>
            </a:r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10236200" y="4038600"/>
            <a:ext cx="16764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C9302C"/>
                </a:solidFill>
                <a:latin typeface="Roboto Mono"/>
                <a:ea typeface="Roboto Mono"/>
                <a:cs typeface="Roboto Mono"/>
                <a:sym typeface="Roboto Mono"/>
              </a:rPr>
              <a:t>09-04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10236200" y="4699000"/>
            <a:ext cx="16764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10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最终答辩</a:t>
            </a:r>
            <a:endParaRPr lang="en-US" sz="1100"/>
          </a:p>
          <a:p>
            <a:pPr algn="ctr" marL="0" indent="0">
              <a:lnSpc>
                <a:spcPct val="116666"/>
              </a:lnSpc>
            </a:pPr>
            <a:r>
              <a:rPr lang="en-US" b="true" i="false" strike="noStrike" u="none" sz="10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现场演示</a:t>
            </a:r>
          </a:p>
        </p:txBody>
      </p:sp>
      <p:cxnSp>
        <p:nvCxnSpPr>
          <p:cNvPr name="Connector 33" id="33"/>
          <p:cNvCxnSpPr/>
          <p:nvPr/>
        </p:nvCxnSpPr>
        <p:spPr>
          <a:xfrm rot="-4053" flipH="false" flipV="false">
            <a:off x="711204" y="55308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4" id="34"/>
          <p:cNvSpPr/>
          <p:nvPr/>
        </p:nvSpPr>
        <p:spPr>
          <a:xfrm rot="0" flipH="false" flipV="false">
            <a:off x="711200" y="5689600"/>
            <a:ext cx="107696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交付物按 01 需求 / 02 设计 / 03 代码 / 04 测试 / 05 管理 / 06 交付 六个目录归档；每日站会、看板流转、PR 评审与 AI 使用记录全程留痕，综合过程分（20 分）对应可查。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1200" y="3302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03 / ARCHITECTURE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769600" y="330200"/>
            <a:ext cx="711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6A6"/>
                </a:solidFill>
                <a:latin typeface="Roboto Mono"/>
                <a:ea typeface="Roboto Mono"/>
                <a:cs typeface="Roboto Mono"/>
                <a:sym typeface="Roboto Mono"/>
              </a:rPr>
              <a:t>04 / 17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11200" y="584200"/>
            <a:ext cx="107696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总体架构：前后端分离四层结构，同一数据模型贯穿两个阶段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53" flipH="false" flipV="false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11200" y="1371600"/>
            <a:ext cx="6553200" cy="4368800"/>
          </a:xfrm>
          <a:prstGeom prst="rect">
            <a:avLst/>
          </a:prstGeom>
          <a:noFill/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711200" y="5791200"/>
            <a:ext cx="6553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8C96A6"/>
                </a:solidFill>
                <a:latin typeface="Noto Sans SC"/>
                <a:ea typeface="Noto Sans SC"/>
                <a:cs typeface="Noto Sans SC"/>
                <a:sym typeface="Noto Sans SC"/>
              </a:rPr>
              <a:t>图 1　TravelMate 系统总体架构（源自《详细设计说明》图 01）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569200" y="1371600"/>
            <a:ext cx="39116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技术选型与版本</a:t>
            </a:r>
            <a:endParaRPr lang="en-US" sz="1100"/>
          </a:p>
        </p:txBody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7569200" y="1727200"/>
          <a:ext cx="3911600" cy="22352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965200"/>
                <a:gridCol w="2946400"/>
              </a:tblGrid>
              <a:tr h="355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选型与版本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前端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Vue 3 / Vite / Element Plus / Pinia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后端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Spring Boot 3.5 / Java 21 / MyBatis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MySQL 8.0 / Redis 7（缓存与锁）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运行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Docker / Kubernetes（kind）/ GHCR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质量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JUnit 5 / Playwright / k6 / Trivy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cxnSp>
        <p:nvCxnSpPr>
          <p:cNvPr name="Connector 10" id="10"/>
          <p:cNvCxnSpPr/>
          <p:nvPr/>
        </p:nvCxnSpPr>
        <p:spPr>
          <a:xfrm rot="-11161" flipH="false" flipV="false">
            <a:off x="7569210" y="4184650"/>
            <a:ext cx="391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7569200" y="4343400"/>
            <a:ext cx="39116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架构特征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569200" y="4699000"/>
            <a:ext cx="39116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39700" marL="139700">
              <a:lnSpc>
                <a:spcPct val="145833"/>
              </a:lnSpc>
              <a:buClr>
                <a:srgbClr val="2E343C"/>
              </a:buClr>
              <a:buChar char="•"/>
              <a:defRPr/>
            </a:pP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表现、接口、业务、数据四层分离</a:t>
            </a:r>
            <a:endParaRPr lang="en-US" sz="1100"/>
          </a:p>
          <a:p>
            <a:pPr algn="l" indent="-139700" marL="139700">
              <a:lnSpc>
                <a:spcPct val="145833"/>
              </a:lnSpc>
              <a:buClr>
                <a:srgbClr val="2E343C"/>
              </a:buClr>
              <a:buChar char="•"/>
            </a:pP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单体与微服务双形态并存、同模型演进</a:t>
            </a:r>
          </a:p>
          <a:p>
            <a:pPr algn="l" indent="-139700" marL="139700">
              <a:lnSpc>
                <a:spcPct val="145833"/>
              </a:lnSpc>
              <a:buClr>
                <a:srgbClr val="2E343C"/>
              </a:buClr>
              <a:buChar char="•"/>
            </a:pP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配置外置，健康检查 /actuator/health</a:t>
            </a:r>
          </a:p>
          <a:p>
            <a:pPr algn="l" indent="-139700" marL="139700">
              <a:lnSpc>
                <a:spcPct val="145833"/>
              </a:lnSpc>
              <a:buClr>
                <a:srgbClr val="2E343C"/>
              </a:buClr>
              <a:buChar char="•"/>
            </a:pP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无真实支付与出票，外部能力均为可演示桩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1200" y="3302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04 / REQUIREMENTS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769600" y="330200"/>
            <a:ext cx="711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6A6"/>
                </a:solidFill>
                <a:latin typeface="Roboto Mono"/>
                <a:ea typeface="Roboto Mono"/>
                <a:cs typeface="Roboto Mono"/>
                <a:sym typeface="Roboto Mono"/>
              </a:rPr>
              <a:t>05 / 17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11200" y="584200"/>
            <a:ext cx="107696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19 个用例覆盖六大业务域，需求到测试七层双向可追溯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53" flipH="false" flipV="false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711200" y="1371600"/>
          <a:ext cx="6858000" cy="4419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19200"/>
                <a:gridCol w="5638800"/>
              </a:tblGrid>
              <a:tr h="381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业务域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用例（共 19，状态全部 covered）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</a:tr>
              <a:tr h="6731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16666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账号</a:t>
                      </a:r>
                      <a:endParaRPr lang="en-US" sz="1100"/>
                    </a:p>
                    <a:p>
                      <a:pPr algn="ctr" marL="0" indent="0">
                        <a:lnSpc>
                          <a:spcPct val="116666"/>
                        </a:lnSpc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与权限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25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UC01 注册登录　UC02 RBAC 角色权限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25000"/>
                        </a:lnSpc>
                      </a:pPr>
                      <a:r>
                        <a:rPr lang="en-US" b="false" i="false" strike="noStrike" u="none" sz="10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UC19 管理员后台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6731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16666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交通</a:t>
                      </a:r>
                      <a:endParaRPr lang="en-US" sz="1100"/>
                    </a:p>
                    <a:p>
                      <a:pPr algn="ctr" marL="0" indent="0">
                        <a:lnSpc>
                          <a:spcPct val="116666"/>
                        </a:lnSpc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出行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25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UC03 机票查询与预订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25000"/>
                        </a:lnSpc>
                      </a:pPr>
                      <a:r>
                        <a:rPr lang="en-US" b="false" i="false" strike="noStrike" u="none" sz="10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UC04 航班动态订阅与推送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</a:tr>
              <a:tr h="6731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16666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当地</a:t>
                      </a:r>
                      <a:endParaRPr lang="en-US" sz="1100"/>
                    </a:p>
                    <a:p>
                      <a:pPr algn="ctr" marL="0" indent="0">
                        <a:lnSpc>
                          <a:spcPct val="116666"/>
                        </a:lnSpc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服务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25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UC05 酒店预订　UC06 房型库存防超卖　UC07 景点查询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25000"/>
                        </a:lnSpc>
                      </a:pPr>
                      <a:r>
                        <a:rPr lang="en-US" b="false" i="false" strike="noStrike" u="none" sz="10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UC08 行程规划　UC09 AI 行程生成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6731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16666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旅行</a:t>
                      </a:r>
                      <a:endParaRPr lang="en-US" sz="1100"/>
                    </a:p>
                    <a:p>
                      <a:pPr algn="ctr" marL="0" indent="0">
                        <a:lnSpc>
                          <a:spcPct val="116666"/>
                        </a:lnSpc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社区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25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UC10 攻略发布　UC11 评论点赞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25000"/>
                        </a:lnSpc>
                      </a:pPr>
                      <a:r>
                        <a:rPr lang="en-US" b="false" i="false" strike="noStrike" u="none" sz="10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UC12 收藏分享　UC13 关注与私信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</a:tr>
              <a:tr h="6731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16666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订单</a:t>
                      </a:r>
                      <a:endParaRPr lang="en-US" sz="1100"/>
                    </a:p>
                    <a:p>
                      <a:pPr algn="ctr" marL="0" indent="0">
                        <a:lnSpc>
                          <a:spcPct val="116666"/>
                        </a:lnSpc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评价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25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UC14 订单创建—支付—退改全流程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25000"/>
                        </a:lnSpc>
                      </a:pPr>
                      <a:r>
                        <a:rPr lang="en-US" b="false" i="false" strike="noStrike" u="none" sz="10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UC15 订单评价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6731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16666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消息</a:t>
                      </a:r>
                      <a:endParaRPr lang="en-US" sz="1100"/>
                    </a:p>
                    <a:p>
                      <a:pPr algn="ctr" marL="0" indent="0">
                        <a:lnSpc>
                          <a:spcPct val="116666"/>
                        </a:lnSpc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运维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25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UC16 消息通知　UC17 系统监控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25000"/>
                        </a:lnSpc>
                      </a:pPr>
                      <a:r>
                        <a:rPr lang="en-US" b="false" i="false" strike="noStrike" u="none" sz="10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UC18 运营数据看板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7" id="7"/>
          <p:cNvSpPr/>
          <p:nvPr/>
        </p:nvSpPr>
        <p:spPr>
          <a:xfrm rot="0" flipH="false" flipV="false">
            <a:off x="7975600" y="1371600"/>
            <a:ext cx="35052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需求追溯链（双向）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975600" y="1778000"/>
            <a:ext cx="3505200" cy="3810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975600" y="1778000"/>
            <a:ext cx="3505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REQ 需求条目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5114181" flipH="false" flipV="false">
            <a:off x="9652000" y="2254514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7975600" y="2362200"/>
            <a:ext cx="3505200" cy="38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BFD7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975600" y="2362200"/>
            <a:ext cx="3505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UC 业务用例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5114181" flipH="false" flipV="false">
            <a:off x="9652000" y="2838714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7975600" y="2946400"/>
            <a:ext cx="3505200" cy="38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BFD7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975600" y="2946400"/>
            <a:ext cx="3505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SYS 子系统 / COMP 组件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5114181" flipH="false" flipV="false">
            <a:off x="9652000" y="3422914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7975600" y="3530600"/>
            <a:ext cx="3505200" cy="38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BFD7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975600" y="3530600"/>
            <a:ext cx="3505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OBJ 数据对象（35 张表）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5114181" flipH="false" flipV="false">
            <a:off x="9652000" y="4007114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7975600" y="4114800"/>
            <a:ext cx="3505200" cy="38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BFD7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975600" y="4114800"/>
            <a:ext cx="3505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代码类 / 接口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5114181" flipH="false" flipV="false">
            <a:off x="9652000" y="4591314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7975600" y="4699000"/>
            <a:ext cx="3505200" cy="381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975600" y="4699000"/>
            <a:ext cx="3505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单元 / 接口 / E2E 测试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975600" y="5207000"/>
            <a:ext cx="3505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9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矩阵文件：traceability-matrix、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9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use-case-test-matrix、microservice-use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9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-case-matrix，任意需求可反查到测试。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1200" y="3302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05 / DECOMPOSITION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769600" y="330200"/>
            <a:ext cx="711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6A6"/>
                </a:solidFill>
                <a:latin typeface="Roboto Mono"/>
                <a:ea typeface="Roboto Mono"/>
                <a:cs typeface="Roboto Mono"/>
                <a:sym typeface="Roboto Mono"/>
              </a:rPr>
              <a:t>06 / 17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11200" y="584200"/>
            <a:ext cx="107696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按业务能力拆成六个独立服务，单体仓库保持不动作为对照基线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53" flipH="false" flipV="false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11200" y="1295400"/>
            <a:ext cx="7620000" cy="5080000"/>
          </a:xfrm>
          <a:prstGeom prst="rect">
            <a:avLst/>
          </a:prstGeom>
          <a:noFill/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711200" y="6426200"/>
            <a:ext cx="762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8C96A6"/>
                </a:solidFill>
                <a:latin typeface="Noto Sans SC"/>
                <a:ea typeface="Noto Sans SC"/>
                <a:cs typeface="Noto Sans SC"/>
                <a:sym typeface="Noto Sans SC"/>
              </a:rPr>
              <a:t>图 2　TravelMate 目标服务划分（源自《详细设计说明》图 26）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636000" y="1320800"/>
            <a:ext cx="28448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四条拆分依据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15346" flipH="false" flipV="false">
            <a:off x="8636014" y="1670050"/>
            <a:ext cx="284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8636000" y="1803400"/>
            <a:ext cx="2844800" cy="279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1　业务能力边界</a:t>
            </a: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按业务域拆，不按技术分层拆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2　数据所有权</a:t>
            </a: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每服务独占自己的表与库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3　独立部署</a:t>
            </a: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独立进程、镜像与副本伸缩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4　显式协作</a:t>
            </a: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内部 HTTP 接口加消息表</a:t>
            </a:r>
          </a:p>
        </p:txBody>
      </p:sp>
      <p:cxnSp>
        <p:nvCxnSpPr>
          <p:cNvPr name="Connector 11" id="11"/>
          <p:cNvCxnSpPr/>
          <p:nvPr/>
        </p:nvCxnSpPr>
        <p:spPr>
          <a:xfrm rot="-15346" flipH="false" flipV="false">
            <a:off x="8636014" y="4819650"/>
            <a:ext cx="284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8636000" y="4978400"/>
            <a:ext cx="28448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0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单体 backend/ 全程不改，作为性能对比的对照组；六个服务位于 microservices/services，共享平台库 travelmate-platform，端口 8081–8086。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1200" y="3302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05 / DECOMPOSITION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769600" y="330200"/>
            <a:ext cx="711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6A6"/>
                </a:solidFill>
                <a:latin typeface="Roboto Mono"/>
                <a:ea typeface="Roboto Mono"/>
                <a:cs typeface="Roboto Mono"/>
                <a:sym typeface="Roboto Mono"/>
              </a:rPr>
              <a:t>07 / 17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11200" y="584200"/>
            <a:ext cx="107696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六个服务的职责、端口、表归属与协作关系全部冻结成文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53" flipH="false" flipV="false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711200" y="1346200"/>
          <a:ext cx="10769600" cy="4419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803400"/>
                <a:gridCol w="736600"/>
                <a:gridCol w="584200"/>
                <a:gridCol w="3911600"/>
                <a:gridCol w="3733800"/>
              </a:tblGrid>
              <a:tr h="381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服务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端口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职责边界（独占数据）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跨服务协作（仅走内部接口）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</a:tr>
              <a:tr h="6731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900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identity</a:t>
                      </a:r>
                      <a:endParaRPr lang="en-US" sz="1100"/>
                    </a:p>
                    <a:p>
                      <a:pPr algn="ctr" marL="0" indent="0">
                        <a:lnSpc>
                          <a:spcPct val="100000"/>
                        </a:lnSpc>
                      </a:pPr>
                      <a:r>
                        <a:rPr lang="en-US" b="true" i="false" strike="noStrike" u="none" sz="900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service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8081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注册登录、RBAC 权限、常用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16666"/>
                        </a:lnSpc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旅客、关注关系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向交通、社区提供旅客归属与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16666"/>
                        </a:lnSpc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用户快照内部接口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6731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900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traffic</a:t>
                      </a:r>
                      <a:endParaRPr lang="en-US" sz="1100"/>
                    </a:p>
                    <a:p>
                      <a:pPr algn="ctr" marL="0" indent="0">
                        <a:lnSpc>
                          <a:spcPct val="100000"/>
                        </a:lnSpc>
                      </a:pPr>
                      <a:r>
                        <a:rPr lang="en-US" b="true" i="false" strike="noStrike" u="none" sz="900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service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8082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航班、火车、候补、交通订单、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16666"/>
                        </a:lnSpc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价格历史、交通 Outbox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调身份校验旅客；调本地核销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16666"/>
                        </a:lnSpc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优惠券，失败即回滚订单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</a:tr>
              <a:tr h="6731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900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local</a:t>
                      </a:r>
                      <a:endParaRPr lang="en-US" sz="1100"/>
                    </a:p>
                    <a:p>
                      <a:pPr algn="ctr" marL="0" indent="0">
                        <a:lnSpc>
                          <a:spcPct val="100000"/>
                        </a:lnSpc>
                      </a:pPr>
                      <a:r>
                        <a:rPr lang="en-US" b="true" i="false" strike="noStrike" u="none" sz="900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service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8083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酒店、景点、目的地、评价、举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16666"/>
                        </a:lnSpc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报、优惠券、本地游、Outbox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提供优惠券核销内部接口；酒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16666"/>
                        </a:lnSpc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店库存防超卖在本服务闭环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6731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900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ai</a:t>
                      </a:r>
                      <a:endParaRPr lang="en-US" sz="1100"/>
                    </a:p>
                    <a:p>
                      <a:pPr algn="ctr" marL="0" indent="0">
                        <a:lnSpc>
                          <a:spcPct val="100000"/>
                        </a:lnSpc>
                      </a:pPr>
                      <a:r>
                        <a:rPr lang="en-US" b="true" i="false" strike="noStrike" u="none" sz="900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service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8084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AI 行程、AI 对话、通知、私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16666"/>
                        </a:lnSpc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信、事件消费去重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以 Idempotency-Key 幂等消费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16666"/>
                        </a:lnSpc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交通、本地的通知事件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</a:tr>
              <a:tr h="6731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900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community</a:t>
                      </a:r>
                      <a:endParaRPr lang="en-US" sz="1100"/>
                    </a:p>
                    <a:p>
                      <a:pPr algn="ctr" marL="0" indent="0">
                        <a:lnSpc>
                          <a:spcPct val="100000"/>
                        </a:lnSpc>
                      </a:pPr>
                      <a:r>
                        <a:rPr lang="en-US" b="true" i="false" strike="noStrike" u="none" sz="900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service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8085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帖子、评论、点赞与收藏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16666"/>
                        </a:lnSpc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（攻略社区闭环）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调身份取用户快照；调运维做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16666"/>
                        </a:lnSpc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敏感内容检查，不绕过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6731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900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ops</a:t>
                      </a:r>
                      <a:endParaRPr lang="en-US" sz="1100"/>
                    </a:p>
                    <a:p>
                      <a:pPr algn="ctr" marL="0" indent="0">
                        <a:lnSpc>
                          <a:spcPct val="100000"/>
                        </a:lnSpc>
                      </a:pPr>
                      <a:r>
                        <a:rPr lang="en-US" b="true" i="false" strike="noStrike" u="none" sz="900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service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8086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敏感词、操作日志，后台聚合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16666"/>
                        </a:lnSpc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管理入口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经 /internal/admin 下发命令，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16666"/>
                        </a:lnSpc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不直接访问业务数据库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7" id="7"/>
          <p:cNvSpPr/>
          <p:nvPr/>
        </p:nvSpPr>
        <p:spPr>
          <a:xfrm rot="0" flipH="false" flipV="false">
            <a:off x="711200" y="5918200"/>
            <a:ext cx="107696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34/35 张表唯一归属（tm_media_asset 暂留单体文件域，已在迁移文档显式说明）；结构门禁 check:microservice-boundaries 自动校验跨服务 Mapper、表引用与六套库配置。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1200" y="3302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06 / DATA OWNERSHIP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769600" y="330200"/>
            <a:ext cx="711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6A6"/>
                </a:solidFill>
                <a:latin typeface="Roboto Mono"/>
                <a:ea typeface="Roboto Mono"/>
                <a:cs typeface="Roboto Mono"/>
                <a:sym typeface="Roboto Mono"/>
              </a:rPr>
              <a:t>08 / 17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11200" y="584200"/>
            <a:ext cx="107696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数据归谁管理：一表一主、一服务一库一账号，跨库访问被实测拒绝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53" flipH="false" flipV="false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711200" y="1346200"/>
            <a:ext cx="53848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三条数据所有权硬规则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8107" flipH="false" flipV="false">
            <a:off x="711207" y="1695450"/>
            <a:ext cx="538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711200" y="1854200"/>
            <a:ext cx="38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17600" y="1828800"/>
            <a:ext cx="49784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一表一主：</a:t>
            </a: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34 张表每张只有一个服务可写；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禁止跨服务 JOIN、禁止共享数据库与共享表。</a:t>
            </a:r>
          </a:p>
        </p:txBody>
      </p:sp>
      <p:cxnSp>
        <p:nvCxnSpPr>
          <p:cNvPr name="Connector 10" id="10"/>
          <p:cNvCxnSpPr/>
          <p:nvPr/>
        </p:nvCxnSpPr>
        <p:spPr>
          <a:xfrm rot="-8107" flipH="false" flipV="false">
            <a:off x="711207" y="2787650"/>
            <a:ext cx="538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711200" y="2946400"/>
            <a:ext cx="38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117600" y="2921000"/>
            <a:ext cx="49784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一服务一库一账号：</a:t>
            </a: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6 个 travelmate_* 独立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Schema；先 REVOKE ALL，再仅授予本库增删改查。</a:t>
            </a:r>
          </a:p>
        </p:txBody>
      </p:sp>
      <p:cxnSp>
        <p:nvCxnSpPr>
          <p:cNvPr name="Connector 13" id="13"/>
          <p:cNvCxnSpPr/>
          <p:nvPr/>
        </p:nvCxnSpPr>
        <p:spPr>
          <a:xfrm rot="-8107" flipH="false" flipV="false">
            <a:off x="711207" y="3879850"/>
            <a:ext cx="538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711200" y="4038600"/>
            <a:ext cx="38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117600" y="4013200"/>
            <a:ext cx="49784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跨服务取数只走接口：</a:t>
            </a: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/internal/** 配合内部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令牌；状态变更走 Outbox 与幂等键，不直连他库。</a:t>
            </a:r>
          </a:p>
        </p:txBody>
      </p:sp>
      <p:cxnSp>
        <p:nvCxnSpPr>
          <p:cNvPr name="Connector 16" id="16"/>
          <p:cNvCxnSpPr/>
          <p:nvPr/>
        </p:nvCxnSpPr>
        <p:spPr>
          <a:xfrm rot="-8107" flipH="false" flipV="false">
            <a:off x="711207" y="4972050"/>
            <a:ext cx="538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711200" y="5130800"/>
            <a:ext cx="5384800" cy="1092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0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部署形态：</a:t>
            </a:r>
            <a:r>
              <a:rPr lang="en-US" b="false" i="false" strike="noStrike" u="none" sz="10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Kubernetes 中 6 个 MySQL StatefulSet，各自挂载独立 5Gi PVC；本地 Compose 六库端口 3307–3312；Redis 单实例按服务 key 前缀隔离。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502400" y="1346200"/>
            <a:ext cx="49784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隔离实证：跨库查询全部被 MySQL 拒绝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8769" flipH="false" flipV="false">
            <a:off x="6502408" y="1695450"/>
            <a:ext cx="4978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name="Table 20" id="20"/>
          <p:cNvGraphicFramePr>
            <a:graphicFrameLocks noGrp="true"/>
          </p:cNvGraphicFramePr>
          <p:nvPr/>
        </p:nvGraphicFramePr>
        <p:xfrm>
          <a:off x="6502400" y="1854200"/>
          <a:ext cx="4978400" cy="28702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06600"/>
                <a:gridCol w="2159000"/>
                <a:gridCol w="812800"/>
              </a:tblGrid>
              <a:tr h="381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9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应用账号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9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尝试访问他库表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9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结果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</a:tr>
              <a:tr h="6223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8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identity_app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8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traffic.tm_flight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C9302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1142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6223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8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traffic_app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8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local.tm_hotel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C9302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1142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</a:tr>
              <a:tr h="6223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8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local_app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8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ai.tm_notification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C9302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1142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6223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8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ai_app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8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identity.tm_user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C9302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1142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21" id="21"/>
          <p:cNvSpPr/>
          <p:nvPr/>
        </p:nvSpPr>
        <p:spPr>
          <a:xfrm rot="0" flipH="false" flipV="false">
            <a:off x="6502400" y="4978400"/>
            <a:ext cx="4978400" cy="10922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680200" y="5105400"/>
            <a:ext cx="46736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900">
                <a:solidFill>
                  <a:srgbClr val="BFD7FF"/>
                </a:solidFill>
                <a:latin typeface="Roboto Mono"/>
                <a:ea typeface="Roboto Mono"/>
                <a:cs typeface="Roboto Mono"/>
                <a:sym typeface="Roboto Mono"/>
              </a:rPr>
              <a:t>REVOKE ALL PRIVILEGES, GRANT OPTION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900">
                <a:solidFill>
                  <a:srgbClr val="BFD7FF"/>
                </a:solidFill>
                <a:latin typeface="Roboto Mono"/>
                <a:ea typeface="Roboto Mono"/>
                <a:cs typeface="Roboto Mono"/>
                <a:sym typeface="Roboto Mono"/>
              </a:rPr>
              <a:t>　FROM 'travelmate_traffic_app'@'%';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900">
                <a:solidFill>
                  <a:srgbClr val="BFD7FF"/>
                </a:solidFill>
                <a:latin typeface="Roboto Mono"/>
                <a:ea typeface="Roboto Mono"/>
                <a:cs typeface="Roboto Mono"/>
                <a:sym typeface="Roboto Mono"/>
              </a:rPr>
              <a:t>GRANT SELECT,INSERT,UPDATE,DELETE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900">
                <a:solidFill>
                  <a:srgbClr val="BFD7FF"/>
                </a:solidFill>
                <a:latin typeface="Roboto Mono"/>
                <a:ea typeface="Roboto Mono"/>
                <a:cs typeface="Roboto Mono"/>
                <a:sym typeface="Roboto Mono"/>
              </a:rPr>
              <a:t>　ON travelmate_traffic.* TO 'traffic_app';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502400" y="6146800"/>
            <a:ext cx="49784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800">
                <a:solidFill>
                  <a:srgbClr val="8C96A6"/>
                </a:solidFill>
                <a:latin typeface="Roboto Mono"/>
                <a:ea typeface="Roboto Mono"/>
                <a:cs typeface="Roboto Mono"/>
                <a:sym typeface="Roboto Mono"/>
              </a:rPr>
              <a:t>deploy/k8s/microservice-database-bootstrap.yaml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1200" y="3302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07 / INTEGRATION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769600" y="330200"/>
            <a:ext cx="711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6A6"/>
                </a:solidFill>
                <a:latin typeface="Roboto Mono"/>
                <a:ea typeface="Roboto Mono"/>
                <a:cs typeface="Roboto Mono"/>
                <a:sym typeface="Roboto Mono"/>
              </a:rPr>
              <a:t>09 / 17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11200" y="584200"/>
            <a:ext cx="107696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跨服务协作：内部接口令牌鉴权，失败先回滚事务再补偿重试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53" flipH="false" flipV="false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11200" y="1320800"/>
            <a:ext cx="6858000" cy="4572000"/>
          </a:xfrm>
          <a:prstGeom prst="rect">
            <a:avLst/>
          </a:prstGeom>
          <a:noFill/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711200" y="5943600"/>
            <a:ext cx="6858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8C96A6"/>
                </a:solidFill>
                <a:latin typeface="Noto Sans SC"/>
                <a:ea typeface="Noto Sans SC"/>
                <a:cs typeface="Noto Sans SC"/>
                <a:sym typeface="Noto Sans SC"/>
              </a:rPr>
              <a:t>图 3　跨服务调用与失败补偿（源自《详细设计说明》图 27）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874000" y="1320800"/>
            <a:ext cx="36068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内部接口契约（已冻结）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12104" flipH="false" flipV="false">
            <a:off x="7874011" y="1670050"/>
            <a:ext cx="3606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7874000" y="1803400"/>
            <a:ext cx="3606800" cy="419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鉴权</a:t>
            </a: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　X-Internal-Token 共享密钥；/internal/** 不走浏览器 CSRF，但必过服务令牌校验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超时</a:t>
            </a: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　连接 1s、读取 2s，四个超时均可由环境变量调整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降级</a:t>
            </a: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　连接失败、超时、依赖 5xx 统一转 503 固定错误码；业务 4xx 原样透传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幂等</a:t>
            </a: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　Idempotency-Key=eventId；Outbox 指数退避、卡住认领恢复、超限进死信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事务保护</a:t>
            </a: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　身份校验失败不进入库存扣减；优惠券核销失败则订单事务整体回滚、不写订单</a:t>
            </a:r>
          </a:p>
        </p:txBody>
      </p:sp>
      <p:cxnSp>
        <p:nvCxnSpPr>
          <p:cNvPr name="Connector 11" id="11"/>
          <p:cNvCxnSpPr/>
          <p:nvPr/>
        </p:nvCxnSpPr>
        <p:spPr>
          <a:xfrm rot="-12104" flipH="false" flipV="false">
            <a:off x="7874011" y="6064250"/>
            <a:ext cx="3606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7874000" y="6172200"/>
            <a:ext cx="36068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536174"/>
                </a:solidFill>
                <a:latin typeface="Roboto Mono"/>
                <a:ea typeface="Roboto Mono"/>
                <a:cs typeface="Roboto Mono"/>
                <a:sym typeface="Roboto Mono"/>
              </a:rPr>
              <a:t>契约模块：travelmate-contract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1200" y="3302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08 / CI/CD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769600" y="330200"/>
            <a:ext cx="711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6A6"/>
                </a:solidFill>
                <a:latin typeface="Roboto Mono"/>
                <a:ea typeface="Roboto Mono"/>
                <a:cs typeface="Roboto Mono"/>
                <a:sym typeface="Roboto Mono"/>
              </a:rPr>
              <a:t>10 / 17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11200" y="584200"/>
            <a:ext cx="107696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CI/CD：一次 push 串起四道质量闸，失败即阻断、不进入下一环节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53" flipH="false" flipV="false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11200" y="1320800"/>
            <a:ext cx="7086600" cy="4724400"/>
          </a:xfrm>
          <a:prstGeom prst="rect">
            <a:avLst/>
          </a:prstGeom>
          <a:noFill/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711200" y="6096000"/>
            <a:ext cx="70866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8C96A6"/>
                </a:solidFill>
                <a:latin typeface="Noto Sans SC"/>
                <a:ea typeface="Noto Sans SC"/>
                <a:cs typeface="Noto Sans SC"/>
                <a:sym typeface="Noto Sans SC"/>
              </a:rPr>
              <a:t>图 4　容器化与 CI/CD 流水线拓扑（源自《详细设计说明》图 28）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077200" y="1320800"/>
            <a:ext cx="34036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12 个 Job · 四道闸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12827" flipH="false" flipV="false">
            <a:off x="8077212" y="1670050"/>
            <a:ext cx="340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8077200" y="1803400"/>
            <a:ext cx="3403600" cy="939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tru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闸 1　变更识别</a:t>
            </a: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changes 按路径决定要跑哪些任务，</a:t>
            </a:r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避免无效构建。</a:t>
            </a:r>
          </a:p>
        </p:txBody>
      </p:sp>
      <p:cxnSp>
        <p:nvCxnSpPr>
          <p:cNvPr name="Connector 11" id="11"/>
          <p:cNvCxnSpPr/>
          <p:nvPr/>
        </p:nvCxnSpPr>
        <p:spPr>
          <a:xfrm rot="-12827" flipH="false" flipV="false">
            <a:off x="8077212" y="2787650"/>
            <a:ext cx="340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8077200" y="2895600"/>
            <a:ext cx="3403600" cy="1092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tru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闸 2　质量门 ci-gate</a:t>
            </a: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后端 / 微服务 / 前端测试 + 真实</a:t>
            </a:r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 E2E，任一失败则不可合并。</a:t>
            </a:r>
          </a:p>
        </p:txBody>
      </p:sp>
      <p:cxnSp>
        <p:nvCxnSpPr>
          <p:cNvPr name="Connector 13" id="13"/>
          <p:cNvCxnSpPr/>
          <p:nvPr/>
        </p:nvCxnSpPr>
        <p:spPr>
          <a:xfrm rot="-12827" flipH="false" flipV="false">
            <a:off x="8077212" y="4032250"/>
            <a:ext cx="340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8077200" y="4140200"/>
            <a:ext cx="3403600" cy="1092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tru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闸 3　发布门 release-gate</a:t>
            </a: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Trivy 扫描镜像并推送 GHCR，生成</a:t>
            </a:r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发布证据与制品清单。</a:t>
            </a:r>
          </a:p>
        </p:txBody>
      </p:sp>
      <p:cxnSp>
        <p:nvCxnSpPr>
          <p:cNvPr name="Connector 15" id="15"/>
          <p:cNvCxnSpPr/>
          <p:nvPr/>
        </p:nvCxnSpPr>
        <p:spPr>
          <a:xfrm rot="-12827" flipH="false" flipV="false">
            <a:off x="8077212" y="5276850"/>
            <a:ext cx="340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8077200" y="5384800"/>
            <a:ext cx="34036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tru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闸 4　交付门 delivery-gate</a:t>
            </a: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部署 Kubernetes、跑健康检查，全绿</a:t>
            </a:r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才标记本次交付完成。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1200" y="3302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08 / CI/CD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769600" y="330200"/>
            <a:ext cx="711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6A6"/>
                </a:solidFill>
                <a:latin typeface="Roboto Mono"/>
                <a:ea typeface="Roboto Mono"/>
                <a:cs typeface="Roboto Mono"/>
                <a:sym typeface="Roboto Mono"/>
              </a:rPr>
              <a:t>11 / 17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11200" y="584200"/>
            <a:ext cx="107696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流水线实证：Run #217 十二任务全绿，测试报告与制品同步留档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53" flipH="false" flipV="false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55" b="55"/>
          <a:stretch>
            <a:fillRect/>
          </a:stretch>
        </p:blipFill>
        <p:spPr>
          <a:xfrm rot="0" flipH="false" flipV="false">
            <a:off x="711200" y="1346200"/>
            <a:ext cx="7061200" cy="3822700"/>
          </a:xfrm>
          <a:prstGeom prst="rect">
            <a:avLst/>
          </a:prstGeom>
          <a:noFill/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711200" y="5232400"/>
            <a:ext cx="7061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8C96A6"/>
                </a:solidFill>
                <a:latin typeface="Noto Sans SC"/>
                <a:ea typeface="Noto Sans SC"/>
                <a:cs typeface="Noto Sans SC"/>
                <a:sym typeface="Noto Sans SC"/>
              </a:rPr>
              <a:t>截图：GitHub Actions Run #217（对应合并提交 PR #216），原始证据存于 05_management/CI-CD验收截图/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077200" y="1346200"/>
            <a:ext cx="34036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这一次运行说明了什么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12827" flipH="false" flipV="false">
            <a:off x="8077212" y="1695450"/>
            <a:ext cx="340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8077200" y="1854200"/>
            <a:ext cx="3403600" cy="266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27000" marL="127000">
              <a:lnSpc>
                <a:spcPct val="145833"/>
              </a:lnSpc>
              <a:buClr>
                <a:srgbClr val="2E343C"/>
              </a:buClr>
              <a:buChar char="•"/>
              <a:defRPr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状态 Success，总耗时 11 分 44 秒</a:t>
            </a:r>
            <a:endParaRPr lang="en-US" sz="1100"/>
          </a:p>
          <a:p>
            <a:pPr algn="l" indent="-127000" marL="127000">
              <a:lnSpc>
                <a:spcPct val="145833"/>
              </a:lnSpc>
              <a:buClr>
                <a:srgbClr val="2E343C"/>
              </a:buClr>
              <a:buChar char="•"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12 个 Job 全部通过，无跳过项</a:t>
            </a:r>
          </a:p>
          <a:p>
            <a:pPr algn="l" indent="-127000" marL="127000">
              <a:lnSpc>
                <a:spcPct val="145833"/>
              </a:lnSpc>
              <a:buClr>
                <a:srgbClr val="2E343C"/>
              </a:buClr>
              <a:buChar char="•"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10 个 Artifacts：测试报告、构建与部署证据自动归档</a:t>
            </a:r>
          </a:p>
          <a:p>
            <a:pPr algn="l" indent="-127000" marL="127000">
              <a:lnSpc>
                <a:spcPct val="145833"/>
              </a:lnSpc>
              <a:buClr>
                <a:srgbClr val="2E343C"/>
              </a:buClr>
              <a:buChar char="•"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真实数据库 E2E 在流水线容器内执行，非 Mock</a:t>
            </a:r>
          </a:p>
          <a:p>
            <a:pPr algn="l" indent="-127000" marL="127000">
              <a:lnSpc>
                <a:spcPct val="145833"/>
              </a:lnSpc>
              <a:buClr>
                <a:srgbClr val="2E343C"/>
              </a:buClr>
              <a:buChar char="•"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Trivy 镜像漏洞扫描通过后才允许推送 GHCR</a:t>
            </a:r>
          </a:p>
          <a:p>
            <a:pPr algn="l" indent="-127000" marL="127000">
              <a:lnSpc>
                <a:spcPct val="145833"/>
              </a:lnSpc>
              <a:buClr>
                <a:srgbClr val="2E343C"/>
              </a:buClr>
              <a:buChar char="•"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每个 Job 绑定具体 commit，结果可回放复核</a:t>
            </a:r>
          </a:p>
        </p:txBody>
      </p:sp>
      <p:cxnSp>
        <p:nvCxnSpPr>
          <p:cNvPr name="Connector 11" id="11"/>
          <p:cNvCxnSpPr/>
          <p:nvPr/>
        </p:nvCxnSpPr>
        <p:spPr>
          <a:xfrm rot="-12827" flipH="false" flipV="false">
            <a:off x="8077212" y="4667250"/>
            <a:ext cx="340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rcRect l="0" r="0" t="272" b="272"/>
          <a:stretch>
            <a:fillRect/>
          </a:stretch>
        </p:blipFill>
        <p:spPr>
          <a:xfrm rot="0" flipH="false" flipV="false">
            <a:off x="8077200" y="4826000"/>
            <a:ext cx="3403600" cy="749300"/>
          </a:xfrm>
          <a:prstGeom prst="rect">
            <a:avLst/>
          </a:prstGeom>
          <a:noFill/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</a:ln>
        </p:spPr>
      </p:pic>
      <p:sp>
        <p:nvSpPr>
          <p:cNvPr name="AutoShape 13" id="13"/>
          <p:cNvSpPr/>
          <p:nvPr/>
        </p:nvSpPr>
        <p:spPr>
          <a:xfrm rot="0" flipH="false" flipV="false">
            <a:off x="8077200" y="5638800"/>
            <a:ext cx="34036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PR #216 合并记录：评审通过且 CI 全绿后才允许 Merge，门禁对失败提交真实拦截。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1200" y="3302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09 / KUBERNETES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769600" y="330200"/>
            <a:ext cx="711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6A6"/>
                </a:solidFill>
                <a:latin typeface="Roboto Mono"/>
                <a:ea typeface="Roboto Mono"/>
                <a:cs typeface="Roboto Mono"/>
                <a:sym typeface="Roboto Mono"/>
              </a:rPr>
              <a:t>12 / 17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11200" y="584200"/>
            <a:ext cx="107696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Kubernetes 实证：六服务部署、探针、PVC 与 Pod 状态全部就绪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53" flipH="false" flipV="false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23" r="23" t="0" b="0"/>
          <a:stretch>
            <a:fillRect/>
          </a:stretch>
        </p:blipFill>
        <p:spPr>
          <a:xfrm rot="0" flipH="false" flipV="false">
            <a:off x="711200" y="1346200"/>
            <a:ext cx="5588000" cy="2857500"/>
          </a:xfrm>
          <a:prstGeom prst="rect">
            <a:avLst/>
          </a:prstGeom>
          <a:noFill/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711200" y="4203700"/>
            <a:ext cx="5588000" cy="19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8C96A6"/>
                </a:solidFill>
                <a:latin typeface="Noto Sans SC"/>
                <a:ea typeface="Noto Sans SC"/>
                <a:cs typeface="Noto Sans SC"/>
                <a:sym typeface="Noto Sans SC"/>
              </a:rPr>
              <a:t>流水线内部署日志与部署后健康检查（截图 03）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553200" y="1346200"/>
            <a:ext cx="49276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集群工作负载清单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8860" flipH="false" flipV="false">
            <a:off x="6553208" y="1695450"/>
            <a:ext cx="492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6553200" y="1854200"/>
            <a:ext cx="4927600" cy="241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27000" marL="127000">
              <a:lnSpc>
                <a:spcPct val="145833"/>
              </a:lnSpc>
              <a:buClr>
                <a:srgbClr val="2E343C"/>
              </a:buClr>
              <a:buChar char="•"/>
              <a:defRPr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6 个业务 Deployment，启动 / 就绪 / 存活三类探针齐全</a:t>
            </a:r>
            <a:endParaRPr lang="en-US" sz="1100"/>
          </a:p>
          <a:p>
            <a:pPr algn="l" indent="-127000" marL="127000">
              <a:lnSpc>
                <a:spcPct val="145833"/>
              </a:lnSpc>
              <a:buClr>
                <a:srgbClr val="2E343C"/>
              </a:buClr>
              <a:buChar char="•"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每个容器声明 CPU 与内存 requests、limits</a:t>
            </a:r>
          </a:p>
          <a:p>
            <a:pPr algn="l" indent="-127000" marL="127000">
              <a:lnSpc>
                <a:spcPct val="145833"/>
              </a:lnSpc>
              <a:buClr>
                <a:srgbClr val="2E343C"/>
              </a:buClr>
              <a:buChar char="•"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6 个 MySQL StatefulSet，各自独立 5Gi PVC</a:t>
            </a:r>
          </a:p>
          <a:p>
            <a:pPr algn="l" indent="-127000" marL="127000">
              <a:lnSpc>
                <a:spcPct val="145833"/>
              </a:lnSpc>
              <a:buClr>
                <a:srgbClr val="2E343C"/>
              </a:buClr>
              <a:buChar char="•"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1 个 Redis StatefulSet，1Gi PVC</a:t>
            </a:r>
          </a:p>
          <a:p>
            <a:pPr algn="l" indent="-127000" marL="127000">
              <a:lnSpc>
                <a:spcPct val="145833"/>
              </a:lnSpc>
              <a:buClr>
                <a:srgbClr val="2E343C"/>
              </a:buClr>
              <a:buChar char="•"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6 个 Service 提供集群内服务发现</a:t>
            </a:r>
          </a:p>
          <a:p>
            <a:pPr algn="l" indent="-127000" marL="127000">
              <a:lnSpc>
                <a:spcPct val="145833"/>
              </a:lnSpc>
              <a:buClr>
                <a:srgbClr val="2E343C"/>
              </a:buClr>
              <a:buChar char="•"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6 个 HPA 绑定业务 Deployment（下页展开）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3"/>
          <a:srcRect l="33" r="33" t="0" b="0"/>
          <a:stretch>
            <a:fillRect/>
          </a:stretch>
        </p:blipFill>
        <p:spPr>
          <a:xfrm rot="0" flipH="false" flipV="false">
            <a:off x="711200" y="4419600"/>
            <a:ext cx="7848600" cy="2362200"/>
          </a:xfrm>
          <a:prstGeom prst="rect">
            <a:avLst/>
          </a:prstGeom>
          <a:noFill/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</a:ln>
        </p:spPr>
      </p:pic>
      <p:sp>
        <p:nvSpPr>
          <p:cNvPr name="AutoShape 12" id="12"/>
          <p:cNvSpPr/>
          <p:nvPr/>
        </p:nvSpPr>
        <p:spPr>
          <a:xfrm rot="0" flipH="false" flipV="false">
            <a:off x="8763000" y="4419600"/>
            <a:ext cx="2717800" cy="2362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0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kubectl 现场</a:t>
            </a:r>
            <a:r>
              <a:rPr lang="en-US" b="false" i="false" strike="noStrike" u="none" sz="10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0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0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六服务与数据层 Pod 全部 Running / Ready；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0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0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多时间点集群清单脱敏后备份于 backups/kubernetes。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1200" y="3302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10 / TEST RESULTS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769600" y="330200"/>
            <a:ext cx="711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6A6"/>
                </a:solidFill>
                <a:latin typeface="Roboto Mono"/>
                <a:ea typeface="Roboto Mono"/>
                <a:cs typeface="Roboto Mono"/>
                <a:sym typeface="Roboto Mono"/>
              </a:rPr>
              <a:t>13 / 17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11200" y="584200"/>
            <a:ext cx="107696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测试结果：六层共 276 项自动化测试全部通过，零失败零跳过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53" flipH="false" flipV="false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711200" y="1346200"/>
          <a:ext cx="10769600" cy="3429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413000"/>
                <a:gridCol w="2641600"/>
                <a:gridCol w="1524000"/>
                <a:gridCol w="1524000"/>
                <a:gridCol w="2667000"/>
              </a:tblGrid>
              <a:tr h="381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测试层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工具与范围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用例数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结果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执行位置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单体后端单元 / 集成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JUnit 5 + MockMvc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161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1E7E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全部通过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本地 + CI backend Job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前端组件单元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Vitest + Vue Test Utils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1E7E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全部通过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本地 + CI frontend Job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单体端到端（Mock 后端）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Playwright 路由拦截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1E7E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全部通过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CI frontend Job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单体端到端（真实数据库）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Playwright + 容器化 MySQL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16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1E7E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全部通过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CI real-e2e Job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六服务单元 / 集成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JUnit 5 + MockRestServiceServer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1E7E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全部通过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CI microservices Job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六服务端到端（UC01–19）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Playwright 路由到 8081–8086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17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1E7E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全部通过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本地真实库 + CI 证据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cxnSp>
        <p:nvCxnSpPr>
          <p:cNvPr name="Connector 7" id="7"/>
          <p:cNvCxnSpPr/>
          <p:nvPr/>
        </p:nvCxnSpPr>
        <p:spPr>
          <a:xfrm rot="-4053" flipH="false" flipV="false">
            <a:off x="711204" y="49974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711200" y="5156200"/>
            <a:ext cx="5207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关键业务断言（节选）</a:t>
            </a: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UC06 并发抢房：Redis 锁加数据库事务，库存不出现负值、不超卖；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UC02 越权访问被拦截；UC14 订单状态机完整流转、退改可回滚。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99200" y="5156200"/>
            <a:ext cx="51816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质量闭环</a:t>
            </a: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19 个用例在追溯矩阵中全部 covered；每次提交 CI 必跑六层测试，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失败即阻断合并；测试执行报告按日期归档于 document/ 与 docs/ci。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1200" y="3302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11 / AUTOSCALING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769600" y="330200"/>
            <a:ext cx="711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6A6"/>
                </a:solidFill>
                <a:latin typeface="Roboto Mono"/>
                <a:ea typeface="Roboto Mono"/>
                <a:cs typeface="Roboto Mono"/>
                <a:sym typeface="Roboto Mono"/>
              </a:rPr>
              <a:t>14 / 17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11200" y="584200"/>
            <a:ext cx="107696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自动扩缩容：六个 HPA 按 CPU 60% 在 2 到 6 副本间弹性伸缩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53" flipH="false" flipV="false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711200" y="1346200"/>
            <a:ext cx="53848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HPA 策略（hpa.yaml 已入库的真实配置）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8107" flipH="false" flipV="false">
            <a:off x="711207" y="1695450"/>
            <a:ext cx="538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711200" y="1854200"/>
          <a:ext cx="5384800" cy="3530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905000"/>
                <a:gridCol w="3479800"/>
              </a:tblGrid>
              <a:tr h="4826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参数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取值（autoscaling/v2）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绑定对象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6 个业务 Deployment 各 1 个 HPA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触发指标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CPU averageUtilization = 60%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副本区间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minReplicas 2 → maxReplicas 6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扩容策略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稳定窗口 0s；每 30s 最多 +100% 或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16666"/>
                        </a:lnSpc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+2 Pod，selectPolicy 取较快者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缩容策略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稳定窗口 120s；每 60s 最多 -50%，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16666"/>
                        </a:lnSpc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避免负载抖动导致频繁伸缩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9" id="9"/>
          <p:cNvSpPr/>
          <p:nvPr/>
        </p:nvSpPr>
        <p:spPr>
          <a:xfrm rot="0" flipH="false" flipV="false">
            <a:off x="6400800" y="13462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现场实验五步（脚本自动留存三态）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8594" flipH="false" flipV="false">
            <a:off x="6400808" y="16954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6400800" y="1905000"/>
            <a:ext cx="431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807200" y="1879600"/>
            <a:ext cx="46736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记录扩容前副本数、CPU 基线与 HPA 状态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400800" y="2489200"/>
            <a:ext cx="431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807200" y="2463800"/>
            <a:ext cx="46736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k6 三场景持续加压：航班查询、酒店查询、并发下单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400800" y="3073400"/>
            <a:ext cx="431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807200" y="3048000"/>
            <a:ext cx="46736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watch kubectl get hpa、get pods，观察副本 2 → N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00800" y="3657600"/>
            <a:ext cx="431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807200" y="3632200"/>
            <a:ext cx="46736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停止加压，经过 120s 稳定窗口后观察逐步回落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00800" y="4241800"/>
            <a:ext cx="431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807200" y="4216400"/>
            <a:ext cx="46736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扩容前 / 中 / 后三态存档，回填实验记录表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8594" flipH="false" flipV="false">
            <a:off x="6400808" y="48958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6400800" y="50292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536174"/>
                </a:solidFill>
                <a:latin typeface="Roboto Mono"/>
                <a:ea typeface="Roboto Mono"/>
                <a:cs typeface="Roboto Mono"/>
                <a:sym typeface="Roboto Mono"/>
              </a:rPr>
              <a:t>scripts/experiments/Invoke-MicroserviceHpaExperiment.ps1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11200" y="5588000"/>
            <a:ext cx="10769600" cy="787400"/>
          </a:xfrm>
          <a:prstGeom prst="roundRect">
            <a:avLst>
              <a:gd name="adj" fmla="val 0"/>
            </a:avLst>
          </a:prstGeom>
          <a:solidFill>
            <a:srgbClr val="FCF7EB">
              <a:alpha val="100000"/>
            </a:srgbClr>
          </a:solidFill>
          <a:ln w="12700" cmpd="sng" cap="flat">
            <a:solidFill>
              <a:srgbClr val="D6B27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14400" y="5689600"/>
            <a:ext cx="1397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B07610"/>
                </a:solidFill>
                <a:latin typeface="Noto Sans SC"/>
                <a:ea typeface="Noto Sans SC"/>
                <a:cs typeface="Noto Sans SC"/>
                <a:sym typeface="Noto Sans SC"/>
              </a:rPr>
              <a:t>待现场实测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2413000" y="5689600"/>
            <a:ext cx="8890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85814"/>
                </a:solidFill>
                <a:latin typeface="Noto Sans SC"/>
                <a:ea typeface="Noto Sans SC"/>
                <a:cs typeface="Noto Sans SC"/>
                <a:sym typeface="Noto Sans SC"/>
              </a:rPr>
              <a:t>HPA 清单、实验脚本与记录模板已入库；扩缩容实测曲线在答辩现场加压触发，副本变化与耗时当场展示并补入记录，不预设结论。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1200" y="3302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12 / FAULT TOLERANCE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769600" y="330200"/>
            <a:ext cx="711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6A6"/>
                </a:solidFill>
                <a:latin typeface="Roboto Mono"/>
                <a:ea typeface="Roboto Mono"/>
                <a:cs typeface="Roboto Mono"/>
                <a:sym typeface="Roboto Mono"/>
              </a:rPr>
              <a:t>15 / 17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11200" y="584200"/>
            <a:ext cx="107696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故障实证：停掉身份服务，下单快速失败且零脏数据、查询不受影响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53" flipH="false" flipV="false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711200" y="13462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实验时间线（2026-08-31，真实执行留档）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8594" flipH="false" flipV="false">
            <a:off x="711208" y="16954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762000" y="1930400"/>
            <a:ext cx="127000" cy="1270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41400" y="1854200"/>
            <a:ext cx="127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9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10:15:51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286000" y="1854200"/>
            <a:ext cx="35052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采集基线：订单 0、机票库存 317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5314074" flipH="false" flipV="false">
            <a:off x="571500" y="2355929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BFD7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762000" y="2667000"/>
            <a:ext cx="127000" cy="127000"/>
          </a:xfrm>
          <a:prstGeom prst="ellipse">
            <a:avLst/>
          </a:prstGeom>
          <a:solidFill>
            <a:srgbClr val="C9302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41400" y="2590800"/>
            <a:ext cx="127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900">
                <a:solidFill>
                  <a:srgbClr val="C9302C"/>
                </a:solidFill>
                <a:latin typeface="Roboto Mono"/>
                <a:ea typeface="Roboto Mono"/>
                <a:cs typeface="Roboto Mono"/>
                <a:sym typeface="Roboto Mono"/>
              </a:rPr>
              <a:t>10:16:04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2286000" y="2590800"/>
            <a:ext cx="35052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主动停止 identity-service（注入故障）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5367569" flipH="false" flipV="false">
            <a:off x="152400" y="3511580"/>
            <a:ext cx="1346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BFD7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1041400" y="2946400"/>
            <a:ext cx="4749800" cy="1168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219200" y="3048000"/>
            <a:ext cx="4394200" cy="990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故障期间观测：</a:t>
            </a: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下单接口 503「身份服务暂不可用，请稍后重试」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航班查询仍返回 200；traffic 健康检查保持 UP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4292600"/>
            <a:ext cx="127000" cy="127000"/>
          </a:xfrm>
          <a:prstGeom prst="ellipse">
            <a:avLst/>
          </a:prstGeom>
          <a:solidFill>
            <a:srgbClr val="1E7E4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41400" y="4216400"/>
            <a:ext cx="127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900">
                <a:solidFill>
                  <a:srgbClr val="1E7E45"/>
                </a:solidFill>
                <a:latin typeface="Roboto Mono"/>
                <a:ea typeface="Roboto Mono"/>
                <a:cs typeface="Roboto Mono"/>
                <a:sym typeface="Roboto Mono"/>
              </a:rPr>
              <a:t>10:16:32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2286000" y="4216400"/>
            <a:ext cx="35052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重启完成（中断约 28s），自动恢复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11200" y="4724400"/>
            <a:ext cx="5080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四道防线共同生效</a:t>
            </a: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连接 1s / 读取 2s 超时；依赖失败统一 503；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校验不过则事务不进入库存扣减阶段；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优雅停机保证在途请求处理完再退出。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096000" y="1346200"/>
            <a:ext cx="53848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故障前 / 故障中 / 恢复后对比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8107" flipH="false" flipV="false">
            <a:off x="6096007" y="1695450"/>
            <a:ext cx="538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name="Table 24" id="24"/>
          <p:cNvGraphicFramePr>
            <a:graphicFrameLocks noGrp="true"/>
          </p:cNvGraphicFramePr>
          <p:nvPr/>
        </p:nvGraphicFramePr>
        <p:xfrm>
          <a:off x="6096000" y="1854200"/>
          <a:ext cx="5384800" cy="3683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905000"/>
                <a:gridCol w="1168400"/>
                <a:gridCol w="1143000"/>
                <a:gridCol w="1168400"/>
              </a:tblGrid>
              <a:tr h="4318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9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观测指标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9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故障前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9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故障中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9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恢复后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订单总数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1E7E4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 未新增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机票库存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317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1E7E4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317 未扣减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317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下单接口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200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C9302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503 固定提示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200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航班查询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200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1E7E4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200 不受影响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200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</a:tr>
              <a:tr h="660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traffic 健康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UP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1E7E4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UP 未被拖垮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UP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25" id="25"/>
          <p:cNvSpPr/>
          <p:nvPr/>
        </p:nvSpPr>
        <p:spPr>
          <a:xfrm rot="0" flipH="false" flipV="false">
            <a:off x="6096000" y="5689600"/>
            <a:ext cx="5384800" cy="6858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299200" y="5791200"/>
            <a:ext cx="49784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结论：故障被封闭在单条依赖链路，不级联、零脏数据，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重启后自动恢复，实验判定 passed = true。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1200" y="3302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13 / BENCHMARK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769600" y="330200"/>
            <a:ext cx="711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6A6"/>
                </a:solidFill>
                <a:latin typeface="Roboto Mono"/>
                <a:ea typeface="Roboto Mono"/>
                <a:cs typeface="Roboto Mono"/>
                <a:sym typeface="Roboto Mono"/>
              </a:rPr>
              <a:t>16 / 17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11200" y="584200"/>
            <a:ext cx="107696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性能对比：四同口径、三场景各三轮，单体与微服务同脚本对照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53" flipH="false" flipV="false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711200" y="13462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公平性设计：四同 + 三场景 + 三轮中位数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8594" flipH="false" flipV="false">
            <a:off x="711208" y="16954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711200" y="1854200"/>
          <a:ext cx="5080000" cy="24892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19200"/>
                <a:gridCol w="2489200"/>
                <a:gridCol w="1371600"/>
              </a:tblGrid>
              <a:tr h="381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9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场景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9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接口（k6 脚本）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9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验证目标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</a:tr>
              <a:tr h="5207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9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航班查询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8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GET /api/flight/search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吞吐、P95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207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9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酒店查询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8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GET /api/hotel/search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吞吐、P95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</a:tr>
              <a:tr h="5207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8333"/>
                        </a:lnSpc>
                        <a:defRPr/>
                      </a:pPr>
                      <a:r>
                        <a:rPr lang="en-US" b="true" i="false" strike="noStrike" u="none" sz="9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并发</a:t>
                      </a:r>
                      <a:endParaRPr lang="en-US" sz="1100"/>
                    </a:p>
                    <a:p>
                      <a:pPr algn="ctr" marL="0" indent="0">
                        <a:lnSpc>
                          <a:spcPct val="108333"/>
                        </a:lnSpc>
                      </a:pPr>
                      <a:r>
                        <a:rPr lang="en-US" b="true" i="false" strike="noStrike" u="none" sz="9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下单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8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POST /api/hotel/order/create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16666"/>
                        </a:lnSpc>
                      </a:pPr>
                      <a:r>
                        <a:rPr lang="en-US" b="false" i="false" strike="noStrike" u="none" sz="8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50 VU 抢 1 间房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16666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高压下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16666"/>
                        </a:lnSpc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不超卖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461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口径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 gridSpan="2"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同提交 / 同数据量 / 同硬件 / 同脚本，预热后 3 轮取中位数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anchor="ctr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9" id="9"/>
          <p:cNvSpPr/>
          <p:nvPr/>
        </p:nvSpPr>
        <p:spPr>
          <a:xfrm rot="0" flipH="false" flipV="false">
            <a:off x="711200" y="4521200"/>
            <a:ext cx="5080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采集指标：</a:t>
            </a: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并发数、总请求、吞吐 req/s、平均与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P95 响应、错误率，另开终端采样 CPU 与内存。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对照方式：</a:t>
            </a: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单体 8080 与微服务 8081–8086 各跑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3 轮，--summary-export 原始 JSON 落 results/。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096000" y="1346200"/>
            <a:ext cx="53848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结果记录表（原始 JSON 回填，不预设结论）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8107" flipH="false" flipV="false">
            <a:off x="6096007" y="1695450"/>
            <a:ext cx="538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6096000" y="1854200"/>
          <a:ext cx="5384800" cy="31242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19200"/>
                <a:gridCol w="1092200"/>
                <a:gridCol w="1066800"/>
                <a:gridCol w="965200"/>
                <a:gridCol w="1041400"/>
              </a:tblGrid>
              <a:tr h="381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9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场景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9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版本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9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req/s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9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P95 ms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9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错误率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</a:tr>
              <a:tr h="457200">
                <a:tc rowSpan="2"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航班查询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单体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B0761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30.964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B0761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20.533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B0761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</a:tr>
              <a:tr h="457200">
                <a:tc vMerge="true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anchor="ctr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微服务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B0761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31.565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B0761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4.595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B0761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</a:tr>
              <a:tr h="457200">
                <a:tc rowSpan="2"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酒店查询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单体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B0761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30.803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B0761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22.794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B0761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</a:tr>
              <a:tr h="457200">
                <a:tc vMerge="true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anchor="ctr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微服务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B0761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31.564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B0761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4.436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B0761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</a:tr>
              <a:tr h="457200">
                <a:tc rowSpan="2"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并发下单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单体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B0761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——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B0761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801.52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B0761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</a:tr>
              <a:tr h="457200">
                <a:tc vMerge="true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anchor="ctr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微服务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B0761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——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B0761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163.87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B0761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13" id="13"/>
          <p:cNvSpPr/>
          <p:nvPr/>
        </p:nvSpPr>
        <p:spPr>
          <a:xfrm rot="0" flipH="false" flipV="false">
            <a:off x="711200" y="5943600"/>
            <a:ext cx="10769600" cy="6096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14400" y="6019800"/>
            <a:ext cx="103632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并发下单双重核对：k6 teardown 自动断言成功订单数 ≤ 初始库存；SQL 复核库存非负且订单数等于库存扣减量，任一不过即判失败。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1200" y="3302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14 / SUMMARY &amp; DEMO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769600" y="330200"/>
            <a:ext cx="711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96A6"/>
                </a:solidFill>
                <a:latin typeface="Roboto Mono"/>
                <a:ea typeface="Roboto Mono"/>
                <a:cs typeface="Roboto Mono"/>
                <a:sym typeface="Roboto Mono"/>
              </a:rPr>
              <a:t>17 / 17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11200" y="584200"/>
            <a:ext cx="107696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过程可追溯、边界有声明：七分钟现场演示路线已就绪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53" flipH="false" flipV="false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711200" y="13462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过程管理与工程诚信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8594" flipH="false" flipV="false">
            <a:off x="711208" y="16954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711200" y="1879600"/>
            <a:ext cx="5080000" cy="368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27000" marL="127000">
              <a:lnSpc>
                <a:spcPct val="154166"/>
              </a:lnSpc>
              <a:buClr>
                <a:srgbClr val="2E343C"/>
              </a:buClr>
              <a:buChar char="•"/>
              <a:defRPr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每日站会记录、看板任务流转、PR 评审全程留痕</a:t>
            </a:r>
            <a:endParaRPr lang="en-US" sz="1100"/>
          </a:p>
          <a:p>
            <a:pPr algn="l" indent="-127000" marL="127000">
              <a:lnSpc>
                <a:spcPct val="154166"/>
              </a:lnSpc>
              <a:buClr>
                <a:srgbClr val="2E343C"/>
              </a:buClr>
              <a:buChar char="•"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207 次提交，monolith-start 与 microservices-phase1 两个标签冻结阶段基线</a:t>
            </a:r>
          </a:p>
          <a:p>
            <a:pPr algn="l" indent="-127000" marL="127000">
              <a:lnSpc>
                <a:spcPct val="154166"/>
              </a:lnSpc>
              <a:buClr>
                <a:srgbClr val="2E343C"/>
              </a:buClr>
              <a:buChar char="•"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交付物按 01 需求至 06 交付六目录归档，证据总表逐项索引</a:t>
            </a:r>
          </a:p>
          <a:p>
            <a:pPr algn="l" indent="-127000" marL="127000">
              <a:lnSpc>
                <a:spcPct val="154166"/>
              </a:lnSpc>
              <a:buClr>
                <a:srgbClr val="2E343C"/>
              </a:buClr>
              <a:buChar char="•"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AI 工具仅用于辅助编码与文档，产出均经人工复核与自动化测试，使用记录可查</a:t>
            </a:r>
          </a:p>
          <a:p>
            <a:pPr algn="l" indent="-127000" marL="127000">
              <a:lnSpc>
                <a:spcPct val="154166"/>
              </a:lnSpc>
              <a:buClr>
                <a:srgbClr val="2E343C"/>
              </a:buClr>
              <a:buChar char="•"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边界诚实声明：不含真实支付与出票；API Gateway、注册中心、配置中心列为后续阶段</a:t>
            </a:r>
          </a:p>
          <a:p>
            <a:pPr algn="l" indent="-127000" marL="127000">
              <a:lnSpc>
                <a:spcPct val="154166"/>
              </a:lnSpc>
              <a:buClr>
                <a:srgbClr val="2E343C"/>
              </a:buClr>
              <a:buChar char="•"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未完成的实测不冒充结论：HPA 与性能数据现场触发、当场回填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096000" y="1346200"/>
            <a:ext cx="53848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七分钟现场演示路线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8107" flipH="false" flipV="false">
            <a:off x="6096007" y="1695450"/>
            <a:ext cx="538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6096000" y="1905000"/>
            <a:ext cx="4318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502400" y="1879600"/>
            <a:ext cx="49784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仓库结构与 Run #217 流水线全绿记录（约 1 分钟）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096000" y="2438400"/>
            <a:ext cx="4318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502400" y="2413000"/>
            <a:ext cx="49784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提交改动触发流水线，展示测试门禁实时执行（约 1.5 分钟）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096000" y="2971800"/>
            <a:ext cx="4318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502400" y="2946400"/>
            <a:ext cx="49784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kubectl 展示 Deployment、HPA、StatefulSet 与 Pod（约 1 分钟）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096000" y="3505200"/>
            <a:ext cx="4318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502400" y="3479800"/>
            <a:ext cx="49784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重点用例：UC06 并发防超卖、UC14 订单全流程（约 1.5 分钟）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096000" y="4038600"/>
            <a:ext cx="4318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502400" y="4013200"/>
            <a:ext cx="49784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k6 加压观察 HPA 副本 2 向 6 弹性爬升（约 1 分钟）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096000" y="4572000"/>
            <a:ext cx="4318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502400" y="4546600"/>
            <a:ext cx="49784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停掉身份服务复现故障隔离与自动恢复（约 1 分钟）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8107" flipH="false" flipV="false">
            <a:off x="6096007" y="5124450"/>
            <a:ext cx="538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6096000" y="5257800"/>
            <a:ext cx="53848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演示脚本位于 scripts/experiments/ 与 04_tests，所有命令可重复执行。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11200" y="5791200"/>
            <a:ext cx="10769600" cy="7112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965200" y="5892800"/>
            <a:ext cx="102616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总结：同一代码库交付单体回归基线与六服务云原生形态——结论有证据、过程可复现、边界不夸大。</a:t>
            </a:r>
            <a:endParaRPr lang="en-US" sz="1100"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