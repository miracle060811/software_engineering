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  <p:sldMasterId id="2147483660" r:id="rId2"/>
  </p:sldMasterIdLst>
  <p:notesMasterIdLst>
    <p:notesMasterId r:id="rId23"/>
  </p:notesMasterIdLst>
  <p:sldIdLst>
    <p:sldId id="256" r:id="rId3"/>
    <p:sldId id="257" r:id="rId4"/>
    <p:sldId id="275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L="0"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L="457200"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L="914400"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L="1371600"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L="1828800"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L="2286000"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L="2743200"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L="3200400"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L="3657600"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7" d="100"/>
          <a:sy n="87" d="100"/>
        </p:scale>
        <p:origin x="60" y="13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03.09.2026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各位老师好，我们是第 5 组 Miracle 小组，答辩项目是旅行服务平台 TravelMate。本次实践我们先复活并补齐了上学期的前后端单体，再把后端物理拆分为六个独立微服务，完成了容器化、CI/CD 流水线、Kubernetes 部署、自动扩缩容、故障隔离和性能对比。接下来四分钟先介绍项目与架构，随后进行七分钟现场演示。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这一页是全局结论：任务书要求的八个验收点我们全部落地。上面一排是关键数字：19 个业务用例、6 个微服务、207 次 Git 提交、12 个流水线任务、276 项自动化测试全部通过、35 张表一表一主。下面表格逐项给出完成情况和仓库内的证据位置，老师问到任何一项，我们都能直接定位到对应目录。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任务书把十天实践切成两段：前五天复活单体、补齐文档测试、容器化和 CI，冻结 monolith-start 基线；后五天在不改动单体仓库的前提下，把后端物理拆成六个微服务，部署到 Kubernetes，完成扩缩容、故障和性能实验，9 月 1 日通过拆分边界验证。下方时间轴是我们的真实里程碑，所有交付物按六个目录归档，过程管理证据齐全。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整体架构是经典的前后端分离四层结构：Vue3 单页应用通过 REST 接口访问 Spring Boot 业务层，业务层落到 MySQL 和 Redis。技术栈版本全部锁定，保证老师现场可复现。特别说明两点：一是单体和微服务两个形态在仓库里并存，数据模型一致，便于做同口径性能对比；二是项目不接真实支付和出票，外部能力都是可演示的桩，这一边界在 README 和答辩中都明确说明。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业务全景共 19 个用例，按业务能力归为六大域，左侧表格逐项列出，所有用例在追溯矩阵中的状态都是 covered。右侧是我们的追溯链：从需求条目到用例、子系统组件、数据对象、代码类和接口，最后落到自动化测试，正反两个方向都能查。老师任意点一个需求，我们都能顺着链条找到对应代码和测试；点一个测试，也能反查它覆盖哪个需求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这张图是我们的目标服务划分全景。拆分不是按 controller、service 这种技术层切，而是按业务能力：身份、交通、当地、AI、社区、运维六个服务，各自独立进程、独立数据库、独立镜像和副本。四条拆分依据列在右侧。特别强调：原来的单体代码全程没有改动，它保留下来作为性能对比的对照组，这也是任务书要求的对照实验基础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这张表把六个服务的边界一次性讲清：端口从 8081 到 8086，表归属精确到张数，身份 3 张、交通 6 张、本地 14 张、AI 6 张、社区 3 张、运维 2 张，合计 34 张；剩下一张媒体资源表暂留单体，文档里有明确说明，没有藏着掖着。最右列是服务间协作，全部走带令牌的内部 HTTP 接口，任何服务都不能直接读别人的库，这条规则由结构门禁自动检查。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数据归属是这次拆分的核心考点，我们用三条硬规则保证：一表一主、一服务一库一账号、跨服务取数只走内部接口。这不是口头约定：右侧是 9 月 1 日的实测记录，用每个服务自己的账号去查别人的库，MySQL 全部返回 1142 权限拒绝。右下角是引导脚本原文，先回收全部权限，再只授予本库的增删改查，连 DDL 权限都不给。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左图是跨服务调用和失败补偿的完整路径。右侧是我们冻结的内部接口契约：第一，所有内部调用必须带服务令牌；第二，超时严格限定在 1 秒连接、2 秒读取，避免级联阻塞；第三，依赖出问题统一返回 503 和固定错误码，前端能给出稳定提示；第四，通知类事件通过 Outbox 表加幂等键投递，失败退避重试、超限死信；最关键的是事务保护，比如身份服务不可用时交通订单根本不会进入扣库存阶段，保证不会出现扣了库存却没有订单的脏数据。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这是我们的流水线拓扑。每次 push 到 GitHub，Actions 会依次通过四道闸：先做变更识别，再跑后端、微服务、前端和真实数据库 E2E，由 ci-gate 汇总，任何一项失败都不能合并；合并后 Trivy 扫描镜像、推送 GHCR 镜像仓库并留存发布证据；最后部署到 Kubernetes 并做健康检查，交付闸全绿才算完成。整条流水线定义在 .github/workflows/ci.yml，共 12 个任务，下一页看真实运行记录。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CI/CD 不是写了个配置文件就算数，左边是真实的运行记录：第 217 次运行，12 个任务全部成功，耗时 11 分 44 秒，产出 10 个制品归档，包括测试报告和部署证据。特别说明真实数据库 E2E 是在流水线容器里跑真实 MySQL，不是 Mock。右下角是对应的 PR 合并记录，我们的分支保护要求评审通过且 CI 全绿才能合并，测试失败的提交确实被拦下来过，这条门禁是生效的。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微服务不是只在本地能跑，而是真正部署到了 Kubernetes。左上是流水线里的部署日志和部署后健康检查；右侧是集群工作负载清单：六个业务 Deployment 都配了三类健康探针和资源配额，六个 MySQL 用 StatefulSet 加独立存储卷，六个 Service 做服务发现，六个 HPA 负责扩缩容。下方宽截图是 kubectl 看到的工作负载和 Pod 状态，全部 Running、Ready，现场演示我们会直接在集群里操作。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测试分六层：单体后端 161 个、前端组件 24 个、Mock 端到端 6 个、真实数据库端到端 16 个，拆分后六服务新增 52 个后端测试和 17 个微服务端到端，合计 276 项，全部通过、零失败零跳过。下方是两个值得展开的点：一是关键业务断言，比如并发抢房防超卖和越权拦截；二是质量闭环，19 个用例全部可追溯，每次提交 CI 必跑，失败直接阻断合并。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扩缩容分两部分讲：左边是已经入库的真实配置，六个服务各绑一个 HPA，CPU 平均利用率超过 60% 就扩容，副本下限 2、上限 6；扩容零等待、每 30 秒最多翻倍或加两个 Pod，缩容有 120 秒稳定窗口防抖。右边是现场实验的五个步骤，用 k6 加压、用 kubectl 观察副本爬升和回落，前中后三态自动存档。底部如实说明：实测曲线在答辩现场触发，我们不提前编造数字。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故障处理我们做了真实实验而不是口头描述：8 月 31 日主动停掉身份服务。左侧时间线显示，故障期间交通服务的下单请求在超时控制下快速返回 503 和固定中文提示，但不依赖身份的航班查询依然 200，自身健康检查保持 UP；身份服务约 28 秒后重启完成，系统自动恢复。右侧对比表是关键：订单数 0 比 0、库存 317 比 317，没有产生任何脏数据。这说明超时、固定错误码、事务前置校验和优雅停机这四道防线确实生效。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性能对比我们最重视口径公平：同一提交、同一数据量、同一台机器、同一套 k6 脚本，三个场景各跑三轮取中位数，单体跑 8080、微服务跑 8081 到 8086。右侧记录表如实保留为待实测状态，数值由 summary-export 的原始 JSON 回填，不虚报提升、也不预设谁快。底部是并发下单的双重一致性核对：脚本断言加 SQL 复核，保证高压下不超卖。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最后一页两部分：左边是过程管理和工程诚信，每日站会、PR 评审、207 次提交和两个阶段标签都可查，AI 辅助内容全部经过人工复核和测试验证，没做完的实测绝不冒充结论。右边是七分钟现场演示的六步路线，从流水线、集群状态到重点用例、HPA 扩容和故障恢复，每一步都有脚本可重复执行。一句话总结：单体基线和六服务云原生形态在同一代码库交付，所有结论有证据、可复现，边界不夸大。答辩汇报到此，请老师提问。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幻灯片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" name="Shape 31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14" name="Shape 3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" name="Shape 3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6" name="Shape 3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内容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9" name="Shape 55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0" name="Shape 5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1" name="Shape 5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2" name="Shape 5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节标题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5" name="Shape 60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Shape 6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7" name="Shape 6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8" name="Shape 6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两栏内容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1" name="Shape 10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2" name="Shape 11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3" name="Shape 1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4" name="Shape 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5" name="Shape 1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比较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8" name="Shape 36"/>
          <p:cNvSpPr txBox="1">
            <a:spLocks noGrp="1"/>
          </p:cNvSpPr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39" name="Shape 37"/>
          <p:cNvSpPr txBox="1">
            <a:spLocks noGrp="1"/>
          </p:cNvSpPr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0" name="Shape 38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1" name="Shape 39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2" name="Shape 4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3" name="Shape 4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4" name="Shape 4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仅标题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7" name="Shape 2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8" name="Shape 2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9" name="Shape 2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空白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2" name="Shape 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3" name="Shape 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内容与标题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6" name="Shape 44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57" name="Shape 45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58" name="Shape 4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9" name="Shape 4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0" name="Shape 4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图片与标题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3" name="Shape 25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65" name="Shape 2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6" name="Shape 2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7" name="Shape 2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竖排文字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0" name="Shape 50"/>
          <p:cNvSpPr txBox="1">
            <a:spLocks noGrp="1"/>
          </p:cNvSpPr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1" name="Shape 5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2" name="Shape 5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3" name="Shape 5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竖排标题与文本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>
            <a:spLocks noGrp="1"/>
          </p:cNvSpPr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6" name="Shape 16"/>
          <p:cNvSpPr txBox="1">
            <a:spLocks noGrp="1"/>
          </p:cNvSpPr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7" name="Shape 1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8" name="Shape 1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9" name="Shape 1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sz="3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7" name="Shape 2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Shape 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Shape 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Shape 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默认主题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5748369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jpeg"/><Relationship Id="rId4" Type="http://schemas.openxmlformats.org/officeDocument/2006/relationships/image" Target="../media/image6.jpe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7.jpeg"/><Relationship Id="rId4" Type="http://schemas.openxmlformats.org/officeDocument/2006/relationships/image" Target="../media/image8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2"/>
          <p:cNvCxnSpPr/>
          <p:nvPr/>
        </p:nvCxnSpPr>
        <p:spPr>
          <a:xfrm rot="-57290">
            <a:off x="711253" y="936000"/>
            <a:ext cx="76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38100" cap="flat" cmpd="sng">
            <a:solidFill>
              <a:srgbClr val="2563EB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3" name="AutoShape 3"/>
          <p:cNvSpPr/>
          <p:nvPr/>
        </p:nvSpPr>
        <p:spPr>
          <a:xfrm>
            <a:off x="711200" y="540000"/>
            <a:ext cx="6350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0" i="0" u="none" strike="noStrike" dirty="0" err="1">
                <a:solidFill>
                  <a:srgbClr val="3B5A8C"/>
                </a:solidFill>
                <a:latin typeface="Noto Sans SC"/>
                <a:ea typeface="Noto Sans SC"/>
                <a:cs typeface="Noto Sans SC"/>
                <a:sym typeface="Noto Sans SC"/>
              </a:rPr>
              <a:t>软件工程基础实践</a:t>
            </a:r>
            <a:endParaRPr lang="en-US" sz="1100" dirty="0"/>
          </a:p>
        </p:txBody>
      </p:sp>
      <p:sp>
        <p:nvSpPr>
          <p:cNvPr id="4" name="AutoShape 4"/>
          <p:cNvSpPr/>
          <p:nvPr/>
        </p:nvSpPr>
        <p:spPr>
          <a:xfrm>
            <a:off x="711200" y="1188000"/>
            <a:ext cx="5867400" cy="223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6666"/>
              </a:lnSpc>
              <a:defRPr/>
            </a:pPr>
            <a:r>
              <a:rPr lang="en-US" sz="4400" b="1" i="0" u="none" strike="noStrike" dirty="0" err="1">
                <a:solidFill>
                  <a:srgbClr val="1F3864"/>
                </a:solidFill>
                <a:latin typeface="Noto Sans SC"/>
                <a:ea typeface="Noto Sans SC"/>
                <a:cs typeface="Noto Sans SC"/>
                <a:sym typeface="Noto Sans SC"/>
              </a:rPr>
              <a:t>TravelMate</a:t>
            </a:r>
            <a:endParaRPr lang="en-US" sz="1100" dirty="0"/>
          </a:p>
          <a:p>
            <a:pPr marL="0" indent="0" algn="l">
              <a:lnSpc>
                <a:spcPct val="106666"/>
              </a:lnSpc>
            </a:pPr>
            <a:r>
              <a:rPr lang="en-US" sz="4400" b="1" i="0" u="none" strike="noStrike" dirty="0" err="1">
                <a:solidFill>
                  <a:srgbClr val="1F3864"/>
                </a:solidFill>
                <a:latin typeface="Noto Sans SC"/>
                <a:ea typeface="Noto Sans SC"/>
                <a:cs typeface="Noto Sans SC"/>
                <a:sym typeface="Noto Sans SC"/>
              </a:rPr>
              <a:t>从单体到六服务微服务</a:t>
            </a:r>
            <a:endParaRPr lang="en-US" sz="4000" b="1" i="0" u="none" strike="noStrike" dirty="0">
              <a:solidFill>
                <a:srgbClr val="FFFFFF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0" indent="0" algn="l">
              <a:lnSpc>
                <a:spcPct val="106666"/>
              </a:lnSpc>
            </a:pPr>
            <a:r>
              <a:rPr lang="en-US" sz="4400" b="1" i="0" u="none" strike="noStrike" dirty="0" err="1">
                <a:solidFill>
                  <a:srgbClr val="1F3864"/>
                </a:solidFill>
                <a:latin typeface="Noto Sans SC"/>
                <a:ea typeface="Noto Sans SC"/>
                <a:cs typeface="Noto Sans SC"/>
                <a:sym typeface="Noto Sans SC"/>
              </a:rPr>
              <a:t>的云原生改造实践</a:t>
            </a:r>
            <a:endParaRPr lang="en-US" sz="4000" b="1" i="0" u="none" strike="noStrike" dirty="0">
              <a:solidFill>
                <a:srgbClr val="FFFFFF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5" name="AutoShape 5"/>
          <p:cNvSpPr/>
          <p:nvPr/>
        </p:nvSpPr>
        <p:spPr>
          <a:xfrm>
            <a:off x="711200" y="3708000"/>
            <a:ext cx="5740400" cy="115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333"/>
              </a:lnSpc>
              <a:defRPr/>
            </a:pPr>
            <a:r>
              <a:rPr lang="en-US" sz="1800" b="0" i="0" u="none" strike="noStrike">
                <a:solidFill>
                  <a:srgbClr val="3B5A8C"/>
                </a:solidFill>
                <a:latin typeface="Noto Sans SC"/>
                <a:ea typeface="Noto Sans SC"/>
                <a:cs typeface="Noto Sans SC"/>
                <a:sym typeface="Noto Sans SC"/>
              </a:rPr>
              <a:t>单体复活与容器化 → Kubernetes 六服务部署</a:t>
            </a:r>
            <a:endParaRPr lang="en-US" sz="1100"/>
          </a:p>
          <a:p>
            <a:pPr marL="0" indent="0" algn="l">
              <a:lnSpc>
                <a:spcPct val="133333"/>
              </a:lnSpc>
            </a:pPr>
            <a:r>
              <a:rPr lang="en-US" sz="1800" b="0" i="0" u="none" strike="noStrike">
                <a:solidFill>
                  <a:srgbClr val="3B5A8C"/>
                </a:solidFill>
                <a:latin typeface="Noto Sans SC"/>
                <a:ea typeface="Noto Sans SC"/>
                <a:cs typeface="Noto Sans SC"/>
                <a:sym typeface="Noto Sans SC"/>
              </a:rPr>
              <a:t>自动扩缩容 · 故障隔离 · 同口径性能对比</a:t>
            </a:r>
          </a:p>
        </p:txBody>
      </p:sp>
      <p:cxnSp>
        <p:nvCxnSpPr>
          <p:cNvPr id="6" name="Connector 6"/>
          <p:cNvCxnSpPr/>
          <p:nvPr/>
        </p:nvCxnSpPr>
        <p:spPr>
          <a:xfrm rot="-7994">
            <a:off x="711207" y="5256000"/>
            <a:ext cx="546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3B5A8C">
                <a:alpha val="18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" name="AutoShape 7"/>
          <p:cNvSpPr/>
          <p:nvPr/>
        </p:nvSpPr>
        <p:spPr>
          <a:xfrm>
            <a:off x="711200" y="5544000"/>
            <a:ext cx="57404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0" i="0" u="none" strike="noStrike" dirty="0">
                <a:solidFill>
                  <a:srgbClr val="1F3864"/>
                </a:solidFill>
                <a:latin typeface="Noto Sans SC"/>
                <a:ea typeface="Noto Sans SC"/>
                <a:cs typeface="Noto Sans SC"/>
                <a:sym typeface="Noto Sans SC"/>
              </a:rPr>
              <a:t>第 5 组 · Miracle </a:t>
            </a:r>
            <a:r>
              <a:rPr lang="en-US" sz="1600" b="0" i="0" u="none" strike="noStrike" dirty="0" err="1">
                <a:solidFill>
                  <a:srgbClr val="1F3864"/>
                </a:solidFill>
                <a:latin typeface="Noto Sans SC"/>
                <a:ea typeface="Noto Sans SC"/>
                <a:cs typeface="Noto Sans SC"/>
                <a:sym typeface="Noto Sans SC"/>
              </a:rPr>
              <a:t>小组</a:t>
            </a:r>
            <a:r>
              <a:rPr lang="en-US" sz="1600" b="0" i="0" u="none" strike="noStrike" dirty="0">
                <a:solidFill>
                  <a:srgbClr val="1F3864"/>
                </a:solidFill>
                <a:latin typeface="Noto Sans SC"/>
                <a:ea typeface="Noto Sans SC"/>
                <a:cs typeface="Noto Sans SC"/>
                <a:sym typeface="Noto Sans SC"/>
              </a:rPr>
              <a:t>　|　</a:t>
            </a:r>
            <a:r>
              <a:rPr lang="en-US" sz="1600" b="0" i="0" u="none" strike="noStrike" dirty="0" err="1">
                <a:solidFill>
                  <a:srgbClr val="1F3864"/>
                </a:solidFill>
                <a:latin typeface="Noto Sans SC"/>
                <a:ea typeface="Noto Sans SC"/>
                <a:cs typeface="Noto Sans SC"/>
                <a:sym typeface="Noto Sans SC"/>
              </a:rPr>
              <a:t>全栈旅行服务平台</a:t>
            </a:r>
            <a:endParaRPr lang="en-US" sz="1100" dirty="0"/>
          </a:p>
        </p:txBody>
      </p:sp>
      <p:sp>
        <p:nvSpPr>
          <p:cNvPr id="8" name="AutoShape 8"/>
          <p:cNvSpPr/>
          <p:nvPr/>
        </p:nvSpPr>
        <p:spPr>
          <a:xfrm>
            <a:off x="711200" y="5903999"/>
            <a:ext cx="57404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0" i="0" u="none" strike="noStrike" dirty="0">
                <a:solidFill>
                  <a:srgbClr val="5A6B8C"/>
                </a:solidFill>
                <a:latin typeface="Roboto Mono"/>
                <a:ea typeface="Roboto Mono"/>
                <a:cs typeface="Roboto Mono"/>
                <a:sym typeface="Roboto Mono"/>
              </a:rPr>
              <a:t>2026-09-04</a:t>
            </a:r>
            <a:endParaRPr lang="en-US" sz="1100" dirty="0"/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3"/>
          <a:srcRect l="68" r="68"/>
          <a:stretch>
            <a:fillRect/>
          </a:stretch>
        </p:blipFill>
        <p:spPr>
          <a:xfrm>
            <a:off x="6858000" y="1397000"/>
            <a:ext cx="4622800" cy="3086100"/>
          </a:xfrm>
          <a:prstGeom prst="rect">
            <a:avLst/>
          </a:prstGeom>
          <a:noFill/>
          <a:ln w="12700" cap="flat" cmpd="sng">
            <a:solidFill>
              <a:srgbClr val="FFFFFF">
                <a:alpha val="22000"/>
              </a:srgbClr>
            </a:solidFill>
            <a:prstDash val="solid"/>
            <a:round/>
          </a:ln>
        </p:spPr>
      </p:pic>
      <p:sp>
        <p:nvSpPr>
          <p:cNvPr id="10" name="AutoShape 10"/>
          <p:cNvSpPr/>
          <p:nvPr/>
        </p:nvSpPr>
        <p:spPr>
          <a:xfrm>
            <a:off x="6858000" y="4597400"/>
            <a:ext cx="46228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 dirty="0" err="1">
                <a:solidFill>
                  <a:srgbClr val="5A6B8C"/>
                </a:solidFill>
                <a:latin typeface="Noto Sans SC"/>
                <a:ea typeface="Noto Sans SC"/>
                <a:cs typeface="Noto Sans SC"/>
                <a:sym typeface="Noto Sans SC"/>
              </a:rPr>
              <a:t>系统总体架构：Vue</a:t>
            </a:r>
            <a:r>
              <a:rPr lang="en-US" sz="1400" b="0" i="0" u="none" strike="noStrike" dirty="0">
                <a:solidFill>
                  <a:srgbClr val="5A6B8C"/>
                </a:solidFill>
                <a:latin typeface="Noto Sans SC"/>
                <a:ea typeface="Noto Sans SC"/>
                <a:cs typeface="Noto Sans SC"/>
                <a:sym typeface="Noto Sans SC"/>
              </a:rPr>
              <a:t> 3 + Spring Boot 3.5 + Java 21</a:t>
            </a:r>
            <a:endParaRPr lang="en-US" sz="1100" dirty="0"/>
          </a:p>
          <a:p>
            <a:pPr marL="0" indent="0" algn="l">
              <a:lnSpc>
                <a:spcPct val="125000"/>
              </a:lnSpc>
            </a:pPr>
            <a:r>
              <a:rPr lang="en-US" sz="1400" b="0" i="0" u="none" strike="noStrike" dirty="0">
                <a:solidFill>
                  <a:srgbClr val="5A6B8C"/>
                </a:solidFill>
                <a:latin typeface="Noto Sans SC"/>
                <a:ea typeface="Noto Sans SC"/>
                <a:cs typeface="Noto Sans SC"/>
                <a:sym typeface="Noto Sans SC"/>
              </a:rPr>
              <a:t>MySQL 8 + Redis 7 + Docker + </a:t>
            </a:r>
            <a:r>
              <a:rPr lang="en-US" sz="1400" b="0" i="0" u="none" strike="noStrike" dirty="0" err="1">
                <a:solidFill>
                  <a:srgbClr val="5A6B8C"/>
                </a:solidFill>
                <a:latin typeface="Noto Sans SC"/>
                <a:ea typeface="Noto Sans SC"/>
                <a:cs typeface="Noto Sans SC"/>
                <a:sym typeface="Noto Sans SC"/>
              </a:rPr>
              <a:t>Kubernetes（kind</a:t>
            </a:r>
            <a:r>
              <a:rPr lang="en-US" sz="1400" b="0" i="0" u="none" strike="noStrike" dirty="0">
                <a:solidFill>
                  <a:srgbClr val="5A6B8C"/>
                </a:solidFill>
                <a:latin typeface="Noto Sans SC"/>
                <a:ea typeface="Noto Sans SC"/>
                <a:cs typeface="Noto Sans SC"/>
                <a:sym typeface="Noto Sans SC"/>
              </a:rPr>
              <a:t>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8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11200" y="330200"/>
            <a:ext cx="6350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2563EB"/>
                </a:solidFill>
                <a:latin typeface="微软雅黑"/>
                <a:ea typeface="Roboto Mono"/>
                <a:cs typeface="Roboto Mono"/>
                <a:sym typeface="Roboto Mono"/>
              </a:rPr>
              <a:t>01 / OVERVIEW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10769600" y="330200"/>
            <a:ext cx="7112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8C96A6"/>
                </a:solidFill>
                <a:latin typeface="微软雅黑"/>
                <a:ea typeface="Roboto Mono"/>
                <a:cs typeface="Roboto Mono"/>
                <a:sym typeface="Roboto Mono"/>
              </a:rPr>
              <a:t>02 / 20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11200" y="584200"/>
            <a:ext cx="107696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600" b="1" i="0" u="none" strike="noStrike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八项验收要求与证据总览</a:t>
            </a:r>
            <a:endParaRPr lang="en-US" sz="1100"/>
          </a:p>
        </p:txBody>
      </p:sp>
      <p:cxnSp>
        <p:nvCxnSpPr>
          <p:cNvPr id="5" name="Connector 5"/>
          <p:cNvCxnSpPr/>
          <p:nvPr/>
        </p:nvCxnSpPr>
        <p:spPr>
          <a:xfrm rot="-4053">
            <a:off x="711204" y="1162050"/>
            <a:ext cx="10769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9DEE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" name="Connector 6"/>
          <p:cNvCxnSpPr/>
          <p:nvPr/>
        </p:nvCxnSpPr>
        <p:spPr>
          <a:xfrm rot="-4053">
            <a:off x="711204" y="1339850"/>
            <a:ext cx="10769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9DEE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" name="AutoShape 7"/>
          <p:cNvSpPr/>
          <p:nvPr/>
        </p:nvSpPr>
        <p:spPr>
          <a:xfrm>
            <a:off x="711200" y="1447800"/>
            <a:ext cx="17018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0D1326"/>
                </a:solidFill>
                <a:latin typeface="Roboto Mono"/>
                <a:ea typeface="Roboto Mono"/>
                <a:cs typeface="Roboto Mono"/>
                <a:sym typeface="Roboto Mono"/>
              </a:rPr>
              <a:t>19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711200" y="1955800"/>
            <a:ext cx="17018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536174"/>
                </a:solidFill>
                <a:latin typeface="Noto Sans SC"/>
                <a:ea typeface="Noto Sans SC"/>
                <a:cs typeface="Noto Sans SC"/>
                <a:sym typeface="Noto Sans SC"/>
              </a:rPr>
              <a:t>业务用例全部可运行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2514600" y="1447800"/>
            <a:ext cx="17018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0D1326"/>
                </a:solidFill>
                <a:latin typeface="Roboto Mono"/>
                <a:ea typeface="Roboto Mono"/>
                <a:cs typeface="Roboto Mono"/>
                <a:sym typeface="Roboto Mono"/>
              </a:rPr>
              <a:t>6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2514600" y="1955800"/>
            <a:ext cx="17018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536174"/>
                </a:solidFill>
                <a:latin typeface="Noto Sans SC"/>
                <a:ea typeface="Noto Sans SC"/>
                <a:cs typeface="Noto Sans SC"/>
                <a:sym typeface="Noto Sans SC"/>
              </a:rPr>
              <a:t>独立微服务独立部署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4318000" y="1447800"/>
            <a:ext cx="17018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0D1326"/>
                </a:solidFill>
                <a:latin typeface="Roboto Mono"/>
                <a:ea typeface="Roboto Mono"/>
                <a:cs typeface="Roboto Mono"/>
                <a:sym typeface="Roboto Mono"/>
              </a:rPr>
              <a:t>245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4318000" y="1955800"/>
            <a:ext cx="17018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536174"/>
                </a:solidFill>
                <a:latin typeface="Noto Sans SC"/>
                <a:ea typeface="Noto Sans SC"/>
                <a:cs typeface="Noto Sans SC"/>
                <a:sym typeface="Noto Sans SC"/>
              </a:rPr>
              <a:t>Git 提交·双标签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6121400" y="1447800"/>
            <a:ext cx="17018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0D1326"/>
                </a:solidFill>
                <a:latin typeface="Roboto Mono"/>
                <a:ea typeface="Roboto Mono"/>
                <a:cs typeface="Roboto Mono"/>
                <a:sym typeface="Roboto Mono"/>
              </a:rPr>
              <a:t>14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6121400" y="1955800"/>
            <a:ext cx="17018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536174"/>
                </a:solidFill>
                <a:latin typeface="Noto Sans SC"/>
                <a:ea typeface="Noto Sans SC"/>
                <a:cs typeface="Noto Sans SC"/>
                <a:sym typeface="Noto Sans SC"/>
              </a:rPr>
              <a:t>CI/CD 流水线任务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7924800" y="1447800"/>
            <a:ext cx="17018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0D1326"/>
                </a:solidFill>
                <a:latin typeface="Roboto Mono"/>
                <a:ea typeface="Roboto Mono"/>
                <a:cs typeface="Roboto Mono"/>
                <a:sym typeface="Roboto Mono"/>
              </a:rPr>
              <a:t>325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7924800" y="1955800"/>
            <a:ext cx="17018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536174"/>
                </a:solidFill>
                <a:latin typeface="Noto Sans SC"/>
                <a:ea typeface="Noto Sans SC"/>
                <a:cs typeface="Noto Sans SC"/>
                <a:sym typeface="Noto Sans SC"/>
              </a:rPr>
              <a:t>自动化测试全部通过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9728200" y="1447800"/>
            <a:ext cx="17018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0D1326"/>
                </a:solidFill>
                <a:latin typeface="Roboto Mono"/>
                <a:ea typeface="Roboto Mono"/>
                <a:cs typeface="Roboto Mono"/>
                <a:sym typeface="Roboto Mono"/>
              </a:rPr>
              <a:t>34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9728200" y="1955800"/>
            <a:ext cx="17018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536174"/>
                </a:solidFill>
                <a:latin typeface="Noto Sans SC"/>
                <a:ea typeface="Noto Sans SC"/>
                <a:cs typeface="Noto Sans SC"/>
                <a:sym typeface="Noto Sans SC"/>
              </a:rPr>
              <a:t>数据表一表一主</a:t>
            </a:r>
            <a:endParaRPr lang="en-US" sz="1100"/>
          </a:p>
        </p:txBody>
      </p:sp>
      <p:cxnSp>
        <p:nvCxnSpPr>
          <p:cNvPr id="19" name="Connector 19"/>
          <p:cNvCxnSpPr/>
          <p:nvPr/>
        </p:nvCxnSpPr>
        <p:spPr>
          <a:xfrm rot="-4053">
            <a:off x="711204" y="2330450"/>
            <a:ext cx="10769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9DEE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graphicFrame>
        <p:nvGraphicFramePr>
          <p:cNvPr id="20" name="Table 2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20192207"/>
              </p:ext>
            </p:extLst>
          </p:nvPr>
        </p:nvGraphicFramePr>
        <p:xfrm>
          <a:off x="711200" y="2438400"/>
          <a:ext cx="10769600" cy="43774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165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8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30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3999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500" b="1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答辩验收点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D132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500" b="1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　完成情况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D132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500" b="1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　证据位置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D1326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32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500" b="1" i="0" u="none" strike="noStrike">
                          <a:solidFill>
                            <a:srgbClr val="0D132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任务完成情况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 dirty="0">
                          <a:solidFill>
                            <a:srgbClr val="2E343C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　19/19 </a:t>
                      </a:r>
                      <a:r>
                        <a:rPr lang="en-US" sz="1300" b="0" i="0" u="none" strike="noStrike">
                          <a:solidFill>
                            <a:srgbClr val="2E343C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用例可运行，单体与微服务双形态交付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536174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　01_requirements / microservices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32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500" b="1" i="0" u="none" strike="noStrike">
                          <a:solidFill>
                            <a:srgbClr val="0D132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CI/CD 过程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sz="1300" b="0">
                          <a:solidFill>
                            <a:srgbClr val="2E343C"/>
                          </a:solidFill>
                          <a:latin typeface="Noto Sans SC"/>
                        </a:rPr>
                        <a:t>　14 个 Job 门禁链，测试失败即阻断合并与部署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536174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　.github/workflows/ci.yml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32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500" b="1" i="0" u="none" strike="noStrike">
                          <a:solidFill>
                            <a:srgbClr val="0D132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微服务拆分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2E343C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　6 个独立进程、独立库、独立部署的 Spring Boot 服务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536174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　microservices/services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32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500" b="1" i="0" u="none" strike="noStrike">
                          <a:solidFill>
                            <a:srgbClr val="0D132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数据归属管理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sz="1300" b="0" dirty="0">
                          <a:solidFill>
                            <a:srgbClr val="2E343C"/>
                          </a:solidFill>
                          <a:latin typeface="Noto Sans SC"/>
                        </a:rPr>
                        <a:t>　34 </a:t>
                      </a:r>
                      <a:r>
                        <a:rPr sz="1300" b="0" dirty="0" err="1">
                          <a:solidFill>
                            <a:srgbClr val="2E343C"/>
                          </a:solidFill>
                          <a:latin typeface="Noto Sans SC"/>
                        </a:rPr>
                        <a:t>张业务表一表一主</a:t>
                      </a:r>
                      <a:r>
                        <a:rPr lang="zh-CN" altLang="en-US" sz="1300" b="0" dirty="0">
                          <a:solidFill>
                            <a:srgbClr val="2E343C"/>
                          </a:solidFill>
                          <a:latin typeface="Noto Sans SC"/>
                        </a:rPr>
                        <a:t>，</a:t>
                      </a:r>
                      <a:r>
                        <a:rPr sz="1300" b="0" dirty="0">
                          <a:solidFill>
                            <a:srgbClr val="2E343C"/>
                          </a:solidFill>
                          <a:latin typeface="Noto Sans SC"/>
                        </a:rPr>
                        <a:t>6 </a:t>
                      </a:r>
                      <a:r>
                        <a:rPr sz="1300" b="0" dirty="0" err="1">
                          <a:solidFill>
                            <a:srgbClr val="2E343C"/>
                          </a:solidFill>
                          <a:latin typeface="Noto Sans SC"/>
                        </a:rPr>
                        <a:t>套独立</a:t>
                      </a:r>
                      <a:r>
                        <a:rPr sz="1300" b="0" dirty="0">
                          <a:solidFill>
                            <a:srgbClr val="2E343C"/>
                          </a:solidFill>
                          <a:latin typeface="Noto Sans SC"/>
                        </a:rPr>
                        <a:t> </a:t>
                      </a:r>
                      <a:r>
                        <a:rPr sz="1300" b="0" dirty="0" err="1">
                          <a:solidFill>
                            <a:srgbClr val="2E343C"/>
                          </a:solidFill>
                          <a:latin typeface="Noto Sans SC"/>
                        </a:rPr>
                        <a:t>MySQL，跨库访问被账号拒绝</a:t>
                      </a:r>
                      <a:endParaRPr lang="en-US" sz="1100" dirty="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536174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　k8s/mysql + 权限隔离测试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32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500" b="1" i="0" u="none" strike="noStrike">
                          <a:solidFill>
                            <a:srgbClr val="0D132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测试结果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sz="1300" b="0">
                          <a:solidFill>
                            <a:srgbClr val="2E343C"/>
                          </a:solidFill>
                          <a:latin typeface="Noto Sans SC"/>
                        </a:rPr>
                        <a:t>　单元 / 集成 / E2E 三层共 325 项全绿，需求可追溯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536174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　04_tests / docs/ci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932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500" b="1" i="0" u="none" strike="noStrike">
                          <a:solidFill>
                            <a:srgbClr val="0D132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自动扩缩容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sz="1300" b="0">
                          <a:solidFill>
                            <a:srgbClr val="2E343C"/>
                          </a:solidFill>
                          <a:latin typeface="Noto Sans SC"/>
                        </a:rPr>
                        <a:t>　6 个 HPA：副本 2→6、CPU 阈值 60%，09-02 已实测通过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536174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　k8s/hpa.yaml / 04_tests/stress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932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500" b="1" i="0" u="none" strike="noStrike">
                          <a:solidFill>
                            <a:srgbClr val="0D132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故障处理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2E343C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　身份服务宕机真实实验：故障不级联、数据不变、自动恢复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536174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　04_tests/fault/results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932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500" b="1" i="0" u="none" strike="noStrike">
                          <a:solidFill>
                            <a:srgbClr val="0D132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性能对比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sz="1300" b="0">
                          <a:solidFill>
                            <a:srgbClr val="2E343C"/>
                          </a:solidFill>
                          <a:latin typeface="Noto Sans SC"/>
                        </a:rPr>
                        <a:t>　同机同数据同脚本，2 场景 × 3 轮已实测出数；并发下单防超卖验证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 dirty="0">
                          <a:solidFill>
                            <a:srgbClr val="536174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　04_tests/stress/k6</a:t>
                      </a:r>
                      <a:endParaRPr lang="en-US" sz="1100" dirty="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8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11200" y="330200"/>
            <a:ext cx="6350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2563EB"/>
                </a:solidFill>
                <a:latin typeface="微软雅黑"/>
                <a:ea typeface="Roboto Mono"/>
                <a:cs typeface="Roboto Mono"/>
                <a:sym typeface="Roboto Mono"/>
              </a:rPr>
              <a:t>02 / PROCESS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10769600" y="330200"/>
            <a:ext cx="7112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8C96A6"/>
                </a:solidFill>
                <a:latin typeface="微软雅黑"/>
                <a:ea typeface="Roboto Mono"/>
                <a:cs typeface="Roboto Mono"/>
                <a:sym typeface="Roboto Mono"/>
              </a:rPr>
              <a:t>03 / 20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11200" y="584200"/>
            <a:ext cx="107696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600" b="1" i="0" u="none" strike="noStrike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组内分工与大模型使用</a:t>
            </a:r>
            <a:endParaRPr lang="en-US" sz="1100"/>
          </a:p>
        </p:txBody>
      </p:sp>
      <p:cxnSp>
        <p:nvCxnSpPr>
          <p:cNvPr id="5" name="Connector 5"/>
          <p:cNvCxnSpPr/>
          <p:nvPr/>
        </p:nvCxnSpPr>
        <p:spPr>
          <a:xfrm rot="-4053">
            <a:off x="711204" y="1162050"/>
            <a:ext cx="10769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9DEE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" name="TextBox 5"/>
          <p:cNvSpPr txBox="1"/>
          <p:nvPr/>
        </p:nvSpPr>
        <p:spPr>
          <a:xfrm>
            <a:off x="712800" y="1296000"/>
            <a:ext cx="5220000" cy="251999"/>
          </a:xfrm>
          <a:prstGeom prst="rect">
            <a:avLst/>
          </a:prstGeom>
          <a:noFill/>
        </p:spPr>
        <p:txBody>
          <a:bodyPr wrap="square" lIns="36000" tIns="10800" rIns="36000" bIns="10800" anchor="t">
            <a:spAutoFit/>
          </a:bodyPr>
          <a:lstStyle/>
          <a:p>
            <a:pPr algn="l"/>
            <a:r>
              <a:rPr sz="1700" b="1">
                <a:solidFill>
                  <a:srgbClr val="1F3864"/>
                </a:solidFill>
                <a:latin typeface="微软雅黑"/>
              </a:rPr>
              <a:t>组内分工方案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712800" y="1602000"/>
            <a:ext cx="5220000" cy="0"/>
          </a:xfrm>
          <a:prstGeom prst="line">
            <a:avLst/>
          </a:prstGeom>
          <a:ln w="12700">
            <a:solidFill>
              <a:srgbClr val="3B5A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712800" y="1728000"/>
            <a:ext cx="5220000" cy="223200"/>
          </a:xfrm>
          <a:prstGeom prst="rect">
            <a:avLst/>
          </a:prstGeom>
          <a:noFill/>
        </p:spPr>
        <p:txBody>
          <a:bodyPr wrap="square" lIns="36000" tIns="10800" rIns="36000" bIns="10800" anchor="t">
            <a:spAutoFit/>
          </a:bodyPr>
          <a:lstStyle/>
          <a:p>
            <a:pPr algn="l"/>
            <a:r>
              <a:rPr sz="1600" b="1">
                <a:solidFill>
                  <a:srgbClr val="1F3864"/>
                </a:solidFill>
                <a:latin typeface="微软雅黑"/>
              </a:rPr>
              <a:t>邹林利 · 测试验收 / 六服务拆分收尾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2800" y="1998000"/>
            <a:ext cx="5220000" cy="360000"/>
          </a:xfrm>
          <a:prstGeom prst="rect">
            <a:avLst/>
          </a:prstGeom>
          <a:noFill/>
        </p:spPr>
        <p:txBody>
          <a:bodyPr wrap="square" lIns="36000" tIns="10800" rIns="36000" bIns="10800" anchor="t">
            <a:spAutoFit/>
          </a:bodyPr>
          <a:lstStyle/>
          <a:p>
            <a:pPr algn="l"/>
            <a:r>
              <a:rPr sz="1400" b="0">
                <a:solidFill>
                  <a:srgbClr val="5A6B8C"/>
                </a:solidFill>
                <a:latin typeface="微软雅黑"/>
              </a:rPr>
              <a:t>CI 用例门禁与真实 E2E；HPA / 故障 / 性能实验；需求用例与追溯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2800" y="2700000"/>
            <a:ext cx="5220000" cy="223200"/>
          </a:xfrm>
          <a:prstGeom prst="rect">
            <a:avLst/>
          </a:prstGeom>
          <a:noFill/>
        </p:spPr>
        <p:txBody>
          <a:bodyPr wrap="square" lIns="36000" tIns="10800" rIns="36000" bIns="10800" anchor="t">
            <a:spAutoFit/>
          </a:bodyPr>
          <a:lstStyle/>
          <a:p>
            <a:pPr algn="l"/>
            <a:r>
              <a:rPr sz="1600" b="1">
                <a:solidFill>
                  <a:srgbClr val="1F3864"/>
                </a:solidFill>
                <a:latin typeface="微软雅黑"/>
              </a:rPr>
              <a:t>李科 · 部署闭环 / 需求设计文档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2800" y="2970000"/>
            <a:ext cx="5220000" cy="360000"/>
          </a:xfrm>
          <a:prstGeom prst="rect">
            <a:avLst/>
          </a:prstGeom>
          <a:noFill/>
        </p:spPr>
        <p:txBody>
          <a:bodyPr wrap="square" lIns="36000" tIns="10800" rIns="36000" bIns="10800" anchor="t">
            <a:spAutoFit/>
          </a:bodyPr>
          <a:lstStyle/>
          <a:p>
            <a:pPr algn="l"/>
            <a:r>
              <a:rPr sz="1400" b="0">
                <a:solidFill>
                  <a:srgbClr val="5A6B8C"/>
                </a:solidFill>
                <a:latin typeface="微软雅黑"/>
              </a:rPr>
              <a:t>微服务首批拆分；K8s 自动部署与健康检查；概要设计；答辩 PPT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2800" y="3671999"/>
            <a:ext cx="5220000" cy="223200"/>
          </a:xfrm>
          <a:prstGeom prst="rect">
            <a:avLst/>
          </a:prstGeom>
          <a:noFill/>
        </p:spPr>
        <p:txBody>
          <a:bodyPr wrap="square" lIns="36000" tIns="10800" rIns="36000" bIns="10800" anchor="t">
            <a:spAutoFit/>
          </a:bodyPr>
          <a:lstStyle/>
          <a:p>
            <a:pPr algn="l"/>
            <a:r>
              <a:rPr sz="1600" b="1">
                <a:solidFill>
                  <a:srgbClr val="1F3864"/>
                </a:solidFill>
                <a:latin typeface="微软雅黑"/>
              </a:rPr>
              <a:t>杜新诚 · 拆分代码 / 数据库迁移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2800" y="3941999"/>
            <a:ext cx="5220000" cy="360000"/>
          </a:xfrm>
          <a:prstGeom prst="rect">
            <a:avLst/>
          </a:prstGeom>
          <a:noFill/>
        </p:spPr>
        <p:txBody>
          <a:bodyPr wrap="square" lIns="36000" tIns="10800" rIns="36000" bIns="10800" anchor="t">
            <a:spAutoFit/>
          </a:bodyPr>
          <a:lstStyle/>
          <a:p>
            <a:pPr algn="l"/>
            <a:r>
              <a:rPr sz="1400" b="0">
                <a:solidFill>
                  <a:srgbClr val="5A6B8C"/>
                </a:solidFill>
                <a:latin typeface="微软雅黑"/>
              </a:rPr>
              <a:t>微服务拆分核心代码；Flyway 迁移与部署门禁；看板归档；演示材料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2800" y="4644000"/>
            <a:ext cx="5220000" cy="223200"/>
          </a:xfrm>
          <a:prstGeom prst="rect">
            <a:avLst/>
          </a:prstGeom>
          <a:noFill/>
        </p:spPr>
        <p:txBody>
          <a:bodyPr wrap="square" lIns="36000" tIns="10800" rIns="36000" bIns="10800" anchor="t">
            <a:spAutoFit/>
          </a:bodyPr>
          <a:lstStyle/>
          <a:p>
            <a:pPr algn="l"/>
            <a:r>
              <a:rPr sz="1600" b="1">
                <a:solidFill>
                  <a:srgbClr val="1F3864"/>
                </a:solidFill>
                <a:latin typeface="微软雅黑"/>
              </a:rPr>
              <a:t>陈一鸿 · CI/CD 发布 / 安全门禁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2800" y="4914000"/>
            <a:ext cx="5220000" cy="360000"/>
          </a:xfrm>
          <a:prstGeom prst="rect">
            <a:avLst/>
          </a:prstGeom>
          <a:noFill/>
        </p:spPr>
        <p:txBody>
          <a:bodyPr wrap="square" lIns="36000" tIns="10800" rIns="36000" bIns="10800" anchor="t">
            <a:spAutoFit/>
          </a:bodyPr>
          <a:lstStyle/>
          <a:p>
            <a:pPr algn="l"/>
            <a:r>
              <a:rPr sz="1400" b="0">
                <a:solidFill>
                  <a:srgbClr val="5A6B8C"/>
                </a:solidFill>
                <a:latin typeface="微软雅黑"/>
              </a:rPr>
              <a:t>GHCR 镜像发布与持续部署；CodeQL 安全门禁；镜像加固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2800" y="5652000"/>
            <a:ext cx="5220000" cy="251999"/>
          </a:xfrm>
          <a:prstGeom prst="rect">
            <a:avLst/>
          </a:prstGeom>
          <a:noFill/>
        </p:spPr>
        <p:txBody>
          <a:bodyPr wrap="square" lIns="36000" tIns="10800" rIns="36000" bIns="10800" anchor="t">
            <a:spAutoFit/>
          </a:bodyPr>
          <a:lstStyle/>
          <a:p>
            <a:pPr algn="l"/>
            <a:r>
              <a:rPr sz="1400" b="0">
                <a:solidFill>
                  <a:srgbClr val="3B5A8C"/>
                </a:solidFill>
                <a:latin typeface="微软雅黑"/>
              </a:rPr>
              <a:t>协作机制：每日站会、看板任务流转、PR 评审全程留痕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2800" y="6012000"/>
            <a:ext cx="5220000" cy="251999"/>
          </a:xfrm>
          <a:prstGeom prst="rect">
            <a:avLst/>
          </a:prstGeom>
          <a:noFill/>
        </p:spPr>
        <p:txBody>
          <a:bodyPr wrap="square" lIns="36000" tIns="10800" rIns="36000" bIns="10800" anchor="t">
            <a:spAutoFit/>
          </a:bodyPr>
          <a:lstStyle/>
          <a:p>
            <a:pPr algn="l"/>
            <a:r>
              <a:rPr sz="1400" b="0">
                <a:solidFill>
                  <a:srgbClr val="5A6B8C"/>
                </a:solidFill>
                <a:latin typeface="微软雅黑"/>
              </a:rPr>
              <a:t>Git 全量留痕：245 次提交、两个阶段标签冻结基线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36000" y="1296000"/>
            <a:ext cx="5148000" cy="251999"/>
          </a:xfrm>
          <a:prstGeom prst="rect">
            <a:avLst/>
          </a:prstGeom>
          <a:noFill/>
        </p:spPr>
        <p:txBody>
          <a:bodyPr wrap="square" lIns="36000" tIns="10800" rIns="36000" bIns="10800" anchor="t">
            <a:spAutoFit/>
          </a:bodyPr>
          <a:lstStyle/>
          <a:p>
            <a:pPr algn="l"/>
            <a:r>
              <a:rPr sz="1700" b="1">
                <a:solidFill>
                  <a:srgbClr val="1F3864"/>
                </a:solidFill>
                <a:latin typeface="微软雅黑"/>
              </a:rPr>
              <a:t>大模型使用情况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336000" y="1602000"/>
            <a:ext cx="5148000" cy="0"/>
          </a:xfrm>
          <a:prstGeom prst="line">
            <a:avLst/>
          </a:prstGeom>
          <a:ln w="12700">
            <a:solidFill>
              <a:srgbClr val="3B5A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6336000" y="1728000"/>
            <a:ext cx="5148000" cy="223200"/>
          </a:xfrm>
          <a:prstGeom prst="rect">
            <a:avLst/>
          </a:prstGeom>
          <a:noFill/>
        </p:spPr>
        <p:txBody>
          <a:bodyPr wrap="square" lIns="36000" tIns="10800" rIns="36000" bIns="10800" anchor="t">
            <a:spAutoFit/>
          </a:bodyPr>
          <a:lstStyle/>
          <a:p>
            <a:pPr algn="l"/>
            <a:r>
              <a:rPr sz="1600" b="1">
                <a:solidFill>
                  <a:srgbClr val="1F3864"/>
                </a:solidFill>
                <a:latin typeface="微软雅黑"/>
              </a:rPr>
              <a:t>工具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36000" y="1998000"/>
            <a:ext cx="5148000" cy="360000"/>
          </a:xfrm>
          <a:prstGeom prst="rect">
            <a:avLst/>
          </a:prstGeom>
          <a:noFill/>
        </p:spPr>
        <p:txBody>
          <a:bodyPr wrap="square" lIns="36000" tIns="10800" rIns="36000" bIns="10800" anchor="t">
            <a:spAutoFit/>
          </a:bodyPr>
          <a:lstStyle/>
          <a:p>
            <a:pPr algn="l"/>
            <a:r>
              <a:rPr sz="1500" b="0">
                <a:solidFill>
                  <a:srgbClr val="5A6B8C"/>
                </a:solidFill>
                <a:latin typeface="微软雅黑"/>
              </a:rPr>
              <a:t>Codex（AI 编程助手）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36000" y="2700000"/>
            <a:ext cx="5148000" cy="223200"/>
          </a:xfrm>
          <a:prstGeom prst="rect">
            <a:avLst/>
          </a:prstGeom>
          <a:noFill/>
        </p:spPr>
        <p:txBody>
          <a:bodyPr wrap="square" lIns="36000" tIns="10800" rIns="36000" bIns="10800" anchor="t">
            <a:spAutoFit/>
          </a:bodyPr>
          <a:lstStyle/>
          <a:p>
            <a:pPr algn="l"/>
            <a:r>
              <a:rPr sz="1600" b="1">
                <a:solidFill>
                  <a:srgbClr val="1F3864"/>
                </a:solidFill>
                <a:latin typeface="微软雅黑"/>
              </a:rPr>
              <a:t>用途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36000" y="2970000"/>
            <a:ext cx="5148000" cy="1007999"/>
          </a:xfrm>
          <a:prstGeom prst="rect">
            <a:avLst/>
          </a:prstGeom>
          <a:noFill/>
        </p:spPr>
        <p:txBody>
          <a:bodyPr wrap="square" lIns="36000" tIns="10800" rIns="36000" bIns="10800" anchor="t">
            <a:spAutoFit/>
          </a:bodyPr>
          <a:lstStyle/>
          <a:p>
            <a:pPr algn="l"/>
            <a:r>
              <a:rPr sz="1500" b="0">
                <a:solidFill>
                  <a:srgbClr val="5A6B8C"/>
                </a:solidFill>
                <a:latin typeface="微软雅黑"/>
              </a:rPr>
              <a:t>辅助编写代码脚手架与单元测试；生成与润色需求 / 设计 / 测试文档；辅助排查报错与脚本编写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36000" y="4031999"/>
            <a:ext cx="5148000" cy="223200"/>
          </a:xfrm>
          <a:prstGeom prst="rect">
            <a:avLst/>
          </a:prstGeom>
          <a:noFill/>
        </p:spPr>
        <p:txBody>
          <a:bodyPr wrap="square" lIns="36000" tIns="10800" rIns="36000" bIns="10800" anchor="t">
            <a:spAutoFit/>
          </a:bodyPr>
          <a:lstStyle/>
          <a:p>
            <a:pPr algn="l"/>
            <a:r>
              <a:rPr sz="1600" b="1">
                <a:solidFill>
                  <a:srgbClr val="1F3864"/>
                </a:solidFill>
                <a:latin typeface="微软雅黑"/>
              </a:rPr>
              <a:t>人工检查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36000" y="4302000"/>
            <a:ext cx="5148000" cy="1655999"/>
          </a:xfrm>
          <a:prstGeom prst="rect">
            <a:avLst/>
          </a:prstGeom>
          <a:noFill/>
        </p:spPr>
        <p:txBody>
          <a:bodyPr wrap="square" lIns="36000" tIns="10800" rIns="36000" bIns="10800" anchor="t">
            <a:spAutoFit/>
          </a:bodyPr>
          <a:lstStyle/>
          <a:p>
            <a:pPr algn="l"/>
            <a:r>
              <a:rPr sz="1500" b="0">
                <a:solidFill>
                  <a:srgbClr val="5A6B8C"/>
                </a:solidFill>
                <a:latin typeface="微软雅黑"/>
              </a:rPr>
              <a:t>所有 AI 产出经人工代码评审（PR review）；CI 六层测试门禁拦截；锁 / 事务 / 幂等等关键实现人工核对并补充边界测试；AI 使用记录留存可查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36000" y="6083999"/>
            <a:ext cx="5148000" cy="251999"/>
          </a:xfrm>
          <a:prstGeom prst="rect">
            <a:avLst/>
          </a:prstGeom>
          <a:noFill/>
        </p:spPr>
        <p:txBody>
          <a:bodyPr wrap="square" lIns="36000" tIns="10800" rIns="36000" bIns="10800" anchor="t">
            <a:spAutoFit/>
          </a:bodyPr>
          <a:lstStyle/>
          <a:p>
            <a:pPr algn="l"/>
            <a:r>
              <a:rPr sz="1500" b="0">
                <a:solidFill>
                  <a:srgbClr val="3B5A8C"/>
                </a:solidFill>
                <a:latin typeface="微软雅黑"/>
              </a:rPr>
              <a:t>AI 仅作辅助，最终成果经人工与自动化测试双重验证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8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11200" y="330200"/>
            <a:ext cx="6350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2563EB"/>
                </a:solidFill>
                <a:latin typeface="微软雅黑"/>
                <a:ea typeface="Roboto Mono"/>
                <a:cs typeface="Roboto Mono"/>
                <a:sym typeface="Roboto Mono"/>
              </a:rPr>
              <a:t>03 / ROADMAP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10769600" y="330200"/>
            <a:ext cx="7112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8C96A6"/>
                </a:solidFill>
                <a:latin typeface="微软雅黑"/>
                <a:ea typeface="Roboto Mono"/>
                <a:cs typeface="Roboto Mono"/>
                <a:sym typeface="Roboto Mono"/>
              </a:rPr>
              <a:t>04 / 20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11200" y="584200"/>
            <a:ext cx="107696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600" b="1" i="0" u="none" strike="noStrike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十天两阶段实施路线</a:t>
            </a:r>
            <a:endParaRPr lang="en-US" sz="1100"/>
          </a:p>
        </p:txBody>
      </p:sp>
      <p:cxnSp>
        <p:nvCxnSpPr>
          <p:cNvPr id="5" name="Connector 5"/>
          <p:cNvCxnSpPr/>
          <p:nvPr/>
        </p:nvCxnSpPr>
        <p:spPr>
          <a:xfrm rot="-4053">
            <a:off x="711204" y="1162050"/>
            <a:ext cx="10769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9DEE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" name="AutoShape 6"/>
          <p:cNvSpPr/>
          <p:nvPr/>
        </p:nvSpPr>
        <p:spPr>
          <a:xfrm>
            <a:off x="711200" y="1440000"/>
            <a:ext cx="5257800" cy="468000"/>
          </a:xfrm>
          <a:prstGeom prst="roundRect">
            <a:avLst>
              <a:gd name="adj" fmla="val 0"/>
            </a:avLst>
          </a:prstGeom>
          <a:solidFill>
            <a:srgbClr val="0D132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889000" y="1440000"/>
            <a:ext cx="4902200" cy="46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阶段一 · 单体复活与工程化（08-22 → 08-27）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711200" y="1907999"/>
            <a:ext cx="5257800" cy="2490349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D9DEE7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914400" y="1997999"/>
            <a:ext cx="5112000" cy="2173807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139700" indent="-139700" algn="l">
              <a:lnSpc>
                <a:spcPct val="141666"/>
              </a:lnSpc>
              <a:spcAft>
                <a:spcPts val="1800"/>
              </a:spcAft>
              <a:buClr>
                <a:srgbClr val="2E343C"/>
              </a:buClr>
              <a:buChar char="•"/>
              <a:defRPr/>
            </a:pPr>
            <a:r>
              <a:rPr lang="en-US" sz="1400" b="0" i="0" u="none" strike="noStrike" dirty="0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恢复上学期前后端单体，19 </a:t>
            </a:r>
            <a:r>
              <a:rPr lang="en-US" sz="1400" b="0" i="0" u="none" strike="noStrike" dirty="0" err="1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个用例本地可运行</a:t>
            </a:r>
            <a:endParaRPr lang="en-US" sz="1100" dirty="0"/>
          </a:p>
          <a:p>
            <a:pPr marL="139700" indent="-139700" algn="l">
              <a:lnSpc>
                <a:spcPct val="141666"/>
              </a:lnSpc>
              <a:spcAft>
                <a:spcPts val="1800"/>
              </a:spcAft>
              <a:buClr>
                <a:srgbClr val="2E343C"/>
              </a:buClr>
              <a:buChar char="•"/>
            </a:pPr>
            <a:r>
              <a:rPr lang="en-US" sz="1400" b="0" i="0" u="none" strike="noStrike" dirty="0" err="1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补齐需求规格、设计说明、测试用例与追溯矩阵</a:t>
            </a:r>
            <a:endParaRPr lang="en-US" sz="1400" b="0" i="0" u="none" strike="noStrike" dirty="0">
              <a:solidFill>
                <a:srgbClr val="2E343C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139700" indent="-139700" algn="l">
              <a:lnSpc>
                <a:spcPct val="141666"/>
              </a:lnSpc>
              <a:spcAft>
                <a:spcPts val="1800"/>
              </a:spcAft>
              <a:buClr>
                <a:srgbClr val="2E343C"/>
              </a:buClr>
              <a:buChar char="•"/>
            </a:pPr>
            <a:r>
              <a:rPr lang="en-US" sz="1400" b="0" i="0" u="none" strike="noStrike" dirty="0" err="1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前后端 Dockerfile 与 docker-compose 一键部署</a:t>
            </a:r>
            <a:endParaRPr lang="en-US" sz="1400" b="0" i="0" u="none" strike="noStrike" dirty="0">
              <a:solidFill>
                <a:srgbClr val="2E343C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139700" indent="-139700" algn="l">
              <a:lnSpc>
                <a:spcPct val="141666"/>
              </a:lnSpc>
              <a:spcAft>
                <a:spcPts val="1800"/>
              </a:spcAft>
              <a:buClr>
                <a:srgbClr val="2E343C"/>
              </a:buClr>
              <a:buChar char="•"/>
            </a:pPr>
            <a:r>
              <a:rPr lang="en-US" sz="1400" b="0" i="0" u="none" strike="noStrike" dirty="0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GitHub Actions </a:t>
            </a:r>
            <a:r>
              <a:rPr lang="en-US" sz="1400" b="0" i="0" u="none" strike="noStrike" dirty="0" err="1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流水线：测试门禁、自动构建</a:t>
            </a:r>
            <a:endParaRPr lang="en-US" sz="1400" b="0" i="0" u="none" strike="noStrike" dirty="0">
              <a:solidFill>
                <a:srgbClr val="2E343C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139700" indent="-139700" algn="l">
              <a:lnSpc>
                <a:spcPct val="141666"/>
              </a:lnSpc>
              <a:spcAft>
                <a:spcPts val="1800"/>
              </a:spcAft>
              <a:buClr>
                <a:srgbClr val="2E343C"/>
              </a:buClr>
              <a:buChar char="•"/>
            </a:pPr>
            <a:r>
              <a:rPr lang="en-US" sz="1400" b="0" i="0" u="none" strike="noStrike" dirty="0" err="1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冻结回归基线，建立 monolith-start 标签</a:t>
            </a:r>
          </a:p>
        </p:txBody>
      </p:sp>
      <p:sp>
        <p:nvSpPr>
          <p:cNvPr id="10" name="AutoShape 10"/>
          <p:cNvSpPr/>
          <p:nvPr/>
        </p:nvSpPr>
        <p:spPr>
          <a:xfrm>
            <a:off x="6223000" y="1440000"/>
            <a:ext cx="5257800" cy="468000"/>
          </a:xfrm>
          <a:prstGeom prst="roundRect">
            <a:avLst>
              <a:gd name="adj" fmla="val 0"/>
            </a:avLst>
          </a:prstGeom>
          <a:solidFill>
            <a:srgbClr val="2563E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6400800" y="1440000"/>
            <a:ext cx="4902200" cy="46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spcAft>
                <a:spcPts val="2000"/>
              </a:spcAft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阶段二 · 微服务与云原生（08-28 → 09-01）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6223000" y="1908000"/>
            <a:ext cx="5257800" cy="2490348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D9DEE7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" name="AutoShape 13"/>
          <p:cNvSpPr/>
          <p:nvPr/>
        </p:nvSpPr>
        <p:spPr>
          <a:xfrm>
            <a:off x="6426200" y="1998000"/>
            <a:ext cx="5112000" cy="2199204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139700" indent="-139700" algn="l">
              <a:lnSpc>
                <a:spcPct val="141666"/>
              </a:lnSpc>
              <a:spcAft>
                <a:spcPts val="1800"/>
              </a:spcAft>
              <a:buClr>
                <a:srgbClr val="2E343C"/>
              </a:buClr>
              <a:buChar char="•"/>
              <a:defRPr/>
            </a:pPr>
            <a:r>
              <a:rPr lang="en-US" sz="1400" b="0" i="0" u="none" strike="noStrike" dirty="0" err="1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后端物理拆分为 6 个业务微服务（不少于 3 个）</a:t>
            </a:r>
            <a:endParaRPr lang="en-US" sz="1100" dirty="0"/>
          </a:p>
          <a:p>
            <a:pPr marL="139700" indent="-139700" algn="l">
              <a:lnSpc>
                <a:spcPct val="141666"/>
              </a:lnSpc>
              <a:spcAft>
                <a:spcPts val="1800"/>
              </a:spcAft>
              <a:buClr>
                <a:srgbClr val="2E343C"/>
              </a:buClr>
              <a:buChar char="•"/>
            </a:pPr>
            <a:r>
              <a:rPr lang="en-US" sz="1400" b="0" i="0" u="none" strike="noStrike" dirty="0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6 </a:t>
            </a:r>
            <a:r>
              <a:rPr lang="en-US" sz="1400" b="0" i="0" u="none" strike="noStrike" dirty="0" err="1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套独立</a:t>
            </a:r>
            <a:r>
              <a:rPr lang="en-US" sz="1400" b="0" i="0" u="none" strike="noStrike" dirty="0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 MySQL 与 </a:t>
            </a:r>
            <a:r>
              <a:rPr lang="en-US" sz="1400" b="0" i="0" u="none" strike="noStrike" dirty="0" err="1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Redis，内部接口令牌鉴权</a:t>
            </a:r>
            <a:endParaRPr lang="en-US" sz="1400" b="0" i="0" u="none" strike="noStrike" dirty="0">
              <a:solidFill>
                <a:srgbClr val="2E343C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139700" indent="-139700" algn="l">
              <a:lnSpc>
                <a:spcPct val="141666"/>
              </a:lnSpc>
              <a:spcAft>
                <a:spcPts val="1800"/>
              </a:spcAft>
              <a:buClr>
                <a:srgbClr val="2E343C"/>
              </a:buClr>
              <a:buChar char="•"/>
            </a:pPr>
            <a:r>
              <a:rPr lang="en-US" sz="1400" b="0" i="0" u="none" strike="noStrike" dirty="0" err="1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Kubernetes：Deployment、StatefulSet、Service</a:t>
            </a:r>
            <a:endParaRPr lang="en-US" sz="1400" b="0" i="0" u="none" strike="noStrike" dirty="0">
              <a:solidFill>
                <a:srgbClr val="2E343C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139700" indent="-139700" algn="l">
              <a:lnSpc>
                <a:spcPct val="141666"/>
              </a:lnSpc>
              <a:spcAft>
                <a:spcPts val="1800"/>
              </a:spcAft>
              <a:buClr>
                <a:srgbClr val="2E343C"/>
              </a:buClr>
              <a:buChar char="•"/>
            </a:pPr>
            <a:r>
              <a:rPr lang="en-US" sz="1400" b="0" i="0" u="none" strike="noStrike" dirty="0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HPA 自动扩缩容、故障注入、k6 </a:t>
            </a:r>
            <a:r>
              <a:rPr lang="en-US" sz="1400" b="0" i="0" u="none" strike="noStrike" dirty="0" err="1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性能对比实验</a:t>
            </a:r>
            <a:endParaRPr lang="en-US" sz="1400" b="0" i="0" u="none" strike="noStrike" dirty="0">
              <a:solidFill>
                <a:srgbClr val="2E343C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139700" indent="-139700" algn="l">
              <a:lnSpc>
                <a:spcPct val="141666"/>
              </a:lnSpc>
              <a:spcAft>
                <a:spcPts val="1800"/>
              </a:spcAft>
              <a:buClr>
                <a:srgbClr val="2E343C"/>
              </a:buClr>
              <a:buChar char="•"/>
            </a:pPr>
            <a:r>
              <a:rPr lang="en-US" sz="1400" b="0" i="0" u="none" strike="noStrike" dirty="0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17 项微服务 E2E 全绿，建立 microservices-phase1 标签</a:t>
            </a:r>
          </a:p>
        </p:txBody>
      </p:sp>
      <p:cxnSp>
        <p:nvCxnSpPr>
          <p:cNvPr id="14" name="Connector 14"/>
          <p:cNvCxnSpPr>
            <a:cxnSpLocks/>
          </p:cNvCxnSpPr>
          <p:nvPr/>
        </p:nvCxnSpPr>
        <p:spPr>
          <a:xfrm>
            <a:off x="760171" y="6247726"/>
            <a:ext cx="10720629" cy="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BFD7FF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16" name="AutoShape 16"/>
          <p:cNvSpPr/>
          <p:nvPr/>
        </p:nvSpPr>
        <p:spPr>
          <a:xfrm>
            <a:off x="3175000" y="4932000"/>
            <a:ext cx="152400" cy="152400"/>
          </a:xfrm>
          <a:prstGeom prst="ellipse">
            <a:avLst/>
          </a:prstGeom>
          <a:solidFill>
            <a:srgbClr val="2563E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AutoShape 17"/>
          <p:cNvSpPr/>
          <p:nvPr/>
        </p:nvSpPr>
        <p:spPr>
          <a:xfrm>
            <a:off x="5207000" y="4932000"/>
            <a:ext cx="152400" cy="152400"/>
          </a:xfrm>
          <a:prstGeom prst="ellipse">
            <a:avLst/>
          </a:prstGeom>
          <a:solidFill>
            <a:srgbClr val="0D132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" name="AutoShape 18"/>
          <p:cNvSpPr/>
          <p:nvPr/>
        </p:nvSpPr>
        <p:spPr>
          <a:xfrm>
            <a:off x="7239000" y="4932000"/>
            <a:ext cx="152400" cy="152400"/>
          </a:xfrm>
          <a:prstGeom prst="ellipse">
            <a:avLst/>
          </a:prstGeom>
          <a:solidFill>
            <a:srgbClr val="2563E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" name="AutoShape 19"/>
          <p:cNvSpPr/>
          <p:nvPr/>
        </p:nvSpPr>
        <p:spPr>
          <a:xfrm>
            <a:off x="9271000" y="4932000"/>
            <a:ext cx="152400" cy="152400"/>
          </a:xfrm>
          <a:prstGeom prst="ellipse">
            <a:avLst/>
          </a:prstGeom>
          <a:solidFill>
            <a:srgbClr val="2563E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" name="AutoShape 20"/>
          <p:cNvSpPr/>
          <p:nvPr/>
        </p:nvSpPr>
        <p:spPr>
          <a:xfrm>
            <a:off x="10998200" y="4932000"/>
            <a:ext cx="152400" cy="152400"/>
          </a:xfrm>
          <a:prstGeom prst="ellipse">
            <a:avLst/>
          </a:prstGeom>
          <a:solidFill>
            <a:srgbClr val="C9302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" name="AutoShape 21"/>
          <p:cNvSpPr/>
          <p:nvPr/>
        </p:nvSpPr>
        <p:spPr>
          <a:xfrm>
            <a:off x="381000" y="4428000"/>
            <a:ext cx="1676400" cy="3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2563EB"/>
                </a:solidFill>
                <a:latin typeface="Roboto Mono"/>
                <a:ea typeface="Roboto Mono"/>
                <a:cs typeface="Roboto Mono"/>
                <a:sym typeface="Roboto Mono"/>
              </a:rPr>
              <a:t>08-22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381000" y="5220000"/>
            <a:ext cx="1676400" cy="93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16666"/>
              </a:lnSpc>
              <a:defRPr/>
            </a:pPr>
            <a:r>
              <a:rPr lang="en-US" sz="1600" b="0" i="0" u="none" strike="noStrike">
                <a:solidFill>
                  <a:srgbClr val="536174"/>
                </a:solidFill>
                <a:latin typeface="Noto Sans SC"/>
                <a:ea typeface="Noto Sans SC"/>
                <a:cs typeface="Noto Sans SC"/>
                <a:sym typeface="Noto Sans SC"/>
              </a:rPr>
              <a:t>项目启动</a:t>
            </a:r>
            <a:endParaRPr lang="en-US" sz="1100"/>
          </a:p>
          <a:p>
            <a:pPr marL="0" indent="0" algn="ctr">
              <a:lnSpc>
                <a:spcPct val="116666"/>
              </a:lnSpc>
            </a:pPr>
            <a:r>
              <a:rPr lang="en-US" sz="1600" b="0" i="0" u="none" strike="noStrike">
                <a:solidFill>
                  <a:srgbClr val="536174"/>
                </a:solidFill>
                <a:latin typeface="Noto Sans SC"/>
                <a:ea typeface="Noto Sans SC"/>
                <a:cs typeface="Noto Sans SC"/>
                <a:sym typeface="Noto Sans SC"/>
              </a:rPr>
              <a:t>需求冻结</a:t>
            </a:r>
          </a:p>
        </p:txBody>
      </p:sp>
      <p:sp>
        <p:nvSpPr>
          <p:cNvPr id="23" name="AutoShape 23"/>
          <p:cNvSpPr/>
          <p:nvPr/>
        </p:nvSpPr>
        <p:spPr>
          <a:xfrm>
            <a:off x="2413000" y="4428000"/>
            <a:ext cx="1676400" cy="3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2563EB"/>
                </a:solidFill>
                <a:latin typeface="Roboto Mono"/>
                <a:ea typeface="Roboto Mono"/>
                <a:cs typeface="Roboto Mono"/>
                <a:sym typeface="Roboto Mono"/>
              </a:rPr>
              <a:t>08-25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2413000" y="5220000"/>
            <a:ext cx="1676400" cy="93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16666"/>
              </a:lnSpc>
              <a:defRPr/>
            </a:pPr>
            <a:r>
              <a:rPr lang="en-US" sz="1600" b="0" i="0" u="none" strike="noStrike">
                <a:solidFill>
                  <a:srgbClr val="536174"/>
                </a:solidFill>
                <a:latin typeface="Noto Sans SC"/>
                <a:ea typeface="Noto Sans SC"/>
                <a:cs typeface="Noto Sans SC"/>
                <a:sym typeface="Noto Sans SC"/>
              </a:rPr>
              <a:t>单体测试</a:t>
            </a:r>
            <a:endParaRPr lang="en-US" sz="1100"/>
          </a:p>
          <a:p>
            <a:pPr marL="0" indent="0" algn="ctr">
              <a:lnSpc>
                <a:spcPct val="116666"/>
              </a:lnSpc>
            </a:pPr>
            <a:r>
              <a:rPr lang="en-US" sz="1600" b="0" i="0" u="none" strike="noStrike">
                <a:solidFill>
                  <a:srgbClr val="536174"/>
                </a:solidFill>
                <a:latin typeface="Noto Sans SC"/>
                <a:ea typeface="Noto Sans SC"/>
                <a:cs typeface="Noto Sans SC"/>
                <a:sym typeface="Noto Sans SC"/>
              </a:rPr>
              <a:t>全量转绿</a:t>
            </a:r>
          </a:p>
        </p:txBody>
      </p:sp>
      <p:sp>
        <p:nvSpPr>
          <p:cNvPr id="25" name="AutoShape 25"/>
          <p:cNvSpPr/>
          <p:nvPr/>
        </p:nvSpPr>
        <p:spPr>
          <a:xfrm>
            <a:off x="4445000" y="4428000"/>
            <a:ext cx="1676400" cy="3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0D1326"/>
                </a:solidFill>
                <a:latin typeface="Roboto Mono"/>
                <a:ea typeface="Roboto Mono"/>
                <a:cs typeface="Roboto Mono"/>
                <a:sym typeface="Roboto Mono"/>
              </a:rPr>
              <a:t>08-27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4445000" y="5220000"/>
            <a:ext cx="1676400" cy="93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16666"/>
              </a:lnSpc>
              <a:defRPr/>
            </a:pPr>
            <a:r>
              <a:rPr lang="en-US" sz="1600" b="0" i="0" u="none" strike="noStrike">
                <a:solidFill>
                  <a:srgbClr val="536174"/>
                </a:solidFill>
                <a:latin typeface="Noto Sans SC"/>
                <a:ea typeface="Noto Sans SC"/>
                <a:cs typeface="Noto Sans SC"/>
                <a:sym typeface="Noto Sans SC"/>
              </a:rPr>
              <a:t>中期验收</a:t>
            </a:r>
            <a:endParaRPr lang="en-US" sz="1100"/>
          </a:p>
          <a:p>
            <a:pPr marL="0" indent="0" algn="ctr">
              <a:lnSpc>
                <a:spcPct val="116666"/>
              </a:lnSpc>
            </a:pPr>
            <a:r>
              <a:rPr lang="en-US" sz="1600" b="0" i="0" u="none" strike="noStrike">
                <a:solidFill>
                  <a:srgbClr val="536174"/>
                </a:solidFill>
                <a:latin typeface="Noto Sans SC"/>
                <a:ea typeface="Noto Sans SC"/>
                <a:cs typeface="Noto Sans SC"/>
                <a:sym typeface="Noto Sans SC"/>
              </a:rPr>
              <a:t>基线冻结</a:t>
            </a:r>
          </a:p>
        </p:txBody>
      </p:sp>
      <p:sp>
        <p:nvSpPr>
          <p:cNvPr id="27" name="AutoShape 27"/>
          <p:cNvSpPr/>
          <p:nvPr/>
        </p:nvSpPr>
        <p:spPr>
          <a:xfrm>
            <a:off x="6477000" y="4428000"/>
            <a:ext cx="1676400" cy="3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2563EB"/>
                </a:solidFill>
                <a:latin typeface="Roboto Mono"/>
                <a:ea typeface="Roboto Mono"/>
                <a:cs typeface="Roboto Mono"/>
                <a:sym typeface="Roboto Mono"/>
              </a:rPr>
              <a:t>08-31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6477000" y="5220000"/>
            <a:ext cx="1676400" cy="93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16666"/>
              </a:lnSpc>
              <a:defRPr/>
            </a:pPr>
            <a:r>
              <a:rPr lang="en-US" sz="1600" b="0" i="0" u="none" strike="noStrike">
                <a:solidFill>
                  <a:srgbClr val="536174"/>
                </a:solidFill>
                <a:latin typeface="Noto Sans SC"/>
                <a:ea typeface="Noto Sans SC"/>
                <a:cs typeface="Noto Sans SC"/>
                <a:sym typeface="Noto Sans SC"/>
              </a:rPr>
              <a:t>六服务上线</a:t>
            </a:r>
            <a:endParaRPr lang="en-US" sz="1100"/>
          </a:p>
          <a:p>
            <a:pPr marL="0" indent="0" algn="ctr">
              <a:lnSpc>
                <a:spcPct val="116666"/>
              </a:lnSpc>
            </a:pPr>
            <a:r>
              <a:rPr lang="en-US" sz="1600" b="0" i="0" u="none" strike="noStrike">
                <a:solidFill>
                  <a:srgbClr val="536174"/>
                </a:solidFill>
                <a:latin typeface="Noto Sans SC"/>
                <a:ea typeface="Noto Sans SC"/>
                <a:cs typeface="Noto Sans SC"/>
                <a:sym typeface="Noto Sans SC"/>
              </a:rPr>
              <a:t>部署就绪</a:t>
            </a:r>
          </a:p>
        </p:txBody>
      </p:sp>
      <p:sp>
        <p:nvSpPr>
          <p:cNvPr id="29" name="AutoShape 29"/>
          <p:cNvSpPr/>
          <p:nvPr/>
        </p:nvSpPr>
        <p:spPr>
          <a:xfrm>
            <a:off x="8509000" y="4428000"/>
            <a:ext cx="1676400" cy="3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2563EB"/>
                </a:solidFill>
                <a:latin typeface="Roboto Mono"/>
                <a:ea typeface="Roboto Mono"/>
                <a:cs typeface="Roboto Mono"/>
                <a:sym typeface="Roboto Mono"/>
              </a:rPr>
              <a:t>09-01</a:t>
            </a:r>
            <a:endParaRPr lang="en-US" sz="1100"/>
          </a:p>
        </p:txBody>
      </p:sp>
      <p:sp>
        <p:nvSpPr>
          <p:cNvPr id="30" name="AutoShape 30"/>
          <p:cNvSpPr/>
          <p:nvPr/>
        </p:nvSpPr>
        <p:spPr>
          <a:xfrm>
            <a:off x="8509000" y="5220000"/>
            <a:ext cx="1676400" cy="93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16666"/>
              </a:lnSpc>
              <a:defRPr/>
            </a:pPr>
            <a:r>
              <a:rPr lang="en-US" sz="1600" b="0" i="0" u="none" strike="noStrike">
                <a:solidFill>
                  <a:srgbClr val="536174"/>
                </a:solidFill>
                <a:latin typeface="Noto Sans SC"/>
                <a:ea typeface="Noto Sans SC"/>
                <a:cs typeface="Noto Sans SC"/>
                <a:sym typeface="Noto Sans SC"/>
              </a:rPr>
              <a:t>E2E 17/17</a:t>
            </a:r>
            <a:endParaRPr lang="en-US" sz="1100"/>
          </a:p>
          <a:p>
            <a:pPr marL="0" indent="0" algn="ctr">
              <a:lnSpc>
                <a:spcPct val="116666"/>
              </a:lnSpc>
            </a:pPr>
            <a:r>
              <a:rPr lang="en-US" sz="1600" b="0" i="0" u="none" strike="noStrike">
                <a:solidFill>
                  <a:srgbClr val="536174"/>
                </a:solidFill>
                <a:latin typeface="Noto Sans SC"/>
                <a:ea typeface="Noto Sans SC"/>
                <a:cs typeface="Noto Sans SC"/>
                <a:sym typeface="Noto Sans SC"/>
              </a:rPr>
              <a:t>边界验证</a:t>
            </a:r>
          </a:p>
        </p:txBody>
      </p:sp>
      <p:sp>
        <p:nvSpPr>
          <p:cNvPr id="31" name="AutoShape 31"/>
          <p:cNvSpPr/>
          <p:nvPr/>
        </p:nvSpPr>
        <p:spPr>
          <a:xfrm>
            <a:off x="10236200" y="4428000"/>
            <a:ext cx="1676400" cy="3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C9302C"/>
                </a:solidFill>
                <a:latin typeface="Roboto Mono"/>
                <a:ea typeface="Roboto Mono"/>
                <a:cs typeface="Roboto Mono"/>
                <a:sym typeface="Roboto Mono"/>
              </a:rPr>
              <a:t>09-04</a:t>
            </a:r>
            <a:endParaRPr lang="en-US" sz="1100"/>
          </a:p>
        </p:txBody>
      </p:sp>
      <p:sp>
        <p:nvSpPr>
          <p:cNvPr id="32" name="AutoShape 32"/>
          <p:cNvSpPr/>
          <p:nvPr/>
        </p:nvSpPr>
        <p:spPr>
          <a:xfrm>
            <a:off x="10236200" y="5220000"/>
            <a:ext cx="1676400" cy="93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16666"/>
              </a:lnSpc>
              <a:defRPr/>
            </a:pPr>
            <a:r>
              <a:rPr lang="en-US" sz="1600" b="1" i="0" u="none" strike="noStrike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最终答辩</a:t>
            </a:r>
            <a:endParaRPr lang="en-US" sz="1100"/>
          </a:p>
          <a:p>
            <a:pPr marL="0" indent="0" algn="ctr">
              <a:lnSpc>
                <a:spcPct val="116666"/>
              </a:lnSpc>
            </a:pPr>
            <a:r>
              <a:rPr lang="en-US" sz="1600" b="1" i="0" u="none" strike="noStrike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现场演示</a:t>
            </a:r>
          </a:p>
        </p:txBody>
      </p:sp>
      <p:cxnSp>
        <p:nvCxnSpPr>
          <p:cNvPr id="33" name="Connector 33"/>
          <p:cNvCxnSpPr/>
          <p:nvPr/>
        </p:nvCxnSpPr>
        <p:spPr>
          <a:xfrm rot="-4053">
            <a:off x="711204" y="6696000"/>
            <a:ext cx="10769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9DEE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7" name="AutoShape 16">
            <a:extLst>
              <a:ext uri="{FF2B5EF4-FFF2-40B4-BE49-F238E27FC236}">
                <a16:creationId xmlns:a16="http://schemas.microsoft.com/office/drawing/2014/main" id="{FF7DCB77-7E2B-D880-BBC9-E91399D760EC}"/>
              </a:ext>
            </a:extLst>
          </p:cNvPr>
          <p:cNvSpPr/>
          <p:nvPr/>
        </p:nvSpPr>
        <p:spPr>
          <a:xfrm>
            <a:off x="1143000" y="4958946"/>
            <a:ext cx="152400" cy="152400"/>
          </a:xfrm>
          <a:prstGeom prst="ellipse">
            <a:avLst/>
          </a:prstGeom>
          <a:solidFill>
            <a:srgbClr val="2563E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8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11200" y="330200"/>
            <a:ext cx="6350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2563EB"/>
                </a:solidFill>
                <a:latin typeface="微软雅黑"/>
                <a:ea typeface="Roboto Mono"/>
                <a:cs typeface="Roboto Mono"/>
                <a:sym typeface="Roboto Mono"/>
              </a:rPr>
              <a:t>04 / ARCHITECTURE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10769600" y="330200"/>
            <a:ext cx="7112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8C96A6"/>
                </a:solidFill>
                <a:latin typeface="微软雅黑"/>
                <a:ea typeface="Roboto Mono"/>
                <a:cs typeface="Roboto Mono"/>
                <a:sym typeface="Roboto Mono"/>
              </a:rPr>
              <a:t>05 / 20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11200" y="584200"/>
            <a:ext cx="107696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600" b="1" i="0" u="none" strike="noStrike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总体架构与技术选型</a:t>
            </a:r>
            <a:endParaRPr lang="en-US" sz="1100"/>
          </a:p>
        </p:txBody>
      </p:sp>
      <p:cxnSp>
        <p:nvCxnSpPr>
          <p:cNvPr id="5" name="Connector 5"/>
          <p:cNvCxnSpPr/>
          <p:nvPr/>
        </p:nvCxnSpPr>
        <p:spPr>
          <a:xfrm rot="-4053">
            <a:off x="711204" y="1162050"/>
            <a:ext cx="10769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9DEE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6" name="Picture 6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711200" y="1371600"/>
            <a:ext cx="6553200" cy="4368800"/>
          </a:xfrm>
          <a:prstGeom prst="rect">
            <a:avLst/>
          </a:prstGeom>
          <a:noFill/>
          <a:ln w="12700" cap="flat" cmpd="sng">
            <a:solidFill>
              <a:srgbClr val="D9DEE7">
                <a:alpha val="100000"/>
              </a:srgbClr>
            </a:solidFill>
            <a:prstDash val="solid"/>
            <a:round/>
          </a:ln>
        </p:spPr>
      </p:pic>
      <p:sp>
        <p:nvSpPr>
          <p:cNvPr id="7" name="AutoShape 7"/>
          <p:cNvSpPr/>
          <p:nvPr/>
        </p:nvSpPr>
        <p:spPr>
          <a:xfrm>
            <a:off x="711200" y="5791200"/>
            <a:ext cx="65532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8C96A6"/>
                </a:solidFill>
                <a:latin typeface="Noto Sans SC"/>
                <a:ea typeface="Noto Sans SC"/>
                <a:cs typeface="Noto Sans SC"/>
                <a:sym typeface="Noto Sans SC"/>
              </a:rPr>
              <a:t>图 1　TravelMate 系统总体架构（源自《详细设计说明》图 01）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7569200" y="1371600"/>
            <a:ext cx="39116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技术选型与版本</a:t>
            </a:r>
            <a:endParaRPr lang="en-US" sz="1100"/>
          </a:p>
        </p:txBody>
      </p:sp>
      <p:graphicFrame>
        <p:nvGraphicFramePr>
          <p:cNvPr id="9" name="Table 9"/>
          <p:cNvGraphicFramePr>
            <a:graphicFrameLocks noGrp="1"/>
          </p:cNvGraphicFramePr>
          <p:nvPr/>
        </p:nvGraphicFramePr>
        <p:xfrm>
          <a:off x="7523999" y="1727200"/>
          <a:ext cx="4463999" cy="239268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7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719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420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层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D132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　选型与版本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D1326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1" i="0" u="none" strike="noStrike">
                          <a:solidFill>
                            <a:srgbClr val="0D132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前端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2E343C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　Vue 3 / Vite / Element Plus / Pinia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1" i="0" u="none" strike="noStrike">
                          <a:solidFill>
                            <a:srgbClr val="0D132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后端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2E343C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　Spring Boot 3.5 / Java 21 / MyBatis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1" i="0" u="none" strike="noStrike">
                          <a:solidFill>
                            <a:srgbClr val="0D132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数据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sz="1100" b="0">
                          <a:solidFill>
                            <a:srgbClr val="2E343C"/>
                          </a:solidFill>
                          <a:latin typeface="Roboto Mono"/>
                        </a:rPr>
                        <a:t>　MySQL 8（单体 8.0 / 微服务 8.4）/ Redis 7（缓存与锁）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1" i="0" u="none" strike="noStrike">
                          <a:solidFill>
                            <a:srgbClr val="0D132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运行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2E343C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　Docker / Kubernetes（kind）/ GHCR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20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1" i="0" u="none" strike="noStrike">
                          <a:solidFill>
                            <a:srgbClr val="0D132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质量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2E343C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　JUnit 5 / Playwright / k6 / Trivy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cxnSp>
        <p:nvCxnSpPr>
          <p:cNvPr id="10" name="Connector 10"/>
          <p:cNvCxnSpPr/>
          <p:nvPr/>
        </p:nvCxnSpPr>
        <p:spPr>
          <a:xfrm rot="-11161">
            <a:off x="7523999" y="4184650"/>
            <a:ext cx="446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9DEE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" name="AutoShape 11"/>
          <p:cNvSpPr/>
          <p:nvPr/>
        </p:nvSpPr>
        <p:spPr>
          <a:xfrm>
            <a:off x="7523999" y="4343400"/>
            <a:ext cx="4464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架构特征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7523999" y="4699000"/>
            <a:ext cx="4464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139700" indent="-139700" algn="l">
              <a:lnSpc>
                <a:spcPct val="145833"/>
              </a:lnSpc>
              <a:buClr>
                <a:srgbClr val="2E343C"/>
              </a:buClr>
              <a:buChar char="•"/>
              <a:defRPr/>
            </a:pPr>
            <a:r>
              <a:rPr lang="en-US" sz="1400" b="0" i="0" u="none" strike="noStrike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表现、接口、业务、数据四层分离</a:t>
            </a:r>
            <a:endParaRPr lang="en-US" sz="1100"/>
          </a:p>
          <a:p>
            <a:pPr marL="139700" indent="-139700" algn="l">
              <a:lnSpc>
                <a:spcPct val="145833"/>
              </a:lnSpc>
              <a:buClr>
                <a:srgbClr val="2E343C"/>
              </a:buClr>
              <a:buChar char="•"/>
            </a:pPr>
            <a:r>
              <a:rPr lang="en-US" sz="1400" b="0" i="0" u="none" strike="noStrike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单体与微服务双形态并存、同模型演进</a:t>
            </a:r>
          </a:p>
          <a:p>
            <a:pPr marL="139700" indent="-139700" algn="l">
              <a:lnSpc>
                <a:spcPct val="145833"/>
              </a:lnSpc>
              <a:buClr>
                <a:srgbClr val="2E343C"/>
              </a:buClr>
              <a:buChar char="•"/>
            </a:pPr>
            <a:r>
              <a:rPr lang="en-US" sz="1400" b="0" i="0" u="none" strike="noStrike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配置外置，健康检查 /actuator/health</a:t>
            </a:r>
          </a:p>
          <a:p>
            <a:pPr marL="139700" indent="-139700" algn="l">
              <a:lnSpc>
                <a:spcPct val="145833"/>
              </a:lnSpc>
              <a:buClr>
                <a:srgbClr val="2E343C"/>
              </a:buClr>
              <a:buChar char="•"/>
            </a:pPr>
            <a:r>
              <a:rPr lang="en-US" sz="1400" b="0" i="0" u="none" strike="noStrike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无真实支付与出票，外部能力均为可演示桩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8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11200" y="330200"/>
            <a:ext cx="6350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2563EB"/>
                </a:solidFill>
                <a:latin typeface="微软雅黑"/>
                <a:ea typeface="Roboto Mono"/>
                <a:cs typeface="Roboto Mono"/>
                <a:sym typeface="Roboto Mono"/>
              </a:rPr>
              <a:t>05 / REQUIREMENTS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10769600" y="330200"/>
            <a:ext cx="7112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8C96A6"/>
                </a:solidFill>
                <a:latin typeface="微软雅黑"/>
                <a:ea typeface="Roboto Mono"/>
                <a:cs typeface="Roboto Mono"/>
                <a:sym typeface="Roboto Mono"/>
              </a:rPr>
              <a:t>06 / 20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11200" y="584200"/>
            <a:ext cx="107696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600" b="1" i="0" u="none" strike="noStrike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UC01—UC19 用例全景与追溯链</a:t>
            </a:r>
            <a:endParaRPr lang="en-US" sz="1100"/>
          </a:p>
        </p:txBody>
      </p:sp>
      <p:cxnSp>
        <p:nvCxnSpPr>
          <p:cNvPr id="5" name="Connector 5"/>
          <p:cNvCxnSpPr/>
          <p:nvPr/>
        </p:nvCxnSpPr>
        <p:spPr>
          <a:xfrm rot="-4053">
            <a:off x="711204" y="1162050"/>
            <a:ext cx="10769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9DEE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graphicFrame>
        <p:nvGraphicFramePr>
          <p:cNvPr id="6" name="Table 6"/>
          <p:cNvGraphicFramePr>
            <a:graphicFrameLocks noGrp="1"/>
          </p:cNvGraphicFramePr>
          <p:nvPr/>
        </p:nvGraphicFramePr>
        <p:xfrm>
          <a:off x="711200" y="1371600"/>
          <a:ext cx="6858000" cy="5215128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1219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3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4958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业务域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D132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　用例（共 19，状态全部 covered）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D1326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94258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16666"/>
                        </a:lnSpc>
                        <a:defRPr/>
                      </a:pPr>
                      <a:r>
                        <a:rPr sz="1300" b="1">
                          <a:solidFill>
                            <a:srgbClr val="0D1326"/>
                          </a:solidFill>
                          <a:latin typeface="Noto Sans SC"/>
                        </a:rPr>
                        <a:t>账号与权限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25000"/>
                        </a:lnSpc>
                        <a:defRPr/>
                      </a:pPr>
                      <a:r>
                        <a:rPr sz="1300" b="0">
                          <a:solidFill>
                            <a:srgbClr val="2E343C"/>
                          </a:solidFill>
                          <a:latin typeface="Noto Sans SC"/>
                        </a:rPr>
                        <a:t>UC01 注册登录与账户安全</a:t>
                      </a:r>
                      <a:endParaRPr lang="en-US" sz="1100"/>
                    </a:p>
                    <a:p>
                      <a:r>
                        <a:rPr sz="1300" b="0">
                          <a:solidFill>
                            <a:srgbClr val="2E343C"/>
                          </a:solidFill>
                          <a:latin typeface="Noto Sans SC"/>
                        </a:rPr>
                        <a:t>UC16 常用旅客　UC17 主页与关注</a:t>
                      </a: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94258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16666"/>
                        </a:lnSpc>
                        <a:defRPr/>
                      </a:pPr>
                      <a:r>
                        <a:rPr sz="1300" b="1">
                          <a:solidFill>
                            <a:srgbClr val="0D1326"/>
                          </a:solidFill>
                          <a:latin typeface="Noto Sans SC"/>
                        </a:rPr>
                        <a:t>交通出行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25000"/>
                        </a:lnSpc>
                        <a:defRPr/>
                      </a:pPr>
                      <a:r>
                        <a:rPr sz="1300" b="0">
                          <a:solidFill>
                            <a:srgbClr val="2E343C"/>
                          </a:solidFill>
                          <a:latin typeface="Noto Sans SC"/>
                        </a:rPr>
                        <a:t>UC02 航班查询与预订</a:t>
                      </a:r>
                      <a:endParaRPr lang="en-US" sz="1100"/>
                    </a:p>
                    <a:p>
                      <a:r>
                        <a:rPr sz="1300" b="0">
                          <a:solidFill>
                            <a:srgbClr val="2E343C"/>
                          </a:solidFill>
                          <a:latin typeface="Noto Sans SC"/>
                        </a:rPr>
                        <a:t>UC03 火车票与候补　UC04 交通订单支付退改</a:t>
                      </a: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4258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16666"/>
                        </a:lnSpc>
                        <a:defRPr/>
                      </a:pPr>
                      <a:r>
                        <a:rPr sz="1300" b="1">
                          <a:solidFill>
                            <a:srgbClr val="0D1326"/>
                          </a:solidFill>
                          <a:latin typeface="Noto Sans SC"/>
                        </a:rPr>
                        <a:t>当地服务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25000"/>
                        </a:lnSpc>
                        <a:defRPr/>
                      </a:pPr>
                      <a:r>
                        <a:rPr sz="1300" b="0">
                          <a:solidFill>
                            <a:srgbClr val="2E343C"/>
                          </a:solidFill>
                          <a:latin typeface="Noto Sans SC"/>
                        </a:rPr>
                        <a:t>UC05 酒店订房　UC06 酒店订单与库存回补</a:t>
                      </a:r>
                      <a:endParaRPr lang="en-US" sz="1100"/>
                    </a:p>
                    <a:p>
                      <a:r>
                        <a:rPr sz="1300" b="0">
                          <a:solidFill>
                            <a:srgbClr val="2E343C"/>
                          </a:solidFill>
                          <a:latin typeface="Noto Sans SC"/>
                        </a:rPr>
                        <a:t>UC07 景点购票　UC08 一日游/周边游</a:t>
                      </a: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94258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16666"/>
                        </a:lnSpc>
                        <a:defRPr/>
                      </a:pPr>
                      <a:r>
                        <a:rPr sz="1300" b="1">
                          <a:solidFill>
                            <a:srgbClr val="0D1326"/>
                          </a:solidFill>
                          <a:latin typeface="Noto Sans SC"/>
                        </a:rPr>
                        <a:t>权益与 AI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25000"/>
                        </a:lnSpc>
                        <a:defRPr/>
                      </a:pPr>
                      <a:r>
                        <a:rPr sz="1300" b="0">
                          <a:solidFill>
                            <a:srgbClr val="2E343C"/>
                          </a:solidFill>
                          <a:latin typeface="Noto Sans SC"/>
                        </a:rPr>
                        <a:t>UC10 优惠券领取核销</a:t>
                      </a:r>
                      <a:endParaRPr lang="en-US" sz="1100"/>
                    </a:p>
                    <a:p>
                      <a:r>
                        <a:rPr sz="1300" b="0">
                          <a:solidFill>
                            <a:srgbClr val="2E343C"/>
                          </a:solidFill>
                          <a:latin typeface="Noto Sans SC"/>
                        </a:rPr>
                        <a:t>UC11 AI 行程生成　UC12 AI 客服对话</a:t>
                      </a: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94258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16666"/>
                        </a:lnSpc>
                        <a:defRPr/>
                      </a:pPr>
                      <a:r>
                        <a:rPr sz="1300" b="1">
                          <a:solidFill>
                            <a:srgbClr val="0D1326"/>
                          </a:solidFill>
                          <a:latin typeface="Noto Sans SC"/>
                        </a:rPr>
                        <a:t>旅行社区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25000"/>
                        </a:lnSpc>
                        <a:defRPr/>
                      </a:pPr>
                      <a:r>
                        <a:rPr sz="1300" b="0">
                          <a:solidFill>
                            <a:srgbClr val="2E343C"/>
                          </a:solidFill>
                          <a:latin typeface="Noto Sans SC"/>
                        </a:rPr>
                        <a:t>UC09 评价与举报　UC14 游记发布审核</a:t>
                      </a:r>
                      <a:endParaRPr lang="en-US" sz="1100"/>
                    </a:p>
                    <a:p>
                      <a:r>
                        <a:rPr sz="1300" b="0">
                          <a:solidFill>
                            <a:srgbClr val="2E343C"/>
                          </a:solidFill>
                          <a:latin typeface="Noto Sans SC"/>
                        </a:rPr>
                        <a:t>UC15 点赞收藏评论</a:t>
                      </a: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94258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16666"/>
                        </a:lnSpc>
                        <a:defRPr/>
                      </a:pPr>
                      <a:r>
                        <a:rPr sz="1300" b="1">
                          <a:solidFill>
                            <a:srgbClr val="0D1326"/>
                          </a:solidFill>
                          <a:latin typeface="Noto Sans SC"/>
                        </a:rPr>
                        <a:t>后台与消息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25000"/>
                        </a:lnSpc>
                        <a:defRPr/>
                      </a:pPr>
                      <a:r>
                        <a:rPr sz="1300" b="0">
                          <a:solidFill>
                            <a:srgbClr val="2E343C"/>
                          </a:solidFill>
                          <a:latin typeface="Noto Sans SC"/>
                        </a:rPr>
                        <a:t>UC13 通知与私信　UC18 管理后台</a:t>
                      </a:r>
                      <a:endParaRPr lang="en-US" sz="1100"/>
                    </a:p>
                    <a:p>
                      <a:r>
                        <a:rPr sz="1300" b="0">
                          <a:solidFill>
                            <a:srgbClr val="2E343C"/>
                          </a:solidFill>
                          <a:latin typeface="Noto Sans SC"/>
                        </a:rPr>
                        <a:t>UC19 内容安全与可观测性</a:t>
                      </a: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AutoShape 7"/>
          <p:cNvSpPr/>
          <p:nvPr/>
        </p:nvSpPr>
        <p:spPr>
          <a:xfrm>
            <a:off x="8136000" y="1371600"/>
            <a:ext cx="35052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需求追溯链（双向）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8136000" y="1778400"/>
            <a:ext cx="3505200" cy="381000"/>
          </a:xfrm>
          <a:prstGeom prst="roundRect">
            <a:avLst>
              <a:gd name="adj" fmla="val 0"/>
            </a:avLst>
          </a:prstGeom>
          <a:solidFill>
            <a:srgbClr val="0D132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8136000" y="1778400"/>
            <a:ext cx="35052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REQ 需求条目</a:t>
            </a:r>
            <a:endParaRPr lang="en-US" sz="1100"/>
          </a:p>
        </p:txBody>
      </p:sp>
      <p:cxnSp>
        <p:nvCxnSpPr>
          <p:cNvPr id="10" name="Connector 10"/>
          <p:cNvCxnSpPr/>
          <p:nvPr/>
        </p:nvCxnSpPr>
        <p:spPr>
          <a:xfrm rot="5114181">
            <a:off x="9813600" y="2412000"/>
            <a:ext cx="152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2563EB">
                <a:alpha val="100000"/>
              </a:srgbClr>
            </a:solidFill>
            <a:prstDash val="solid"/>
            <a:round/>
            <a:headEnd type="none" w="lg" len="lg"/>
            <a:tailEnd type="arrow" w="sm" len="sm"/>
          </a:ln>
        </p:spPr>
      </p:cxnSp>
      <p:sp>
        <p:nvSpPr>
          <p:cNvPr id="11" name="AutoShape 11"/>
          <p:cNvSpPr/>
          <p:nvPr/>
        </p:nvSpPr>
        <p:spPr>
          <a:xfrm>
            <a:off x="8136000" y="2664000"/>
            <a:ext cx="3505200" cy="381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BFD7FF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AutoShape 12"/>
          <p:cNvSpPr/>
          <p:nvPr/>
        </p:nvSpPr>
        <p:spPr>
          <a:xfrm>
            <a:off x="8136000" y="2664000"/>
            <a:ext cx="35052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UC 业务用例</a:t>
            </a:r>
            <a:endParaRPr lang="en-US" sz="1100"/>
          </a:p>
        </p:txBody>
      </p:sp>
      <p:cxnSp>
        <p:nvCxnSpPr>
          <p:cNvPr id="13" name="Connector 13"/>
          <p:cNvCxnSpPr/>
          <p:nvPr/>
        </p:nvCxnSpPr>
        <p:spPr>
          <a:xfrm rot="5114181">
            <a:off x="9813600" y="3297600"/>
            <a:ext cx="152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2563EB">
                <a:alpha val="100000"/>
              </a:srgbClr>
            </a:solidFill>
            <a:prstDash val="solid"/>
            <a:round/>
            <a:headEnd type="none" w="lg" len="lg"/>
            <a:tailEnd type="arrow" w="sm" len="sm"/>
          </a:ln>
        </p:spPr>
      </p:cxnSp>
      <p:sp>
        <p:nvSpPr>
          <p:cNvPr id="14" name="AutoShape 14"/>
          <p:cNvSpPr/>
          <p:nvPr/>
        </p:nvSpPr>
        <p:spPr>
          <a:xfrm>
            <a:off x="8136000" y="3549600"/>
            <a:ext cx="3505200" cy="381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BFD7FF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AutoShape 15"/>
          <p:cNvSpPr/>
          <p:nvPr/>
        </p:nvSpPr>
        <p:spPr>
          <a:xfrm>
            <a:off x="8136000" y="3549600"/>
            <a:ext cx="35052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SYS 子系统 / COMP 组件</a:t>
            </a:r>
            <a:endParaRPr lang="en-US" sz="1100"/>
          </a:p>
        </p:txBody>
      </p:sp>
      <p:cxnSp>
        <p:nvCxnSpPr>
          <p:cNvPr id="16" name="Connector 16"/>
          <p:cNvCxnSpPr/>
          <p:nvPr/>
        </p:nvCxnSpPr>
        <p:spPr>
          <a:xfrm rot="5114181">
            <a:off x="9813600" y="4183199"/>
            <a:ext cx="152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2563EB">
                <a:alpha val="100000"/>
              </a:srgbClr>
            </a:solidFill>
            <a:prstDash val="solid"/>
            <a:round/>
            <a:headEnd type="none" w="lg" len="lg"/>
            <a:tailEnd type="arrow" w="sm" len="sm"/>
          </a:ln>
        </p:spPr>
      </p:cxnSp>
      <p:sp>
        <p:nvSpPr>
          <p:cNvPr id="17" name="AutoShape 17"/>
          <p:cNvSpPr/>
          <p:nvPr/>
        </p:nvSpPr>
        <p:spPr>
          <a:xfrm>
            <a:off x="8136000" y="4435200"/>
            <a:ext cx="3505200" cy="381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BFD7FF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" name="AutoShape 18"/>
          <p:cNvSpPr/>
          <p:nvPr/>
        </p:nvSpPr>
        <p:spPr>
          <a:xfrm>
            <a:off x="8136000" y="4435200"/>
            <a:ext cx="35052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OBJ 数据对象（35 张表）</a:t>
            </a:r>
            <a:endParaRPr lang="en-US" sz="1100"/>
          </a:p>
        </p:txBody>
      </p:sp>
      <p:cxnSp>
        <p:nvCxnSpPr>
          <p:cNvPr id="19" name="Connector 19"/>
          <p:cNvCxnSpPr/>
          <p:nvPr/>
        </p:nvCxnSpPr>
        <p:spPr>
          <a:xfrm rot="5114181">
            <a:off x="9813600" y="5068800"/>
            <a:ext cx="152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2563EB">
                <a:alpha val="100000"/>
              </a:srgbClr>
            </a:solidFill>
            <a:prstDash val="solid"/>
            <a:round/>
            <a:headEnd type="none" w="lg" len="lg"/>
            <a:tailEnd type="arrow" w="sm" len="sm"/>
          </a:ln>
        </p:spPr>
      </p:cxnSp>
      <p:sp>
        <p:nvSpPr>
          <p:cNvPr id="20" name="AutoShape 20"/>
          <p:cNvSpPr/>
          <p:nvPr/>
        </p:nvSpPr>
        <p:spPr>
          <a:xfrm>
            <a:off x="8136000" y="5320800"/>
            <a:ext cx="3505200" cy="381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BFD7FF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" name="AutoShape 21"/>
          <p:cNvSpPr/>
          <p:nvPr/>
        </p:nvSpPr>
        <p:spPr>
          <a:xfrm>
            <a:off x="8136000" y="5320800"/>
            <a:ext cx="35052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0D1326"/>
                </a:solidFill>
                <a:latin typeface="Roboto Mono"/>
                <a:ea typeface="Roboto Mono"/>
                <a:cs typeface="Roboto Mono"/>
                <a:sym typeface="Roboto Mono"/>
              </a:rPr>
              <a:t>代码类 / 接口</a:t>
            </a:r>
            <a:endParaRPr lang="en-US" sz="1100"/>
          </a:p>
        </p:txBody>
      </p:sp>
      <p:cxnSp>
        <p:nvCxnSpPr>
          <p:cNvPr id="22" name="Connector 22"/>
          <p:cNvCxnSpPr/>
          <p:nvPr/>
        </p:nvCxnSpPr>
        <p:spPr>
          <a:xfrm rot="5114181">
            <a:off x="9813600" y="5954400"/>
            <a:ext cx="152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2563EB">
                <a:alpha val="100000"/>
              </a:srgbClr>
            </a:solidFill>
            <a:prstDash val="solid"/>
            <a:round/>
            <a:headEnd type="none" w="lg" len="lg"/>
            <a:tailEnd type="arrow" w="sm" len="sm"/>
          </a:ln>
        </p:spPr>
      </p:cxnSp>
      <p:sp>
        <p:nvSpPr>
          <p:cNvPr id="23" name="AutoShape 23"/>
          <p:cNvSpPr/>
          <p:nvPr/>
        </p:nvSpPr>
        <p:spPr>
          <a:xfrm>
            <a:off x="8136000" y="6206399"/>
            <a:ext cx="3505200" cy="381000"/>
          </a:xfrm>
          <a:prstGeom prst="roundRect">
            <a:avLst>
              <a:gd name="adj" fmla="val 0"/>
            </a:avLst>
          </a:prstGeom>
          <a:solidFill>
            <a:srgbClr val="2563E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4" name="AutoShape 24"/>
          <p:cNvSpPr/>
          <p:nvPr/>
        </p:nvSpPr>
        <p:spPr>
          <a:xfrm>
            <a:off x="8136000" y="6206399"/>
            <a:ext cx="35052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单元 / 接口 / E2E 测试</a:t>
            </a:r>
            <a:endParaRPr lang="en-US" sz="1100"/>
          </a:p>
        </p:txBody>
      </p:sp>
      <p:sp>
        <p:nvSpPr>
          <p:cNvPr id="25" name="TextBox 24"/>
          <p:cNvSpPr txBox="1"/>
          <p:nvPr/>
        </p:nvSpPr>
        <p:spPr>
          <a:xfrm>
            <a:off x="5472000" y="1565999"/>
            <a:ext cx="2628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>
                <a:solidFill>
                  <a:srgbClr val="3B5A8C"/>
                </a:solidFill>
                <a:latin typeface="微软雅黑"/>
              </a:rPr>
              <a:t>代表用例：UC02 · UC06 · UC11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8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11200" y="330200"/>
            <a:ext cx="6350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2563EB"/>
                </a:solidFill>
                <a:latin typeface="微软雅黑"/>
                <a:ea typeface="Roboto Mono"/>
                <a:cs typeface="Roboto Mono"/>
                <a:sym typeface="Roboto Mono"/>
              </a:rPr>
              <a:t>06 / DECOMPOSITION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10769600" y="330200"/>
            <a:ext cx="7112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8C96A6"/>
                </a:solidFill>
                <a:latin typeface="微软雅黑"/>
                <a:ea typeface="Roboto Mono"/>
                <a:cs typeface="Roboto Mono"/>
                <a:sym typeface="Roboto Mono"/>
              </a:rPr>
              <a:t>07 / 20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11200" y="584200"/>
            <a:ext cx="107696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600" b="1" i="0" u="none" strike="noStrike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按业务能力的六服务划分</a:t>
            </a:r>
            <a:endParaRPr lang="en-US" sz="1100"/>
          </a:p>
        </p:txBody>
      </p:sp>
      <p:cxnSp>
        <p:nvCxnSpPr>
          <p:cNvPr id="5" name="Connector 5"/>
          <p:cNvCxnSpPr/>
          <p:nvPr/>
        </p:nvCxnSpPr>
        <p:spPr>
          <a:xfrm rot="-4053">
            <a:off x="711204" y="1162050"/>
            <a:ext cx="10769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9DEE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6" name="Picture 6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711200" y="1295400"/>
            <a:ext cx="7620000" cy="5080000"/>
          </a:xfrm>
          <a:prstGeom prst="rect">
            <a:avLst/>
          </a:prstGeom>
          <a:noFill/>
          <a:ln w="12700" cap="flat" cmpd="sng">
            <a:solidFill>
              <a:srgbClr val="D9DEE7">
                <a:alpha val="100000"/>
              </a:srgbClr>
            </a:solidFill>
            <a:prstDash val="solid"/>
            <a:round/>
          </a:ln>
        </p:spPr>
      </p:pic>
      <p:sp>
        <p:nvSpPr>
          <p:cNvPr id="7" name="AutoShape 7"/>
          <p:cNvSpPr/>
          <p:nvPr/>
        </p:nvSpPr>
        <p:spPr>
          <a:xfrm>
            <a:off x="711200" y="6426200"/>
            <a:ext cx="76200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8C96A6"/>
                </a:solidFill>
                <a:latin typeface="Noto Sans SC"/>
                <a:ea typeface="Noto Sans SC"/>
                <a:cs typeface="Noto Sans SC"/>
                <a:sym typeface="Noto Sans SC"/>
              </a:rPr>
              <a:t>图 2　TravelMate 目标服务划分（源自《详细设计说明》图 26）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8820000" y="1320800"/>
            <a:ext cx="28448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四条拆分依据</a:t>
            </a:r>
            <a:endParaRPr lang="en-US" sz="1100"/>
          </a:p>
        </p:txBody>
      </p:sp>
      <p:cxnSp>
        <p:nvCxnSpPr>
          <p:cNvPr id="9" name="Connector 9"/>
          <p:cNvCxnSpPr/>
          <p:nvPr/>
        </p:nvCxnSpPr>
        <p:spPr>
          <a:xfrm rot="-15346">
            <a:off x="8820000" y="1670050"/>
            <a:ext cx="2844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2563EB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10" name="AutoShape 10"/>
          <p:cNvSpPr/>
          <p:nvPr/>
        </p:nvSpPr>
        <p:spPr>
          <a:xfrm>
            <a:off x="8820000" y="1689100"/>
            <a:ext cx="2844800" cy="464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41666"/>
              </a:lnSpc>
              <a:spcAft>
                <a:spcPts val="1500"/>
              </a:spcAft>
              <a:defRPr/>
            </a:pPr>
            <a:r>
              <a:rPr lang="en-US" sz="1600" b="1" i="0" u="none" strike="noStrike" dirty="0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1　</a:t>
            </a:r>
            <a:r>
              <a:rPr lang="en-US" sz="1600" b="1" i="0" u="none" strike="noStrike" dirty="0" err="1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业务能力边界</a:t>
            </a:r>
            <a:endParaRPr lang="en-US" sz="1600" dirty="0"/>
          </a:p>
          <a:p>
            <a:pPr marL="0" indent="0" algn="l">
              <a:lnSpc>
                <a:spcPct val="141666"/>
              </a:lnSpc>
              <a:spcAft>
                <a:spcPts val="1500"/>
              </a:spcAft>
            </a:pPr>
            <a:r>
              <a:rPr lang="en-US" sz="1600" b="0" i="0" u="none" strike="noStrike" dirty="0" err="1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按业务域拆，不按技术分层拆</a:t>
            </a:r>
            <a:endParaRPr lang="en-US" sz="1600" b="0" i="0" u="none" strike="noStrike" dirty="0">
              <a:solidFill>
                <a:srgbClr val="2E343C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0" indent="0" algn="l">
              <a:lnSpc>
                <a:spcPct val="141666"/>
              </a:lnSpc>
              <a:spcAft>
                <a:spcPts val="1500"/>
              </a:spcAft>
            </a:pPr>
            <a:r>
              <a:rPr lang="en-US" sz="1600" b="1" i="0" u="none" strike="noStrike" dirty="0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2　</a:t>
            </a:r>
            <a:r>
              <a:rPr lang="en-US" sz="1600" b="1" i="0" u="none" strike="noStrike" dirty="0" err="1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数据所有权</a:t>
            </a:r>
            <a:endParaRPr lang="en-US" sz="1600" b="1" i="0" u="none" strike="noStrike" dirty="0">
              <a:solidFill>
                <a:srgbClr val="2E343C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0" indent="0" algn="l">
              <a:lnSpc>
                <a:spcPct val="141666"/>
              </a:lnSpc>
              <a:spcAft>
                <a:spcPts val="1500"/>
              </a:spcAft>
            </a:pPr>
            <a:r>
              <a:rPr lang="en-US" sz="1600" b="0" i="0" u="none" strike="noStrike" dirty="0" err="1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每服务独占自己的表与库</a:t>
            </a:r>
            <a:endParaRPr lang="en-US" sz="1600" b="0" i="0" u="none" strike="noStrike" dirty="0">
              <a:solidFill>
                <a:srgbClr val="2E343C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0" indent="0" algn="l">
              <a:lnSpc>
                <a:spcPct val="141666"/>
              </a:lnSpc>
              <a:spcAft>
                <a:spcPts val="1500"/>
              </a:spcAft>
            </a:pPr>
            <a:r>
              <a:rPr lang="en-US" sz="1600" b="1" i="0" u="none" strike="noStrike" dirty="0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3　</a:t>
            </a:r>
            <a:r>
              <a:rPr lang="en-US" sz="1600" b="1" i="0" u="none" strike="noStrike" dirty="0" err="1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独立部署</a:t>
            </a:r>
            <a:endParaRPr lang="en-US" sz="1600" b="1" i="0" u="none" strike="noStrike" dirty="0">
              <a:solidFill>
                <a:srgbClr val="2E343C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0" indent="0" algn="l">
              <a:lnSpc>
                <a:spcPct val="141666"/>
              </a:lnSpc>
              <a:spcAft>
                <a:spcPts val="1500"/>
              </a:spcAft>
            </a:pPr>
            <a:r>
              <a:rPr lang="en-US" sz="1600" b="0" i="0" u="none" strike="noStrike" dirty="0" err="1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独立进程、镜像与副本伸缩</a:t>
            </a:r>
            <a:endParaRPr lang="en-US" sz="1600" b="0" i="0" u="none" strike="noStrike" dirty="0">
              <a:solidFill>
                <a:srgbClr val="2E343C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0" indent="0" algn="l">
              <a:lnSpc>
                <a:spcPct val="141666"/>
              </a:lnSpc>
              <a:spcAft>
                <a:spcPts val="1500"/>
              </a:spcAft>
            </a:pPr>
            <a:r>
              <a:rPr lang="en-US" sz="1600" b="1" i="0" u="none" strike="noStrike" dirty="0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4　</a:t>
            </a:r>
            <a:r>
              <a:rPr lang="en-US" sz="1600" b="1" i="0" u="none" strike="noStrike" dirty="0" err="1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显式协作</a:t>
            </a:r>
            <a:endParaRPr lang="en-US" sz="1600" b="1" i="0" u="none" strike="noStrike" dirty="0">
              <a:solidFill>
                <a:srgbClr val="2E343C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0" indent="0" algn="l">
              <a:lnSpc>
                <a:spcPct val="141666"/>
              </a:lnSpc>
              <a:spcAft>
                <a:spcPts val="1500"/>
              </a:spcAft>
            </a:pPr>
            <a:r>
              <a:rPr lang="en-US" sz="1600" b="0" i="0" u="none" strike="noStrike" dirty="0" err="1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内部</a:t>
            </a:r>
            <a:r>
              <a:rPr lang="en-US" sz="1600" b="0" i="0" u="none" strike="noStrike" dirty="0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 HTTP </a:t>
            </a:r>
            <a:r>
              <a:rPr lang="en-US" sz="1600" b="0" i="0" u="none" strike="noStrike" dirty="0" err="1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接口加消息表</a:t>
            </a:r>
            <a:endParaRPr lang="en-US" sz="1600" b="0" i="0" u="none" strike="noStrike" dirty="0">
              <a:solidFill>
                <a:srgbClr val="2E343C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cxnSp>
        <p:nvCxnSpPr>
          <p:cNvPr id="11" name="Connector 11"/>
          <p:cNvCxnSpPr/>
          <p:nvPr/>
        </p:nvCxnSpPr>
        <p:spPr>
          <a:xfrm rot="-15346">
            <a:off x="8820000" y="6480000"/>
            <a:ext cx="2844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9DEE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8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11200" y="330200"/>
            <a:ext cx="6350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2563EB"/>
                </a:solidFill>
                <a:latin typeface="微软雅黑"/>
                <a:ea typeface="Roboto Mono"/>
                <a:cs typeface="Roboto Mono"/>
                <a:sym typeface="Roboto Mono"/>
              </a:rPr>
              <a:t>06 / DECOMPOSITION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10769600" y="330200"/>
            <a:ext cx="7112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8C96A6"/>
                </a:solidFill>
                <a:latin typeface="微软雅黑"/>
                <a:ea typeface="Roboto Mono"/>
                <a:cs typeface="Roboto Mono"/>
                <a:sym typeface="Roboto Mono"/>
              </a:rPr>
              <a:t>08 / 20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11200" y="584200"/>
            <a:ext cx="107696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600" b="1" i="0" u="none" strike="noStrike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六服务职责、端口与表归属</a:t>
            </a:r>
            <a:endParaRPr lang="en-US" sz="1100"/>
          </a:p>
        </p:txBody>
      </p:sp>
      <p:cxnSp>
        <p:nvCxnSpPr>
          <p:cNvPr id="5" name="Connector 5"/>
          <p:cNvCxnSpPr/>
          <p:nvPr/>
        </p:nvCxnSpPr>
        <p:spPr>
          <a:xfrm rot="-4053">
            <a:off x="711204" y="1162050"/>
            <a:ext cx="10769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9DEE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graphicFrame>
        <p:nvGraphicFramePr>
          <p:cNvPr id="6" name="Table 6"/>
          <p:cNvGraphicFramePr>
            <a:graphicFrameLocks noGrp="1"/>
          </p:cNvGraphicFramePr>
          <p:nvPr/>
        </p:nvGraphicFramePr>
        <p:xfrm>
          <a:off x="711200" y="1346200"/>
          <a:ext cx="10769600" cy="5215128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1803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6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84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91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733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4958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服务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D132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端口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D132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表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D132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　职责边界（独占数据）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D132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　跨服务协作（仅走内部接口）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D1326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94258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2563EB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identity</a:t>
                      </a:r>
                      <a:endParaRPr lang="en-US" sz="1100"/>
                    </a:p>
                    <a:p>
                      <a:pPr marL="0" indent="0" algn="ctr">
                        <a:lnSpc>
                          <a:spcPct val="100000"/>
                        </a:lnSpc>
                      </a:pPr>
                      <a:r>
                        <a:rPr lang="en-US" sz="1200" b="1" i="0" u="none" strike="noStrike">
                          <a:solidFill>
                            <a:srgbClr val="2563EB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service</a:t>
                      </a: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0D1326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8081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0D1326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3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6666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2E343C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　注册登录、RBAC 权限、常用</a:t>
                      </a:r>
                      <a:endParaRPr lang="en-US" sz="1100"/>
                    </a:p>
                    <a:p>
                      <a:pPr marL="0" indent="0" algn="l">
                        <a:lnSpc>
                          <a:spcPct val="116666"/>
                        </a:lnSpc>
                      </a:pPr>
                      <a:r>
                        <a:rPr lang="en-US" sz="1200" b="0" i="0" u="none" strike="noStrike">
                          <a:solidFill>
                            <a:srgbClr val="2E343C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　旅客、关注关系</a:t>
                      </a: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6666"/>
                        </a:lnSpc>
                        <a:defRPr/>
                      </a:pPr>
                      <a:r>
                        <a:rPr lang="en-US" sz="1200" b="0" i="0" u="none" strike="noStrike" dirty="0">
                          <a:solidFill>
                            <a:srgbClr val="2E343C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　</a:t>
                      </a:r>
                      <a:r>
                        <a:rPr lang="en-US" sz="1200" b="0" i="0" u="none" strike="noStrike" dirty="0" err="1">
                          <a:solidFill>
                            <a:srgbClr val="2E343C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向交通、社区提供旅客归属与</a:t>
                      </a:r>
                      <a:endParaRPr lang="en-US" sz="1100" dirty="0"/>
                    </a:p>
                    <a:p>
                      <a:pPr marL="0" indent="0" algn="l">
                        <a:lnSpc>
                          <a:spcPct val="116666"/>
                        </a:lnSpc>
                      </a:pPr>
                      <a:r>
                        <a:rPr lang="en-US" sz="1200" b="0" i="0" u="none" strike="noStrike" dirty="0">
                          <a:solidFill>
                            <a:srgbClr val="2E343C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　</a:t>
                      </a:r>
                      <a:r>
                        <a:rPr lang="en-US" sz="1200" b="0" i="0" u="none" strike="noStrike" dirty="0" err="1">
                          <a:solidFill>
                            <a:srgbClr val="2E343C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用户快照内部接口</a:t>
                      </a:r>
                      <a:endParaRPr lang="en-US" sz="1200" b="0" i="0" u="none" strike="noStrike" dirty="0">
                        <a:solidFill>
                          <a:srgbClr val="2E343C"/>
                        </a:solidFill>
                        <a:latin typeface="Noto Sans SC"/>
                        <a:ea typeface="Noto Sans SC"/>
                        <a:cs typeface="Noto Sans SC"/>
                        <a:sym typeface="Noto Sans SC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94258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2563EB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traffic</a:t>
                      </a:r>
                      <a:endParaRPr lang="en-US" sz="1100"/>
                    </a:p>
                    <a:p>
                      <a:pPr marL="0" indent="0" algn="ctr">
                        <a:lnSpc>
                          <a:spcPct val="100000"/>
                        </a:lnSpc>
                      </a:pPr>
                      <a:r>
                        <a:rPr lang="en-US" sz="1200" b="1" i="0" u="none" strike="noStrike">
                          <a:solidFill>
                            <a:srgbClr val="2563EB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service</a:t>
                      </a: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0D1326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8082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0D1326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6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6666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2E343C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　航班、火车、候补、交通订单、</a:t>
                      </a:r>
                      <a:endParaRPr lang="en-US" sz="1100"/>
                    </a:p>
                    <a:p>
                      <a:pPr marL="0" indent="0" algn="l">
                        <a:lnSpc>
                          <a:spcPct val="116666"/>
                        </a:lnSpc>
                      </a:pPr>
                      <a:r>
                        <a:rPr lang="en-US" sz="1200" b="0" i="0" u="none" strike="noStrike">
                          <a:solidFill>
                            <a:srgbClr val="2E343C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　价格历史、交通 Outbox</a:t>
                      </a: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6666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2E343C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　调身份校验旅客；调本地核销</a:t>
                      </a:r>
                      <a:endParaRPr lang="en-US" sz="1100"/>
                    </a:p>
                    <a:p>
                      <a:pPr marL="0" indent="0" algn="l">
                        <a:lnSpc>
                          <a:spcPct val="116666"/>
                        </a:lnSpc>
                      </a:pPr>
                      <a:r>
                        <a:rPr lang="en-US" sz="1200" b="0" i="0" u="none" strike="noStrike">
                          <a:solidFill>
                            <a:srgbClr val="2E343C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　优惠券，失败即回滚订单</a:t>
                      </a: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4258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2563EB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local</a:t>
                      </a:r>
                      <a:endParaRPr lang="en-US" sz="1100"/>
                    </a:p>
                    <a:p>
                      <a:pPr marL="0" indent="0" algn="ctr">
                        <a:lnSpc>
                          <a:spcPct val="100000"/>
                        </a:lnSpc>
                      </a:pPr>
                      <a:r>
                        <a:rPr lang="en-US" sz="1200" b="1" i="0" u="none" strike="noStrike">
                          <a:solidFill>
                            <a:srgbClr val="2563EB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service</a:t>
                      </a: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0D1326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8083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0D1326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14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6666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2E343C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　酒店、景点、目的地、评价、举</a:t>
                      </a:r>
                      <a:endParaRPr lang="en-US" sz="1100"/>
                    </a:p>
                    <a:p>
                      <a:pPr marL="0" indent="0" algn="l">
                        <a:lnSpc>
                          <a:spcPct val="116666"/>
                        </a:lnSpc>
                      </a:pPr>
                      <a:r>
                        <a:rPr lang="en-US" sz="1200" b="0" i="0" u="none" strike="noStrike">
                          <a:solidFill>
                            <a:srgbClr val="2E343C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　报、优惠券、本地游、Outbox</a:t>
                      </a: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6666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2E343C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　提供优惠券核销内部接口；酒</a:t>
                      </a:r>
                      <a:endParaRPr lang="en-US" sz="1100"/>
                    </a:p>
                    <a:p>
                      <a:pPr marL="0" indent="0" algn="l">
                        <a:lnSpc>
                          <a:spcPct val="116666"/>
                        </a:lnSpc>
                      </a:pPr>
                      <a:r>
                        <a:rPr lang="en-US" sz="1200" b="0" i="0" u="none" strike="noStrike">
                          <a:solidFill>
                            <a:srgbClr val="2E343C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　店库存防超卖在本服务闭环</a:t>
                      </a: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94258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2563EB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ai</a:t>
                      </a:r>
                      <a:endParaRPr lang="en-US" sz="1100"/>
                    </a:p>
                    <a:p>
                      <a:pPr marL="0" indent="0" algn="ctr">
                        <a:lnSpc>
                          <a:spcPct val="100000"/>
                        </a:lnSpc>
                      </a:pPr>
                      <a:r>
                        <a:rPr lang="en-US" sz="1200" b="1" i="0" u="none" strike="noStrike">
                          <a:solidFill>
                            <a:srgbClr val="2563EB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service</a:t>
                      </a: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0D1326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8084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0D1326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6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6666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2E343C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　AI 行程、AI 对话、通知、私</a:t>
                      </a:r>
                      <a:endParaRPr lang="en-US" sz="1100"/>
                    </a:p>
                    <a:p>
                      <a:pPr marL="0" indent="0" algn="l">
                        <a:lnSpc>
                          <a:spcPct val="116666"/>
                        </a:lnSpc>
                      </a:pPr>
                      <a:r>
                        <a:rPr lang="en-US" sz="1200" b="0" i="0" u="none" strike="noStrike">
                          <a:solidFill>
                            <a:srgbClr val="2E343C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　信、事件消费去重</a:t>
                      </a: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6666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2E343C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　以 Idempotency-Key 幂等消费</a:t>
                      </a:r>
                      <a:endParaRPr lang="en-US" sz="1100"/>
                    </a:p>
                    <a:p>
                      <a:pPr marL="0" indent="0" algn="l">
                        <a:lnSpc>
                          <a:spcPct val="116666"/>
                        </a:lnSpc>
                      </a:pPr>
                      <a:r>
                        <a:rPr lang="en-US" sz="1200" b="0" i="0" u="none" strike="noStrike">
                          <a:solidFill>
                            <a:srgbClr val="2E343C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　交通、本地的通知事件</a:t>
                      </a: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94258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2563EB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community</a:t>
                      </a:r>
                      <a:endParaRPr lang="en-US" sz="1100"/>
                    </a:p>
                    <a:p>
                      <a:pPr marL="0" indent="0" algn="ctr">
                        <a:lnSpc>
                          <a:spcPct val="100000"/>
                        </a:lnSpc>
                      </a:pPr>
                      <a:r>
                        <a:rPr lang="en-US" sz="1200" b="1" i="0" u="none" strike="noStrike">
                          <a:solidFill>
                            <a:srgbClr val="2563EB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service</a:t>
                      </a: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0D1326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8085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0D1326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3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6666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2E343C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　帖子、评论、点赞与收藏</a:t>
                      </a:r>
                      <a:endParaRPr lang="en-US" sz="1100"/>
                    </a:p>
                    <a:p>
                      <a:pPr marL="0" indent="0" algn="l">
                        <a:lnSpc>
                          <a:spcPct val="116666"/>
                        </a:lnSpc>
                      </a:pPr>
                      <a:r>
                        <a:rPr lang="en-US" sz="1200" b="0" i="0" u="none" strike="noStrike">
                          <a:solidFill>
                            <a:srgbClr val="2E343C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　（攻略社区闭环）</a:t>
                      </a: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6666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2E343C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　调身份取用户快照；调运维做</a:t>
                      </a:r>
                      <a:endParaRPr lang="en-US" sz="1100"/>
                    </a:p>
                    <a:p>
                      <a:pPr marL="0" indent="0" algn="l">
                        <a:lnSpc>
                          <a:spcPct val="116666"/>
                        </a:lnSpc>
                      </a:pPr>
                      <a:r>
                        <a:rPr lang="en-US" sz="1200" b="0" i="0" u="none" strike="noStrike">
                          <a:solidFill>
                            <a:srgbClr val="2E343C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　敏感内容检查，不绕过</a:t>
                      </a: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94258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2563EB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ops</a:t>
                      </a:r>
                      <a:endParaRPr lang="en-US" sz="1100"/>
                    </a:p>
                    <a:p>
                      <a:pPr marL="0" indent="0" algn="ctr">
                        <a:lnSpc>
                          <a:spcPct val="100000"/>
                        </a:lnSpc>
                      </a:pPr>
                      <a:r>
                        <a:rPr lang="en-US" sz="1200" b="1" i="0" u="none" strike="noStrike">
                          <a:solidFill>
                            <a:srgbClr val="2563EB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service</a:t>
                      </a: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0D1326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8086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0D1326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2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6666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2E343C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　敏感词、操作日志，后台聚合</a:t>
                      </a:r>
                      <a:endParaRPr lang="en-US" sz="1100"/>
                    </a:p>
                    <a:p>
                      <a:pPr marL="0" indent="0" algn="l">
                        <a:lnSpc>
                          <a:spcPct val="116666"/>
                        </a:lnSpc>
                      </a:pPr>
                      <a:r>
                        <a:rPr lang="en-US" sz="1200" b="0" i="0" u="none" strike="noStrike">
                          <a:solidFill>
                            <a:srgbClr val="2E343C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　管理入口</a:t>
                      </a: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6666"/>
                        </a:lnSpc>
                        <a:defRPr/>
                      </a:pPr>
                      <a:r>
                        <a:rPr lang="en-US" sz="1200" b="0" i="0" u="none" strike="noStrike" dirty="0">
                          <a:solidFill>
                            <a:srgbClr val="2E343C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　经 /internal/admin </a:t>
                      </a:r>
                      <a:r>
                        <a:rPr lang="en-US" sz="1200" b="0" i="0" u="none" strike="noStrike" dirty="0" err="1">
                          <a:solidFill>
                            <a:srgbClr val="2E343C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下发命令</a:t>
                      </a:r>
                      <a:r>
                        <a:rPr lang="en-US" sz="1200" b="0" i="0" u="none" strike="noStrike" dirty="0">
                          <a:solidFill>
                            <a:srgbClr val="2E343C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，</a:t>
                      </a:r>
                      <a:endParaRPr lang="en-US" sz="1100" dirty="0"/>
                    </a:p>
                    <a:p>
                      <a:pPr marL="0" indent="0" algn="l">
                        <a:lnSpc>
                          <a:spcPct val="116666"/>
                        </a:lnSpc>
                      </a:pPr>
                      <a:r>
                        <a:rPr lang="en-US" sz="1200" b="0" i="0" u="none" strike="noStrike" dirty="0">
                          <a:solidFill>
                            <a:srgbClr val="2E343C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　</a:t>
                      </a:r>
                      <a:r>
                        <a:rPr lang="en-US" sz="1200" b="0" i="0" u="none" strike="noStrike" dirty="0" err="1">
                          <a:solidFill>
                            <a:srgbClr val="2E343C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不直接访问业务数据库</a:t>
                      </a:r>
                      <a:endParaRPr lang="en-US" sz="1200" b="0" i="0" u="none" strike="noStrike" dirty="0">
                        <a:solidFill>
                          <a:srgbClr val="2E343C"/>
                        </a:solidFill>
                        <a:latin typeface="Noto Sans SC"/>
                        <a:ea typeface="Noto Sans SC"/>
                        <a:cs typeface="Noto Sans SC"/>
                        <a:sym typeface="Noto Sans SC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8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11200" y="330200"/>
            <a:ext cx="6350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2563EB"/>
                </a:solidFill>
                <a:latin typeface="微软雅黑"/>
                <a:ea typeface="Roboto Mono"/>
                <a:cs typeface="Roboto Mono"/>
                <a:sym typeface="Roboto Mono"/>
              </a:rPr>
              <a:t>07 / DATA OWNERSHIP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10769600" y="330200"/>
            <a:ext cx="7112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8C96A6"/>
                </a:solidFill>
                <a:latin typeface="微软雅黑"/>
                <a:ea typeface="Roboto Mono"/>
                <a:cs typeface="Roboto Mono"/>
                <a:sym typeface="Roboto Mono"/>
              </a:rPr>
              <a:t>09 / 20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11200" y="584200"/>
            <a:ext cx="107696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600" b="1" i="0" u="none" strike="noStrike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数据所有权：一表一主与账号隔离</a:t>
            </a:r>
            <a:endParaRPr lang="en-US" sz="1100"/>
          </a:p>
        </p:txBody>
      </p:sp>
      <p:cxnSp>
        <p:nvCxnSpPr>
          <p:cNvPr id="5" name="Connector 5"/>
          <p:cNvCxnSpPr/>
          <p:nvPr/>
        </p:nvCxnSpPr>
        <p:spPr>
          <a:xfrm rot="-4053">
            <a:off x="711204" y="1162050"/>
            <a:ext cx="10769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9DEE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" name="AutoShape 6"/>
          <p:cNvSpPr/>
          <p:nvPr/>
        </p:nvSpPr>
        <p:spPr>
          <a:xfrm>
            <a:off x="711200" y="1346200"/>
            <a:ext cx="53848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三条数据所有权硬规则</a:t>
            </a:r>
            <a:endParaRPr lang="en-US" sz="1100"/>
          </a:p>
        </p:txBody>
      </p:sp>
      <p:cxnSp>
        <p:nvCxnSpPr>
          <p:cNvPr id="7" name="Connector 7"/>
          <p:cNvCxnSpPr/>
          <p:nvPr/>
        </p:nvCxnSpPr>
        <p:spPr>
          <a:xfrm rot="-8107">
            <a:off x="711207" y="1695450"/>
            <a:ext cx="5384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2563EB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8" name="AutoShape 8"/>
          <p:cNvSpPr/>
          <p:nvPr/>
        </p:nvSpPr>
        <p:spPr>
          <a:xfrm>
            <a:off x="711200" y="1854200"/>
            <a:ext cx="381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2563EB"/>
                </a:solidFill>
                <a:latin typeface="Roboto Mono"/>
                <a:ea typeface="Roboto Mono"/>
                <a:cs typeface="Roboto Mono"/>
                <a:sym typeface="Roboto Mono"/>
              </a:rPr>
              <a:t>1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1117600" y="1828800"/>
            <a:ext cx="4978400" cy="838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333"/>
              </a:lnSpc>
              <a:defRPr/>
            </a:pPr>
            <a:r>
              <a:rPr lang="en-US" sz="1400" b="1" i="0" u="none" strike="noStrike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一表一主：</a:t>
            </a:r>
            <a:r>
              <a:rPr lang="en-US" sz="1400" b="0" i="0" u="none" strike="noStrike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34 张表每张只有一个服务可写；</a:t>
            </a:r>
            <a:endParaRPr lang="en-US" sz="1100"/>
          </a:p>
          <a:p>
            <a:pPr marL="0" indent="0" algn="l">
              <a:lnSpc>
                <a:spcPct val="133333"/>
              </a:lnSpc>
            </a:pPr>
            <a:r>
              <a:rPr lang="en-US" sz="1400" b="0" i="0" u="none" strike="noStrike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禁止跨服务 JOIN、禁止共享数据库与共享表。</a:t>
            </a:r>
          </a:p>
        </p:txBody>
      </p:sp>
      <p:cxnSp>
        <p:nvCxnSpPr>
          <p:cNvPr id="10" name="Connector 10"/>
          <p:cNvCxnSpPr/>
          <p:nvPr/>
        </p:nvCxnSpPr>
        <p:spPr>
          <a:xfrm rot="-8107">
            <a:off x="711207" y="2787650"/>
            <a:ext cx="5384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9DEE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" name="AutoShape 11"/>
          <p:cNvSpPr/>
          <p:nvPr/>
        </p:nvSpPr>
        <p:spPr>
          <a:xfrm>
            <a:off x="711200" y="2946400"/>
            <a:ext cx="381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2563EB"/>
                </a:solidFill>
                <a:latin typeface="Roboto Mono"/>
                <a:ea typeface="Roboto Mono"/>
                <a:cs typeface="Roboto Mono"/>
                <a:sym typeface="Roboto Mono"/>
              </a:rPr>
              <a:t>2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1117600" y="2921000"/>
            <a:ext cx="4978400" cy="838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333"/>
              </a:lnSpc>
              <a:defRPr/>
            </a:pPr>
            <a:r>
              <a:rPr lang="en-US" sz="1400" b="1" i="0" u="none" strike="noStrike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一服务一库一账号：</a:t>
            </a:r>
            <a:r>
              <a:rPr lang="en-US" sz="1400" b="0" i="0" u="none" strike="noStrike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6 个 travelmate_* 独立</a:t>
            </a:r>
            <a:endParaRPr lang="en-US" sz="1100"/>
          </a:p>
          <a:p>
            <a:pPr marL="0" indent="0" algn="l">
              <a:lnSpc>
                <a:spcPct val="133333"/>
              </a:lnSpc>
            </a:pPr>
            <a:r>
              <a:rPr lang="en-US" sz="1400" b="0" i="0" u="none" strike="noStrike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Schema；先 REVOKE ALL，再仅授予本库增删改查。</a:t>
            </a:r>
          </a:p>
        </p:txBody>
      </p:sp>
      <p:cxnSp>
        <p:nvCxnSpPr>
          <p:cNvPr id="13" name="Connector 13"/>
          <p:cNvCxnSpPr/>
          <p:nvPr/>
        </p:nvCxnSpPr>
        <p:spPr>
          <a:xfrm rot="-8107">
            <a:off x="711207" y="3879850"/>
            <a:ext cx="5384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9DEE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" name="AutoShape 14"/>
          <p:cNvSpPr/>
          <p:nvPr/>
        </p:nvSpPr>
        <p:spPr>
          <a:xfrm>
            <a:off x="711200" y="4038600"/>
            <a:ext cx="381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2563EB"/>
                </a:solidFill>
                <a:latin typeface="Roboto Mono"/>
                <a:ea typeface="Roboto Mono"/>
                <a:cs typeface="Roboto Mono"/>
                <a:sym typeface="Roboto Mono"/>
              </a:rPr>
              <a:t>3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1117600" y="4013200"/>
            <a:ext cx="4978400" cy="838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333"/>
              </a:lnSpc>
              <a:defRPr/>
            </a:pPr>
            <a:r>
              <a:rPr lang="en-US" sz="1400" b="1" i="0" u="none" strike="noStrike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跨服务取数只走接口：</a:t>
            </a:r>
            <a:r>
              <a:rPr lang="en-US" sz="1400" b="0" i="0" u="none" strike="noStrike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/internal/** 配合内部</a:t>
            </a:r>
            <a:endParaRPr lang="en-US" sz="1100"/>
          </a:p>
          <a:p>
            <a:pPr marL="0" indent="0" algn="l">
              <a:lnSpc>
                <a:spcPct val="133333"/>
              </a:lnSpc>
            </a:pPr>
            <a:r>
              <a:rPr lang="en-US" sz="1400" b="0" i="0" u="none" strike="noStrike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令牌；状态变更走 Outbox 与幂等键，不直连他库。</a:t>
            </a:r>
          </a:p>
        </p:txBody>
      </p:sp>
      <p:cxnSp>
        <p:nvCxnSpPr>
          <p:cNvPr id="16" name="Connector 16"/>
          <p:cNvCxnSpPr/>
          <p:nvPr/>
        </p:nvCxnSpPr>
        <p:spPr>
          <a:xfrm rot="-8107">
            <a:off x="711207" y="4972050"/>
            <a:ext cx="5384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9DEE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7" name="AutoShape 17"/>
          <p:cNvSpPr/>
          <p:nvPr/>
        </p:nvSpPr>
        <p:spPr>
          <a:xfrm>
            <a:off x="711200" y="5130800"/>
            <a:ext cx="5384800" cy="1092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41666"/>
              </a:lnSpc>
              <a:defRPr/>
            </a:pPr>
            <a:r>
              <a:rPr lang="en-US" sz="1400" b="1" i="0" u="none" strike="noStrike">
                <a:solidFill>
                  <a:srgbClr val="536174"/>
                </a:solidFill>
                <a:latin typeface="Noto Sans SC"/>
                <a:ea typeface="Noto Sans SC"/>
                <a:cs typeface="Noto Sans SC"/>
                <a:sym typeface="Noto Sans SC"/>
              </a:rPr>
              <a:t>部署形态：</a:t>
            </a:r>
            <a:r>
              <a:rPr lang="en-US" sz="1400" b="0" i="0" u="none" strike="noStrike">
                <a:solidFill>
                  <a:srgbClr val="536174"/>
                </a:solidFill>
                <a:latin typeface="Noto Sans SC"/>
                <a:ea typeface="Noto Sans SC"/>
                <a:cs typeface="Noto Sans SC"/>
                <a:sym typeface="Noto Sans SC"/>
              </a:rPr>
              <a:t>Kubernetes 中 6 个 MySQL StatefulSet，各自挂载独立 5Gi PVC；本地 Compose 六库端口 3307–3312；Redis 单实例按服务 key 前缀隔离。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6502400" y="1346200"/>
            <a:ext cx="49784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隔离实证：跨库查询全部被 MySQL 拒绝</a:t>
            </a:r>
            <a:endParaRPr lang="en-US" sz="1100"/>
          </a:p>
        </p:txBody>
      </p:sp>
      <p:cxnSp>
        <p:nvCxnSpPr>
          <p:cNvPr id="19" name="Connector 19"/>
          <p:cNvCxnSpPr/>
          <p:nvPr/>
        </p:nvCxnSpPr>
        <p:spPr>
          <a:xfrm rot="-8769">
            <a:off x="6502408" y="1695450"/>
            <a:ext cx="4978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2563EB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graphicFrame>
        <p:nvGraphicFramePr>
          <p:cNvPr id="20" name="Table 20"/>
          <p:cNvGraphicFramePr>
            <a:graphicFrameLocks noGrp="1"/>
          </p:cNvGraphicFramePr>
          <p:nvPr/>
        </p:nvGraphicFramePr>
        <p:xfrm>
          <a:off x="6502400" y="1854200"/>
          <a:ext cx="4978400" cy="2933999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2006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59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3999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　应用账号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D132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　尝试访问他库表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D132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结果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D1326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00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sz="1000" b="0">
                          <a:solidFill>
                            <a:srgbClr val="2E343C"/>
                          </a:solidFill>
                          <a:latin typeface="Roboto Mono"/>
                        </a:rPr>
                        <a:t>　travelmate_identity_app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sz="1000" b="0">
                          <a:solidFill>
                            <a:srgbClr val="2E343C"/>
                          </a:solidFill>
                          <a:latin typeface="Roboto Mono"/>
                        </a:rPr>
                        <a:t>traffic.tm_flight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C9302C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1142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300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sz="1000" b="0">
                          <a:solidFill>
                            <a:srgbClr val="2E343C"/>
                          </a:solidFill>
                          <a:latin typeface="Roboto Mono"/>
                        </a:rPr>
                        <a:t>　travelmate_traffic_app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sz="1000" b="0">
                          <a:solidFill>
                            <a:srgbClr val="2E343C"/>
                          </a:solidFill>
                          <a:latin typeface="Roboto Mono"/>
                        </a:rPr>
                        <a:t>local.tm_hotel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C9302C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1142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300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sz="1000" b="0">
                          <a:solidFill>
                            <a:srgbClr val="2E343C"/>
                          </a:solidFill>
                          <a:latin typeface="Roboto Mono"/>
                        </a:rPr>
                        <a:t>　travelmate_local_app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sz="1000" b="0">
                          <a:solidFill>
                            <a:srgbClr val="2E343C"/>
                          </a:solidFill>
                          <a:latin typeface="Roboto Mono"/>
                        </a:rPr>
                        <a:t>ai.tm_notification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C9302C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1142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300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sz="1000" b="0" dirty="0">
                          <a:solidFill>
                            <a:srgbClr val="2E343C"/>
                          </a:solidFill>
                          <a:latin typeface="Roboto Mono"/>
                        </a:rPr>
                        <a:t>　</a:t>
                      </a:r>
                      <a:r>
                        <a:rPr sz="1000" b="0" dirty="0" err="1">
                          <a:solidFill>
                            <a:srgbClr val="2E343C"/>
                          </a:solidFill>
                          <a:latin typeface="Roboto Mono"/>
                        </a:rPr>
                        <a:t>travelmate_ai_app</a:t>
                      </a:r>
                      <a:endParaRPr lang="en-US" sz="1100" dirty="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sz="1000" b="0">
                          <a:solidFill>
                            <a:srgbClr val="2E343C"/>
                          </a:solidFill>
                          <a:latin typeface="Roboto Mono"/>
                        </a:rPr>
                        <a:t>identity.tm_user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 dirty="0">
                          <a:solidFill>
                            <a:srgbClr val="C9302C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1142</a:t>
                      </a:r>
                      <a:endParaRPr lang="en-US" sz="1100" dirty="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1" name="AutoShape 21"/>
          <p:cNvSpPr/>
          <p:nvPr/>
        </p:nvSpPr>
        <p:spPr>
          <a:xfrm>
            <a:off x="6502400" y="5078882"/>
            <a:ext cx="4978400" cy="1384300"/>
          </a:xfrm>
          <a:prstGeom prst="roundRect">
            <a:avLst>
              <a:gd name="adj" fmla="val 0"/>
            </a:avLst>
          </a:prstGeom>
          <a:solidFill>
            <a:srgbClr val="0D132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2" name="AutoShape 22"/>
          <p:cNvSpPr/>
          <p:nvPr/>
        </p:nvSpPr>
        <p:spPr>
          <a:xfrm>
            <a:off x="6654800" y="5351932"/>
            <a:ext cx="4673600" cy="838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50000"/>
              </a:lnSpc>
              <a:defRPr/>
            </a:pPr>
            <a:r>
              <a:rPr lang="en-US" sz="1200" b="0" i="0" u="none" strike="noStrike" dirty="0">
                <a:solidFill>
                  <a:srgbClr val="BFD7FF"/>
                </a:solidFill>
                <a:latin typeface="Roboto Mono"/>
                <a:ea typeface="Roboto Mono"/>
                <a:cs typeface="Roboto Mono"/>
                <a:sym typeface="Roboto Mono"/>
              </a:rPr>
              <a:t>REVOKE ALL PRIVILEGES, GRANT OPTION</a:t>
            </a:r>
            <a:endParaRPr lang="en-US" sz="1200" dirty="0"/>
          </a:p>
          <a:p>
            <a:pPr marL="0" indent="0" algn="l">
              <a:lnSpc>
                <a:spcPct val="150000"/>
              </a:lnSpc>
            </a:pPr>
            <a:r>
              <a:rPr lang="en-US" sz="1200" b="0" i="0" u="none" strike="noStrike" dirty="0">
                <a:solidFill>
                  <a:srgbClr val="BFD7FF"/>
                </a:solidFill>
                <a:latin typeface="Roboto Mono"/>
                <a:ea typeface="Roboto Mono"/>
                <a:cs typeface="Roboto Mono"/>
                <a:sym typeface="Roboto Mono"/>
              </a:rPr>
              <a:t>　FROM '</a:t>
            </a:r>
            <a:r>
              <a:rPr lang="en-US" sz="1200" b="0" i="0" u="none" strike="noStrike" dirty="0" err="1">
                <a:solidFill>
                  <a:srgbClr val="BFD7FF"/>
                </a:solidFill>
                <a:latin typeface="Roboto Mono"/>
                <a:ea typeface="Roboto Mono"/>
                <a:cs typeface="Roboto Mono"/>
                <a:sym typeface="Roboto Mono"/>
              </a:rPr>
              <a:t>travelmate_traffic_app</a:t>
            </a:r>
            <a:r>
              <a:rPr lang="en-US" sz="1200" b="0" i="0" u="none" strike="noStrike" dirty="0">
                <a:solidFill>
                  <a:srgbClr val="BFD7FF"/>
                </a:solidFill>
                <a:latin typeface="Roboto Mono"/>
                <a:ea typeface="Roboto Mono"/>
                <a:cs typeface="Roboto Mono"/>
                <a:sym typeface="Roboto Mono"/>
              </a:rPr>
              <a:t>'@'%';</a:t>
            </a:r>
          </a:p>
          <a:p>
            <a:pPr marL="0" indent="0" algn="l">
              <a:lnSpc>
                <a:spcPct val="150000"/>
              </a:lnSpc>
            </a:pPr>
            <a:r>
              <a:rPr lang="en-US" sz="1200" b="0" i="0" u="none" strike="noStrike" dirty="0">
                <a:solidFill>
                  <a:srgbClr val="BFD7FF"/>
                </a:solidFill>
                <a:latin typeface="Roboto Mono"/>
                <a:ea typeface="Roboto Mono"/>
                <a:cs typeface="Roboto Mono"/>
                <a:sym typeface="Roboto Mono"/>
              </a:rPr>
              <a:t>GRANT SELECT,INSERT,UPDATE,DELETE</a:t>
            </a:r>
          </a:p>
          <a:p>
            <a:pPr marL="0" indent="0" algn="l">
              <a:lnSpc>
                <a:spcPct val="150000"/>
              </a:lnSpc>
            </a:pPr>
            <a:r>
              <a:rPr lang="en-US" sz="1200" b="0" i="0" u="none" strike="noStrike" dirty="0">
                <a:solidFill>
                  <a:srgbClr val="BFD7FF"/>
                </a:solidFill>
                <a:latin typeface="Roboto Mono"/>
                <a:ea typeface="Roboto Mono"/>
                <a:cs typeface="Roboto Mono"/>
                <a:sym typeface="Roboto Mono"/>
              </a:rPr>
              <a:t>　ON travelmate_traffic.* TO '</a:t>
            </a:r>
            <a:r>
              <a:rPr lang="en-US" sz="1200" b="0" i="0" u="none" strike="noStrike" dirty="0" err="1">
                <a:solidFill>
                  <a:srgbClr val="BFD7FF"/>
                </a:solidFill>
                <a:latin typeface="Roboto Mono"/>
                <a:ea typeface="Roboto Mono"/>
                <a:cs typeface="Roboto Mono"/>
                <a:sym typeface="Roboto Mono"/>
              </a:rPr>
              <a:t>travelmate_traffic_app</a:t>
            </a:r>
            <a:r>
              <a:rPr lang="en-US" sz="1200" b="0" i="0" u="none" strike="noStrike" dirty="0">
                <a:solidFill>
                  <a:srgbClr val="BFD7FF"/>
                </a:solidFill>
                <a:latin typeface="Roboto Mono"/>
                <a:ea typeface="Roboto Mono"/>
                <a:cs typeface="Roboto Mono"/>
                <a:sym typeface="Roboto Mono"/>
              </a:rPr>
              <a:t>'@'%';</a:t>
            </a:r>
          </a:p>
        </p:txBody>
      </p:sp>
      <p:sp>
        <p:nvSpPr>
          <p:cNvPr id="23" name="AutoShape 23"/>
          <p:cNvSpPr/>
          <p:nvPr/>
        </p:nvSpPr>
        <p:spPr>
          <a:xfrm>
            <a:off x="6502400" y="6463182"/>
            <a:ext cx="49784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 dirty="0">
                <a:solidFill>
                  <a:srgbClr val="8C96A6"/>
                </a:solidFill>
                <a:latin typeface="Roboto Mono"/>
                <a:ea typeface="Roboto Mono"/>
                <a:cs typeface="Roboto Mono"/>
                <a:sym typeface="Roboto Mono"/>
              </a:rPr>
              <a:t>deploy/k8s/microservice-database-</a:t>
            </a:r>
            <a:r>
              <a:rPr lang="en-US" sz="1000" b="0" i="0" u="none" strike="noStrike" dirty="0" err="1">
                <a:solidFill>
                  <a:srgbClr val="8C96A6"/>
                </a:solidFill>
                <a:latin typeface="Roboto Mono"/>
                <a:ea typeface="Roboto Mono"/>
                <a:cs typeface="Roboto Mono"/>
                <a:sym typeface="Roboto Mono"/>
              </a:rPr>
              <a:t>bootstrap.yaml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8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11200" y="330200"/>
            <a:ext cx="6350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2563EB"/>
                </a:solidFill>
                <a:latin typeface="微软雅黑"/>
                <a:ea typeface="Roboto Mono"/>
                <a:cs typeface="Roboto Mono"/>
                <a:sym typeface="Roboto Mono"/>
              </a:rPr>
              <a:t>08 / INTEGRATION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10769600" y="330200"/>
            <a:ext cx="7112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8C96A6"/>
                </a:solidFill>
                <a:latin typeface="微软雅黑"/>
                <a:ea typeface="Roboto Mono"/>
                <a:cs typeface="Roboto Mono"/>
                <a:sym typeface="Roboto Mono"/>
              </a:rPr>
              <a:t>10 / 20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11200" y="584200"/>
            <a:ext cx="107696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600" b="1" i="0" u="none" strike="noStrike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跨服务协作与失败补偿契约</a:t>
            </a:r>
            <a:endParaRPr lang="en-US" sz="1100"/>
          </a:p>
        </p:txBody>
      </p:sp>
      <p:cxnSp>
        <p:nvCxnSpPr>
          <p:cNvPr id="5" name="Connector 5"/>
          <p:cNvCxnSpPr/>
          <p:nvPr/>
        </p:nvCxnSpPr>
        <p:spPr>
          <a:xfrm rot="-4053">
            <a:off x="711204" y="1162050"/>
            <a:ext cx="10769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9DEE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6" name="Picture 6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711200" y="1320800"/>
            <a:ext cx="6858000" cy="4572000"/>
          </a:xfrm>
          <a:prstGeom prst="rect">
            <a:avLst/>
          </a:prstGeom>
          <a:noFill/>
          <a:ln w="12700" cap="flat" cmpd="sng">
            <a:solidFill>
              <a:srgbClr val="D9DEE7">
                <a:alpha val="100000"/>
              </a:srgbClr>
            </a:solidFill>
            <a:prstDash val="solid"/>
            <a:round/>
          </a:ln>
        </p:spPr>
      </p:pic>
      <p:sp>
        <p:nvSpPr>
          <p:cNvPr id="7" name="AutoShape 7"/>
          <p:cNvSpPr/>
          <p:nvPr/>
        </p:nvSpPr>
        <p:spPr>
          <a:xfrm>
            <a:off x="711200" y="5943600"/>
            <a:ext cx="68580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8C96A6"/>
                </a:solidFill>
                <a:latin typeface="Noto Sans SC"/>
                <a:ea typeface="Noto Sans SC"/>
                <a:cs typeface="Noto Sans SC"/>
                <a:sym typeface="Noto Sans SC"/>
              </a:rPr>
              <a:t>图 3　跨服务调用与失败补偿（源自《详细设计说明》图 27）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7874000" y="1320800"/>
            <a:ext cx="36068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内部接口契约（已冻结）</a:t>
            </a:r>
            <a:endParaRPr lang="en-US" sz="1100"/>
          </a:p>
        </p:txBody>
      </p:sp>
      <p:cxnSp>
        <p:nvCxnSpPr>
          <p:cNvPr id="9" name="Connector 9"/>
          <p:cNvCxnSpPr/>
          <p:nvPr/>
        </p:nvCxnSpPr>
        <p:spPr>
          <a:xfrm rot="-12104">
            <a:off x="7874011" y="1670050"/>
            <a:ext cx="3606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2563EB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10" name="AutoShape 10"/>
          <p:cNvSpPr/>
          <p:nvPr/>
        </p:nvSpPr>
        <p:spPr>
          <a:xfrm>
            <a:off x="7874000" y="1803400"/>
            <a:ext cx="3606800" cy="419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333"/>
              </a:lnSpc>
              <a:defRPr/>
            </a:pPr>
            <a:r>
              <a:rPr lang="en-US" sz="1400" b="1" i="0" u="none" strike="noStrike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鉴权</a:t>
            </a:r>
            <a:r>
              <a:rPr lang="en-US" sz="1400" b="0" i="0" u="none" strike="noStrike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　X-Internal-Token 共享密钥；/internal/** 不走浏览器 CSRF，但必过服务令牌校验</a:t>
            </a:r>
            <a:endParaRPr lang="en-US" sz="1100"/>
          </a:p>
          <a:p>
            <a:pPr marL="0" indent="0" algn="l">
              <a:lnSpc>
                <a:spcPct val="133333"/>
              </a:lnSpc>
            </a:pPr>
            <a:endParaRPr lang="en-US" sz="1100"/>
          </a:p>
          <a:p>
            <a:pPr marL="0" indent="0" algn="l">
              <a:lnSpc>
                <a:spcPct val="133333"/>
              </a:lnSpc>
            </a:pPr>
            <a:r>
              <a:rPr lang="en-US" sz="1400" b="1" i="0" u="none" strike="noStrike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超时</a:t>
            </a:r>
            <a:r>
              <a:rPr lang="en-US" sz="1400" b="0" i="0" u="none" strike="noStrike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　连接 1s、读取 2s，四个超时均可由环境变量调整</a:t>
            </a:r>
          </a:p>
          <a:p>
            <a:pPr marL="0" indent="0" algn="l">
              <a:lnSpc>
                <a:spcPct val="133333"/>
              </a:lnSpc>
            </a:pPr>
            <a:endParaRPr lang="en-US" sz="1300" b="0" i="0" u="none" strike="noStrike">
              <a:solidFill>
                <a:srgbClr val="2E343C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0" indent="0" algn="l">
              <a:lnSpc>
                <a:spcPct val="133333"/>
              </a:lnSpc>
            </a:pPr>
            <a:r>
              <a:rPr lang="en-US" sz="1400" b="1" i="0" u="none" strike="noStrike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降级</a:t>
            </a:r>
            <a:r>
              <a:rPr lang="en-US" sz="1400" b="0" i="0" u="none" strike="noStrike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　连接失败、超时、依赖 5xx 统一转 503 固定错误码；业务 4xx 原样透传</a:t>
            </a:r>
          </a:p>
          <a:p>
            <a:pPr marL="0" indent="0" algn="l">
              <a:lnSpc>
                <a:spcPct val="133333"/>
              </a:lnSpc>
            </a:pPr>
            <a:endParaRPr lang="en-US" sz="1300" b="0" i="0" u="none" strike="noStrike">
              <a:solidFill>
                <a:srgbClr val="2E343C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0" indent="0" algn="l">
              <a:lnSpc>
                <a:spcPct val="133333"/>
              </a:lnSpc>
            </a:pPr>
            <a:r>
              <a:rPr lang="en-US" sz="1400" b="1" i="0" u="none" strike="noStrike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幂等</a:t>
            </a:r>
            <a:r>
              <a:rPr lang="en-US" sz="1400" b="0" i="0" u="none" strike="noStrike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　Idempotency-Key=eventId；Outbox 指数退避、卡住认领恢复、超限进死信</a:t>
            </a:r>
          </a:p>
          <a:p>
            <a:pPr marL="0" indent="0" algn="l">
              <a:lnSpc>
                <a:spcPct val="133333"/>
              </a:lnSpc>
            </a:pPr>
            <a:endParaRPr lang="en-US" sz="1300" b="0" i="0" u="none" strike="noStrike">
              <a:solidFill>
                <a:srgbClr val="2E343C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0" indent="0" algn="l">
              <a:lnSpc>
                <a:spcPct val="133333"/>
              </a:lnSpc>
            </a:pPr>
            <a:r>
              <a:rPr lang="en-US" sz="1400" b="1" i="0" u="none" strike="noStrike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事务保护</a:t>
            </a:r>
            <a:r>
              <a:rPr lang="en-US" sz="1400" b="0" i="0" u="none" strike="noStrike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　身份校验失败不进入库存扣减；优惠券核销失败则订单事务整体回滚、不写订单</a:t>
            </a:r>
          </a:p>
        </p:txBody>
      </p:sp>
      <p:cxnSp>
        <p:nvCxnSpPr>
          <p:cNvPr id="11" name="Connector 11"/>
          <p:cNvCxnSpPr/>
          <p:nvPr/>
        </p:nvCxnSpPr>
        <p:spPr>
          <a:xfrm rot="-12104">
            <a:off x="7874011" y="6064250"/>
            <a:ext cx="3606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9DEE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" name="AutoShape 12"/>
          <p:cNvSpPr/>
          <p:nvPr/>
        </p:nvSpPr>
        <p:spPr>
          <a:xfrm>
            <a:off x="7874000" y="6172200"/>
            <a:ext cx="36068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536174"/>
                </a:solidFill>
                <a:latin typeface="Roboto Mono"/>
                <a:ea typeface="Roboto Mono"/>
                <a:cs typeface="Roboto Mono"/>
                <a:sym typeface="Roboto Mono"/>
              </a:rPr>
              <a:t>契约模块：travelmate-contract</a:t>
            </a:r>
            <a:endParaRPr lang="en-US" sz="11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8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11200" y="330200"/>
            <a:ext cx="6350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2563EB"/>
                </a:solidFill>
                <a:latin typeface="微软雅黑"/>
                <a:ea typeface="Roboto Mono"/>
                <a:cs typeface="Roboto Mono"/>
                <a:sym typeface="Roboto Mono"/>
              </a:rPr>
              <a:t>09 / CI/CD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10769600" y="330200"/>
            <a:ext cx="7112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8C96A6"/>
                </a:solidFill>
                <a:latin typeface="微软雅黑"/>
                <a:ea typeface="Roboto Mono"/>
                <a:cs typeface="Roboto Mono"/>
                <a:sym typeface="Roboto Mono"/>
              </a:rPr>
              <a:t>11 / 20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11200" y="584200"/>
            <a:ext cx="107696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600" b="1" i="0" u="none" strike="noStrike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CI/CD 四道质量闸</a:t>
            </a:r>
            <a:endParaRPr lang="en-US" sz="1100"/>
          </a:p>
        </p:txBody>
      </p:sp>
      <p:cxnSp>
        <p:nvCxnSpPr>
          <p:cNvPr id="5" name="Connector 5"/>
          <p:cNvCxnSpPr/>
          <p:nvPr/>
        </p:nvCxnSpPr>
        <p:spPr>
          <a:xfrm rot="-4053">
            <a:off x="711204" y="1162050"/>
            <a:ext cx="10769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9DEE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6" name="Picture 6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711200" y="1320800"/>
            <a:ext cx="7086600" cy="4724400"/>
          </a:xfrm>
          <a:prstGeom prst="rect">
            <a:avLst/>
          </a:prstGeom>
          <a:noFill/>
          <a:ln w="12700" cap="flat" cmpd="sng">
            <a:solidFill>
              <a:srgbClr val="D9DEE7">
                <a:alpha val="100000"/>
              </a:srgbClr>
            </a:solidFill>
            <a:prstDash val="solid"/>
            <a:round/>
          </a:ln>
        </p:spPr>
      </p:pic>
      <p:sp>
        <p:nvSpPr>
          <p:cNvPr id="7" name="AutoShape 7"/>
          <p:cNvSpPr/>
          <p:nvPr/>
        </p:nvSpPr>
        <p:spPr>
          <a:xfrm>
            <a:off x="711200" y="6096000"/>
            <a:ext cx="70866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8C96A6"/>
                </a:solidFill>
                <a:latin typeface="Noto Sans SC"/>
                <a:ea typeface="Noto Sans SC"/>
                <a:cs typeface="Noto Sans SC"/>
                <a:sym typeface="Noto Sans SC"/>
              </a:rPr>
              <a:t>图 4　容器化与 CI/CD 流水线拓扑（源自《详细设计说明》图 28）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8077200" y="1320800"/>
            <a:ext cx="34036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14 个 Job · 四道闸</a:t>
            </a:r>
            <a:endParaRPr lang="en-US" sz="1100"/>
          </a:p>
        </p:txBody>
      </p:sp>
      <p:cxnSp>
        <p:nvCxnSpPr>
          <p:cNvPr id="9" name="Connector 9"/>
          <p:cNvCxnSpPr/>
          <p:nvPr/>
        </p:nvCxnSpPr>
        <p:spPr>
          <a:xfrm rot="-12827">
            <a:off x="8077212" y="1670050"/>
            <a:ext cx="3403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2563EB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10" name="AutoShape 10"/>
          <p:cNvSpPr/>
          <p:nvPr/>
        </p:nvSpPr>
        <p:spPr>
          <a:xfrm>
            <a:off x="8077200" y="1803400"/>
            <a:ext cx="3403600" cy="939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9166"/>
              </a:lnSpc>
              <a:defRPr/>
            </a:pPr>
            <a:r>
              <a:rPr lang="en-US" sz="1400" b="1" i="0" u="none" strike="noStrike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闸 1　变更识别</a:t>
            </a:r>
            <a:endParaRPr lang="en-US" sz="1100"/>
          </a:p>
          <a:p>
            <a:pPr marL="0" indent="0" algn="l">
              <a:lnSpc>
                <a:spcPct val="129166"/>
              </a:lnSpc>
            </a:pPr>
            <a:r>
              <a:rPr lang="en-US" sz="1400" b="0" i="0" u="none" strike="noStrike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changes 按路径决定要跑哪些任务，</a:t>
            </a:r>
          </a:p>
          <a:p>
            <a:pPr marL="0" indent="0" algn="l">
              <a:lnSpc>
                <a:spcPct val="129166"/>
              </a:lnSpc>
            </a:pPr>
            <a:r>
              <a:rPr lang="en-US" sz="1400" b="0" i="0" u="none" strike="noStrike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避免无效构建。</a:t>
            </a:r>
          </a:p>
        </p:txBody>
      </p:sp>
      <p:cxnSp>
        <p:nvCxnSpPr>
          <p:cNvPr id="11" name="Connector 11"/>
          <p:cNvCxnSpPr/>
          <p:nvPr/>
        </p:nvCxnSpPr>
        <p:spPr>
          <a:xfrm rot="-12827">
            <a:off x="8077212" y="2787650"/>
            <a:ext cx="3403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9DEE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" name="AutoShape 12"/>
          <p:cNvSpPr/>
          <p:nvPr/>
        </p:nvSpPr>
        <p:spPr>
          <a:xfrm>
            <a:off x="8077200" y="2895600"/>
            <a:ext cx="3403600" cy="1092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9166"/>
              </a:lnSpc>
              <a:defRPr/>
            </a:pPr>
            <a:r>
              <a:rPr lang="en-US" sz="1400" b="1" i="0" u="none" strike="noStrike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闸 2　质量门 ci-gate</a:t>
            </a:r>
            <a:endParaRPr lang="en-US" sz="1100"/>
          </a:p>
          <a:p>
            <a:pPr marL="0" indent="0" algn="l">
              <a:lnSpc>
                <a:spcPct val="129166"/>
              </a:lnSpc>
            </a:pPr>
            <a:r>
              <a:rPr lang="en-US" sz="1400" b="0" i="0" u="none" strike="noStrike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后端 / 微服务 / 前端测试 + 真实</a:t>
            </a:r>
          </a:p>
          <a:p>
            <a:pPr marL="0" indent="0" algn="l">
              <a:lnSpc>
                <a:spcPct val="129166"/>
              </a:lnSpc>
            </a:pPr>
            <a:r>
              <a:rPr lang="en-US" sz="1400" b="0" i="0" u="none" strike="noStrike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数据库 E2E，任一失败则不可合并。</a:t>
            </a:r>
          </a:p>
        </p:txBody>
      </p:sp>
      <p:cxnSp>
        <p:nvCxnSpPr>
          <p:cNvPr id="13" name="Connector 13"/>
          <p:cNvCxnSpPr/>
          <p:nvPr/>
        </p:nvCxnSpPr>
        <p:spPr>
          <a:xfrm rot="-12827">
            <a:off x="8077212" y="4032250"/>
            <a:ext cx="3403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9DEE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" name="AutoShape 14"/>
          <p:cNvSpPr/>
          <p:nvPr/>
        </p:nvSpPr>
        <p:spPr>
          <a:xfrm>
            <a:off x="8077200" y="4140200"/>
            <a:ext cx="3403600" cy="1092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9166"/>
              </a:lnSpc>
              <a:defRPr/>
            </a:pPr>
            <a:r>
              <a:rPr lang="en-US" sz="1400" b="1" i="0" u="none" strike="noStrike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闸 3　发布门 release-gate</a:t>
            </a:r>
            <a:endParaRPr lang="en-US" sz="1100"/>
          </a:p>
          <a:p>
            <a:pPr marL="0" indent="0" algn="l">
              <a:lnSpc>
                <a:spcPct val="129166"/>
              </a:lnSpc>
            </a:pPr>
            <a:r>
              <a:rPr lang="en-US" sz="1400" b="0" i="0" u="none" strike="noStrike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Trivy 扫描镜像并推送 GHCR，生成</a:t>
            </a:r>
          </a:p>
          <a:p>
            <a:pPr marL="0" indent="0" algn="l">
              <a:lnSpc>
                <a:spcPct val="129166"/>
              </a:lnSpc>
            </a:pPr>
            <a:r>
              <a:rPr lang="en-US" sz="1400" b="0" i="0" u="none" strike="noStrike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发布证据与制品清单。</a:t>
            </a:r>
          </a:p>
        </p:txBody>
      </p:sp>
      <p:cxnSp>
        <p:nvCxnSpPr>
          <p:cNvPr id="15" name="Connector 15"/>
          <p:cNvCxnSpPr/>
          <p:nvPr/>
        </p:nvCxnSpPr>
        <p:spPr>
          <a:xfrm rot="-12827">
            <a:off x="8077212" y="5276850"/>
            <a:ext cx="3403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9DEE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6" name="AutoShape 16"/>
          <p:cNvSpPr/>
          <p:nvPr/>
        </p:nvSpPr>
        <p:spPr>
          <a:xfrm>
            <a:off x="8077200" y="5384800"/>
            <a:ext cx="3403600" cy="914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9166"/>
              </a:lnSpc>
              <a:defRPr/>
            </a:pPr>
            <a:r>
              <a:rPr lang="en-US" sz="1400" b="1" i="0" u="none" strike="noStrike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闸 4　交付门 delivery-gate</a:t>
            </a:r>
            <a:endParaRPr lang="en-US" sz="1100"/>
          </a:p>
          <a:p>
            <a:pPr marL="0" indent="0" algn="l">
              <a:lnSpc>
                <a:spcPct val="129166"/>
              </a:lnSpc>
            </a:pPr>
            <a:r>
              <a:rPr lang="en-US" sz="1400" b="0" i="0" u="none" strike="noStrike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部署 Kubernetes、跑健康检查，全绿</a:t>
            </a:r>
          </a:p>
          <a:p>
            <a:pPr marL="0" indent="0" algn="l">
              <a:lnSpc>
                <a:spcPct val="129166"/>
              </a:lnSpc>
            </a:pPr>
            <a:r>
              <a:rPr lang="en-US" sz="1400" b="0" i="0" u="none" strike="noStrike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才标记本次交付完成。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8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11200" y="330200"/>
            <a:ext cx="6350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2563EB"/>
                </a:solidFill>
                <a:latin typeface="微软雅黑"/>
                <a:ea typeface="Roboto Mono"/>
                <a:cs typeface="Roboto Mono"/>
                <a:sym typeface="Roboto Mono"/>
              </a:rPr>
              <a:t>09 / CI/CD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10769600" y="330200"/>
            <a:ext cx="7112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8C96A6"/>
                </a:solidFill>
                <a:latin typeface="微软雅黑"/>
                <a:ea typeface="Roboto Mono"/>
                <a:cs typeface="Roboto Mono"/>
                <a:sym typeface="Roboto Mono"/>
              </a:rPr>
              <a:t>12 / 20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11200" y="584200"/>
            <a:ext cx="107696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600" b="1" i="0" u="none" strike="noStrike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流水线实证：Run #217 全绿</a:t>
            </a:r>
            <a:endParaRPr lang="en-US" sz="1100"/>
          </a:p>
        </p:txBody>
      </p:sp>
      <p:cxnSp>
        <p:nvCxnSpPr>
          <p:cNvPr id="5" name="Connector 5"/>
          <p:cNvCxnSpPr/>
          <p:nvPr/>
        </p:nvCxnSpPr>
        <p:spPr>
          <a:xfrm rot="-4053">
            <a:off x="711204" y="1162050"/>
            <a:ext cx="10769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9DEE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6" name="Picture 6"/>
          <p:cNvPicPr>
            <a:picLocks noChangeAspect="1"/>
          </p:cNvPicPr>
          <p:nvPr/>
        </p:nvPicPr>
        <p:blipFill>
          <a:blip r:embed="rId3"/>
          <a:srcRect t="55" b="55"/>
          <a:stretch>
            <a:fillRect/>
          </a:stretch>
        </p:blipFill>
        <p:spPr>
          <a:xfrm>
            <a:off x="711200" y="1346200"/>
            <a:ext cx="7061200" cy="3822700"/>
          </a:xfrm>
          <a:prstGeom prst="rect">
            <a:avLst/>
          </a:prstGeom>
          <a:noFill/>
          <a:ln w="12700" cap="flat" cmpd="sng">
            <a:solidFill>
              <a:srgbClr val="D9DEE7">
                <a:alpha val="100000"/>
              </a:srgbClr>
            </a:solidFill>
            <a:prstDash val="solid"/>
            <a:round/>
          </a:ln>
        </p:spPr>
      </p:pic>
      <p:sp>
        <p:nvSpPr>
          <p:cNvPr id="7" name="AutoShape 7"/>
          <p:cNvSpPr/>
          <p:nvPr/>
        </p:nvSpPr>
        <p:spPr>
          <a:xfrm>
            <a:off x="711200" y="5232400"/>
            <a:ext cx="70612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8C96A6"/>
                </a:solidFill>
                <a:latin typeface="Noto Sans SC"/>
                <a:ea typeface="Noto Sans SC"/>
                <a:cs typeface="Noto Sans SC"/>
                <a:sym typeface="Noto Sans SC"/>
              </a:rPr>
              <a:t>截图：GitHub Actions Run #217（对应合并提交 PR #216），原始证据存于 05_management/CI-CD验收截图/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8077200" y="1346200"/>
            <a:ext cx="34036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本次运行结论</a:t>
            </a:r>
            <a:endParaRPr lang="en-US" sz="1100"/>
          </a:p>
        </p:txBody>
      </p:sp>
      <p:cxnSp>
        <p:nvCxnSpPr>
          <p:cNvPr id="9" name="Connector 9"/>
          <p:cNvCxnSpPr/>
          <p:nvPr/>
        </p:nvCxnSpPr>
        <p:spPr>
          <a:xfrm rot="-12827">
            <a:off x="8077212" y="1695450"/>
            <a:ext cx="3403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2563EB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10" name="AutoShape 10"/>
          <p:cNvSpPr/>
          <p:nvPr/>
        </p:nvSpPr>
        <p:spPr>
          <a:xfrm>
            <a:off x="8077200" y="1854200"/>
            <a:ext cx="3403600" cy="266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127000" indent="-127000" algn="l">
              <a:lnSpc>
                <a:spcPct val="145833"/>
              </a:lnSpc>
              <a:buClr>
                <a:srgbClr val="2E343C"/>
              </a:buClr>
              <a:buChar char="•"/>
              <a:defRPr/>
            </a:pPr>
            <a:r>
              <a:rPr lang="en-US" sz="1400" b="0" i="0" u="none" strike="noStrike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状态 Success，总耗时 11 分 44 秒</a:t>
            </a:r>
            <a:endParaRPr lang="en-US" sz="1100"/>
          </a:p>
          <a:p>
            <a:pPr marL="127000" indent="-127000" algn="l">
              <a:lnSpc>
                <a:spcPct val="145833"/>
              </a:lnSpc>
              <a:buClr>
                <a:srgbClr val="2E343C"/>
              </a:buClr>
              <a:buChar char="•"/>
            </a:pPr>
            <a:r>
              <a:rPr lang="en-US" sz="1400" b="0" i="0" u="none" strike="noStrike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全部 Job 通过，无跳过项</a:t>
            </a:r>
          </a:p>
          <a:p>
            <a:pPr marL="127000" indent="-127000" algn="l">
              <a:lnSpc>
                <a:spcPct val="145833"/>
              </a:lnSpc>
              <a:buClr>
                <a:srgbClr val="2E343C"/>
              </a:buClr>
              <a:buChar char="•"/>
            </a:pPr>
            <a:r>
              <a:rPr lang="en-US" sz="1400" b="0" i="0" u="none" strike="noStrike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10 个 Artifacts：测试报告、构建与部署证据自动归档</a:t>
            </a:r>
          </a:p>
          <a:p>
            <a:pPr marL="127000" indent="-127000" algn="l">
              <a:lnSpc>
                <a:spcPct val="145833"/>
              </a:lnSpc>
              <a:buClr>
                <a:srgbClr val="2E343C"/>
              </a:buClr>
              <a:buChar char="•"/>
            </a:pPr>
            <a:r>
              <a:rPr lang="en-US" sz="1400" b="0" i="0" u="none" strike="noStrike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真实数据库 E2E 在流水线容器内执行，非 Mock</a:t>
            </a:r>
          </a:p>
          <a:p>
            <a:pPr marL="127000" indent="-127000" algn="l">
              <a:lnSpc>
                <a:spcPct val="145833"/>
              </a:lnSpc>
              <a:buClr>
                <a:srgbClr val="2E343C"/>
              </a:buClr>
              <a:buChar char="•"/>
            </a:pPr>
            <a:r>
              <a:rPr lang="en-US" sz="1400" b="0" i="0" u="none" strike="noStrike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Trivy 镜像漏洞扫描通过后才允许推送 GHCR</a:t>
            </a:r>
          </a:p>
          <a:p>
            <a:pPr marL="127000" indent="-127000" algn="l">
              <a:lnSpc>
                <a:spcPct val="145833"/>
              </a:lnSpc>
              <a:buClr>
                <a:srgbClr val="2E343C"/>
              </a:buClr>
              <a:buChar char="•"/>
            </a:pPr>
            <a:r>
              <a:rPr lang="en-US" sz="1400" b="0" i="0" u="none" strike="noStrike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每个 Job 绑定具体 commit，结果可回放复核</a:t>
            </a:r>
          </a:p>
        </p:txBody>
      </p:sp>
      <p:cxnSp>
        <p:nvCxnSpPr>
          <p:cNvPr id="11" name="Connector 11"/>
          <p:cNvCxnSpPr/>
          <p:nvPr/>
        </p:nvCxnSpPr>
        <p:spPr>
          <a:xfrm rot="-12827">
            <a:off x="8077212" y="4667250"/>
            <a:ext cx="3403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9DEE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2" name="Picture 12"/>
          <p:cNvPicPr>
            <a:picLocks noChangeAspect="1"/>
          </p:cNvPicPr>
          <p:nvPr/>
        </p:nvPicPr>
        <p:blipFill>
          <a:blip r:embed="rId4"/>
          <a:srcRect t="272" b="272"/>
          <a:stretch>
            <a:fillRect/>
          </a:stretch>
        </p:blipFill>
        <p:spPr>
          <a:xfrm>
            <a:off x="8077200" y="4826000"/>
            <a:ext cx="3403600" cy="749300"/>
          </a:xfrm>
          <a:prstGeom prst="rect">
            <a:avLst/>
          </a:prstGeom>
          <a:noFill/>
          <a:ln w="12700" cap="flat" cmpd="sng">
            <a:solidFill>
              <a:srgbClr val="D9DEE7">
                <a:alpha val="100000"/>
              </a:srgbClr>
            </a:solidFill>
            <a:prstDash val="solid"/>
            <a:round/>
          </a:ln>
        </p:spPr>
      </p:pic>
      <p:sp>
        <p:nvSpPr>
          <p:cNvPr id="13" name="AutoShape 13"/>
          <p:cNvSpPr/>
          <p:nvPr/>
        </p:nvSpPr>
        <p:spPr>
          <a:xfrm>
            <a:off x="8077200" y="5638800"/>
            <a:ext cx="34036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536174"/>
                </a:solidFill>
                <a:latin typeface="Noto Sans SC"/>
                <a:ea typeface="Noto Sans SC"/>
                <a:cs typeface="Noto Sans SC"/>
                <a:sym typeface="Noto Sans SC"/>
              </a:rPr>
              <a:t>PR #216 合并记录：评审通过且 CI 全绿后才允许 Merge，门禁对失败提交真实拦截。</a:t>
            </a:r>
            <a:endParaRPr lang="en-US" sz="11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8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11200" y="330200"/>
            <a:ext cx="6350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2563EB"/>
                </a:solidFill>
                <a:latin typeface="微软雅黑"/>
                <a:ea typeface="Roboto Mono"/>
                <a:cs typeface="Roboto Mono"/>
                <a:sym typeface="Roboto Mono"/>
              </a:rPr>
              <a:t>10 / KUBERNETES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10769600" y="330200"/>
            <a:ext cx="7112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8C96A6"/>
                </a:solidFill>
                <a:latin typeface="微软雅黑"/>
                <a:ea typeface="Roboto Mono"/>
                <a:cs typeface="Roboto Mono"/>
                <a:sym typeface="Roboto Mono"/>
              </a:rPr>
              <a:t>13 / 20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11200" y="584200"/>
            <a:ext cx="107696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600" b="1" i="0" u="none" strike="noStrike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Kubernetes 部署实证</a:t>
            </a:r>
            <a:endParaRPr lang="en-US" sz="1100"/>
          </a:p>
        </p:txBody>
      </p:sp>
      <p:cxnSp>
        <p:nvCxnSpPr>
          <p:cNvPr id="5" name="Connector 5"/>
          <p:cNvCxnSpPr/>
          <p:nvPr/>
        </p:nvCxnSpPr>
        <p:spPr>
          <a:xfrm rot="-4053">
            <a:off x="711204" y="1162050"/>
            <a:ext cx="10769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9DEE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6" name="Picture 6"/>
          <p:cNvPicPr>
            <a:picLocks noChangeAspect="1"/>
          </p:cNvPicPr>
          <p:nvPr/>
        </p:nvPicPr>
        <p:blipFill>
          <a:blip r:embed="rId3"/>
          <a:srcRect l="23" r="23"/>
          <a:stretch>
            <a:fillRect/>
          </a:stretch>
        </p:blipFill>
        <p:spPr>
          <a:xfrm>
            <a:off x="711200" y="1346200"/>
            <a:ext cx="5588000" cy="2857500"/>
          </a:xfrm>
          <a:prstGeom prst="rect">
            <a:avLst/>
          </a:prstGeom>
          <a:noFill/>
          <a:ln w="12700" cap="flat" cmpd="sng">
            <a:solidFill>
              <a:srgbClr val="D9DEE7">
                <a:alpha val="100000"/>
              </a:srgbClr>
            </a:solidFill>
            <a:prstDash val="solid"/>
            <a:round/>
          </a:ln>
        </p:spPr>
      </p:pic>
      <p:sp>
        <p:nvSpPr>
          <p:cNvPr id="7" name="AutoShape 7"/>
          <p:cNvSpPr/>
          <p:nvPr/>
        </p:nvSpPr>
        <p:spPr>
          <a:xfrm>
            <a:off x="711200" y="4203700"/>
            <a:ext cx="5588000" cy="190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8C96A6"/>
                </a:solidFill>
                <a:latin typeface="Noto Sans SC"/>
                <a:ea typeface="Noto Sans SC"/>
                <a:cs typeface="Noto Sans SC"/>
                <a:sym typeface="Noto Sans SC"/>
              </a:rPr>
              <a:t>流水线内部署日志与部署后健康检查（截图 03）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6553200" y="1346200"/>
            <a:ext cx="49276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集群工作负载清单</a:t>
            </a:r>
            <a:endParaRPr lang="en-US" sz="1100"/>
          </a:p>
        </p:txBody>
      </p:sp>
      <p:cxnSp>
        <p:nvCxnSpPr>
          <p:cNvPr id="9" name="Connector 9"/>
          <p:cNvCxnSpPr/>
          <p:nvPr/>
        </p:nvCxnSpPr>
        <p:spPr>
          <a:xfrm rot="-8860">
            <a:off x="6553208" y="1695450"/>
            <a:ext cx="4927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2563EB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10" name="AutoShape 10"/>
          <p:cNvSpPr/>
          <p:nvPr/>
        </p:nvSpPr>
        <p:spPr>
          <a:xfrm>
            <a:off x="6553200" y="1854200"/>
            <a:ext cx="4927600" cy="241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127000" indent="-127000" algn="l">
              <a:lnSpc>
                <a:spcPct val="145833"/>
              </a:lnSpc>
              <a:spcAft>
                <a:spcPts val="1400"/>
              </a:spcAft>
              <a:buClr>
                <a:srgbClr val="2E343C"/>
              </a:buClr>
              <a:buChar char="•"/>
              <a:defRPr/>
            </a:pPr>
            <a:r>
              <a:rPr lang="en-US" sz="1400" b="0" i="0" u="none" strike="noStrike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6 个业务 Deployment，启动 / 就绪 / 存活三类探针齐全</a:t>
            </a:r>
            <a:endParaRPr lang="en-US" sz="1100"/>
          </a:p>
          <a:p>
            <a:pPr marL="127000" indent="-127000" algn="l">
              <a:lnSpc>
                <a:spcPct val="145833"/>
              </a:lnSpc>
              <a:spcAft>
                <a:spcPts val="1400"/>
              </a:spcAft>
              <a:buClr>
                <a:srgbClr val="2E343C"/>
              </a:buClr>
              <a:buChar char="•"/>
            </a:pPr>
            <a:r>
              <a:rPr lang="en-US" sz="1400" b="0" i="0" u="none" strike="noStrike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每个容器声明 CPU 与内存 requests、limits</a:t>
            </a:r>
          </a:p>
          <a:p>
            <a:pPr marL="127000" indent="-127000" algn="l">
              <a:lnSpc>
                <a:spcPct val="145833"/>
              </a:lnSpc>
              <a:spcAft>
                <a:spcPts val="1400"/>
              </a:spcAft>
              <a:buClr>
                <a:srgbClr val="2E343C"/>
              </a:buClr>
              <a:buChar char="•"/>
            </a:pPr>
            <a:r>
              <a:rPr lang="en-US" sz="1400" b="0" i="0" u="none" strike="noStrike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6 个 MySQL StatefulSet，各自独立 5Gi PVC</a:t>
            </a:r>
          </a:p>
          <a:p>
            <a:pPr marL="127000" indent="-127000" algn="l">
              <a:lnSpc>
                <a:spcPct val="145833"/>
              </a:lnSpc>
              <a:spcAft>
                <a:spcPts val="1400"/>
              </a:spcAft>
              <a:buClr>
                <a:srgbClr val="2E343C"/>
              </a:buClr>
              <a:buChar char="•"/>
            </a:pPr>
            <a:r>
              <a:rPr lang="en-US" sz="1400" b="0" i="0" u="none" strike="noStrike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1 个 Redis StatefulSet，1Gi PVC</a:t>
            </a:r>
          </a:p>
          <a:p>
            <a:pPr marL="127000" indent="-127000" algn="l">
              <a:lnSpc>
                <a:spcPct val="145833"/>
              </a:lnSpc>
              <a:spcAft>
                <a:spcPts val="1400"/>
              </a:spcAft>
              <a:buClr>
                <a:srgbClr val="2E343C"/>
              </a:buClr>
              <a:buChar char="•"/>
            </a:pPr>
            <a:r>
              <a:rPr lang="en-US" sz="1400" b="0" i="0" u="none" strike="noStrike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6 个 Service 提供集群内服务发现</a:t>
            </a:r>
          </a:p>
          <a:p>
            <a:pPr marL="127000" indent="-127000" algn="l">
              <a:lnSpc>
                <a:spcPct val="145833"/>
              </a:lnSpc>
              <a:spcAft>
                <a:spcPts val="1400"/>
              </a:spcAft>
              <a:buClr>
                <a:srgbClr val="2E343C"/>
              </a:buClr>
              <a:buChar char="•"/>
            </a:pPr>
            <a:r>
              <a:rPr lang="en-US" sz="1400" b="0" i="0" u="none" strike="noStrike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6 个 HPA 绑定业务 Deployment（下页展开）</a:t>
            </a: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4"/>
          <a:srcRect l="33" r="33"/>
          <a:stretch>
            <a:fillRect/>
          </a:stretch>
        </p:blipFill>
        <p:spPr>
          <a:xfrm>
            <a:off x="711200" y="4419600"/>
            <a:ext cx="7848600" cy="2362200"/>
          </a:xfrm>
          <a:prstGeom prst="rect">
            <a:avLst/>
          </a:prstGeom>
          <a:noFill/>
          <a:ln w="12700" cap="flat" cmpd="sng">
            <a:solidFill>
              <a:srgbClr val="D9DEE7">
                <a:alpha val="100000"/>
              </a:srgbClr>
            </a:solidFill>
            <a:prstDash val="solid"/>
            <a:round/>
          </a:ln>
        </p:spPr>
      </p:pic>
      <p:sp>
        <p:nvSpPr>
          <p:cNvPr id="12" name="AutoShape 12"/>
          <p:cNvSpPr/>
          <p:nvPr/>
        </p:nvSpPr>
        <p:spPr>
          <a:xfrm>
            <a:off x="8763000" y="4419600"/>
            <a:ext cx="2717800" cy="2362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41666"/>
              </a:lnSpc>
              <a:defRPr/>
            </a:pPr>
            <a:r>
              <a:rPr lang="en-US" sz="1400" b="1" i="0" u="none" strike="noStrike">
                <a:solidFill>
                  <a:srgbClr val="536174"/>
                </a:solidFill>
                <a:latin typeface="Noto Sans SC"/>
                <a:ea typeface="Noto Sans SC"/>
                <a:cs typeface="Noto Sans SC"/>
                <a:sym typeface="Noto Sans SC"/>
              </a:rPr>
              <a:t>kubectl 现场</a:t>
            </a:r>
            <a:endParaRPr lang="en-US" sz="1100"/>
          </a:p>
          <a:p>
            <a:pPr marL="0" indent="0" algn="l">
              <a:lnSpc>
                <a:spcPct val="141666"/>
              </a:lnSpc>
            </a:pPr>
            <a:endParaRPr lang="en-US" sz="1100"/>
          </a:p>
          <a:p>
            <a:pPr marL="0" indent="0" algn="l">
              <a:lnSpc>
                <a:spcPct val="141666"/>
              </a:lnSpc>
            </a:pPr>
            <a:r>
              <a:rPr lang="en-US" sz="1400" b="0" i="0" u="none" strike="noStrike">
                <a:solidFill>
                  <a:srgbClr val="536174"/>
                </a:solidFill>
                <a:latin typeface="Noto Sans SC"/>
                <a:ea typeface="Noto Sans SC"/>
                <a:cs typeface="Noto Sans SC"/>
                <a:sym typeface="Noto Sans SC"/>
              </a:rPr>
              <a:t>六服务与数据层 Pod 全部 Running / Ready；</a:t>
            </a:r>
          </a:p>
          <a:p>
            <a:pPr marL="0" indent="0" algn="l">
              <a:lnSpc>
                <a:spcPct val="141666"/>
              </a:lnSpc>
            </a:pPr>
            <a:endParaRPr lang="en-US" sz="1300" b="0" i="0" u="none" strike="noStrike">
              <a:solidFill>
                <a:srgbClr val="536174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0" indent="0" algn="l">
              <a:lnSpc>
                <a:spcPct val="141666"/>
              </a:lnSpc>
            </a:pPr>
            <a:r>
              <a:rPr lang="en-US" sz="1400" b="0" i="0" u="none" strike="noStrike">
                <a:solidFill>
                  <a:srgbClr val="536174"/>
                </a:solidFill>
                <a:latin typeface="Noto Sans SC"/>
                <a:ea typeface="Noto Sans SC"/>
                <a:cs typeface="Noto Sans SC"/>
                <a:sym typeface="Noto Sans SC"/>
              </a:rPr>
              <a:t>多时间点集群清单脱敏后备份于 backups/kubernetes。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8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11200" y="330200"/>
            <a:ext cx="6350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2563EB"/>
                </a:solidFill>
                <a:latin typeface="微软雅黑"/>
                <a:ea typeface="Roboto Mono"/>
                <a:cs typeface="Roboto Mono"/>
                <a:sym typeface="Roboto Mono"/>
              </a:rPr>
              <a:t>11 / TEST RESULTS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10769600" y="330200"/>
            <a:ext cx="7112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8C96A6"/>
                </a:solidFill>
                <a:latin typeface="微软雅黑"/>
                <a:ea typeface="Roboto Mono"/>
                <a:cs typeface="Roboto Mono"/>
                <a:sym typeface="Roboto Mono"/>
              </a:rPr>
              <a:t>14 / 20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11200" y="584200"/>
            <a:ext cx="107696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600" b="1" i="0" u="none" strike="noStrike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六层自动化测试结果</a:t>
            </a:r>
            <a:endParaRPr lang="en-US" sz="1100"/>
          </a:p>
        </p:txBody>
      </p:sp>
      <p:cxnSp>
        <p:nvCxnSpPr>
          <p:cNvPr id="5" name="Connector 5"/>
          <p:cNvCxnSpPr/>
          <p:nvPr/>
        </p:nvCxnSpPr>
        <p:spPr>
          <a:xfrm rot="-4053">
            <a:off x="711204" y="1162050"/>
            <a:ext cx="10769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9DEE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graphicFrame>
        <p:nvGraphicFramePr>
          <p:cNvPr id="6" name="Table 6"/>
          <p:cNvGraphicFramePr>
            <a:graphicFrameLocks noGrp="1"/>
          </p:cNvGraphicFramePr>
          <p:nvPr/>
        </p:nvGraphicFramePr>
        <p:xfrm>
          <a:off x="711200" y="1346200"/>
          <a:ext cx="11123999" cy="3697199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248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119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04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04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52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13999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　测试层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D132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　工具与范围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D132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用例数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D132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结果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D132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　执行位置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D1326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72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0D132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　单体后端单元 / 集成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2E343C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　JUnit 5 + MockMvc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0D1326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161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1E7E45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全部通过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2E343C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　本地 + CI backend Job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72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0D132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　前端组件单元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2E343C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　Vitest + Vue Test Utils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0D1326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24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1E7E45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全部通过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2E343C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　本地 + CI frontend Job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72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0D132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　单体端到端（Mock 后端）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2E343C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　Playwright 路由拦截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0D1326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6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1E7E45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全部通过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2E343C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　CI frontend Job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72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0D132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　单体端到端（真实数据库）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2E343C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　Playwright + 容器化 MySQL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sz="1400" b="1">
                          <a:solidFill>
                            <a:srgbClr val="0D1326"/>
                          </a:solidFill>
                          <a:latin typeface="Roboto Mono"/>
                        </a:rPr>
                        <a:t>17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1E7E45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全部通过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2E343C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　CI real-e2e Job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72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0D132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　六服务单元 / 集成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2E343C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　JUnit 5 + MockRestServiceServer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sz="1400" b="1">
                          <a:solidFill>
                            <a:srgbClr val="0D1326"/>
                          </a:solidFill>
                          <a:latin typeface="Roboto Mono"/>
                        </a:rPr>
                        <a:t>100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1E7E45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全部通过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2E343C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　CI microservices Job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72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0D132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　六服务端到端（UC01–19）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2E343C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　Playwright 路由到 8081–8086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0D1326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17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1E7E45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全部通过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2E343C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　本地真实库 + CI 证据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8" name="AutoShape 8"/>
          <p:cNvSpPr/>
          <p:nvPr/>
        </p:nvSpPr>
        <p:spPr>
          <a:xfrm>
            <a:off x="711200" y="5156200"/>
            <a:ext cx="5207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41666"/>
              </a:lnSpc>
              <a:defRPr/>
            </a:pPr>
            <a:r>
              <a:rPr lang="en-US" sz="1400" b="1" i="0" u="none" strike="noStrike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关键业务断言（节选）</a:t>
            </a:r>
            <a:endParaRPr lang="en-US" sz="1100"/>
          </a:p>
          <a:p>
            <a:pPr marL="0" indent="0" algn="l">
              <a:lnSpc>
                <a:spcPct val="141666"/>
              </a:lnSpc>
            </a:pPr>
            <a:r>
              <a:rPr lang="en-US" sz="1400" b="0" i="0" u="none" strike="noStrike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UC06 并发抢房：Redis 锁加数据库事务，库存不出现负值、不超卖；</a:t>
            </a:r>
          </a:p>
          <a:p>
            <a:pPr marL="0" indent="0" algn="l">
              <a:lnSpc>
                <a:spcPct val="141666"/>
              </a:lnSpc>
            </a:pPr>
            <a:r>
              <a:rPr lang="en-US" sz="1400" b="0" i="0" u="none" strike="noStrike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UC02 越权访问被拦截；UC04 订单状态机完整流转、退改可回滚。</a:t>
            </a:r>
          </a:p>
        </p:txBody>
      </p:sp>
      <p:sp>
        <p:nvSpPr>
          <p:cNvPr id="9" name="AutoShape 9"/>
          <p:cNvSpPr/>
          <p:nvPr/>
        </p:nvSpPr>
        <p:spPr>
          <a:xfrm>
            <a:off x="6299200" y="5156200"/>
            <a:ext cx="51816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41666"/>
              </a:lnSpc>
              <a:defRPr/>
            </a:pPr>
            <a:r>
              <a:rPr lang="en-US" sz="1400" b="1" i="0" u="none" strike="noStrike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质量闭环</a:t>
            </a:r>
            <a:endParaRPr lang="en-US" sz="1100"/>
          </a:p>
          <a:p>
            <a:pPr marL="0" indent="0" algn="l">
              <a:lnSpc>
                <a:spcPct val="141666"/>
              </a:lnSpc>
            </a:pPr>
            <a:r>
              <a:rPr lang="en-US" sz="1400" b="0" i="0" u="none" strike="noStrike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19 个用例在追溯矩阵中全部 covered；每次提交 CI 必跑六层测试，</a:t>
            </a:r>
          </a:p>
          <a:p>
            <a:pPr marL="0" indent="0" algn="l">
              <a:lnSpc>
                <a:spcPct val="141666"/>
              </a:lnSpc>
            </a:pPr>
            <a:r>
              <a:rPr lang="en-US" sz="1400" b="0" i="0" u="none" strike="noStrike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失败即阻断合并；测试执行报告按日期归档于 document/ 与 docs/ci。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8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11200" y="330200"/>
            <a:ext cx="6350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2563EB"/>
                </a:solidFill>
                <a:latin typeface="微软雅黑"/>
                <a:ea typeface="Roboto Mono"/>
                <a:cs typeface="Roboto Mono"/>
                <a:sym typeface="Roboto Mono"/>
              </a:rPr>
              <a:t>12 / AUTOSCALING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10769600" y="330200"/>
            <a:ext cx="7112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8C96A6"/>
                </a:solidFill>
                <a:latin typeface="微软雅黑"/>
                <a:ea typeface="Roboto Mono"/>
                <a:cs typeface="Roboto Mono"/>
                <a:sym typeface="Roboto Mono"/>
              </a:rPr>
              <a:t>15 / 20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11200" y="584200"/>
            <a:ext cx="107696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600" b="1" i="0" u="none" strike="noStrike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HPA 自动扩缩容实测</a:t>
            </a:r>
            <a:endParaRPr lang="en-US" sz="1100"/>
          </a:p>
        </p:txBody>
      </p:sp>
      <p:cxnSp>
        <p:nvCxnSpPr>
          <p:cNvPr id="5" name="Connector 5"/>
          <p:cNvCxnSpPr/>
          <p:nvPr/>
        </p:nvCxnSpPr>
        <p:spPr>
          <a:xfrm rot="-4053">
            <a:off x="711204" y="1162050"/>
            <a:ext cx="10769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9DEE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" name="AutoShape 6"/>
          <p:cNvSpPr/>
          <p:nvPr/>
        </p:nvSpPr>
        <p:spPr>
          <a:xfrm>
            <a:off x="711200" y="1346200"/>
            <a:ext cx="53848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HPA 策略（hpa.yaml 已入库的真实配置）</a:t>
            </a:r>
            <a:endParaRPr lang="en-US" sz="1100"/>
          </a:p>
        </p:txBody>
      </p:sp>
      <p:cxnSp>
        <p:nvCxnSpPr>
          <p:cNvPr id="7" name="Connector 7"/>
          <p:cNvCxnSpPr/>
          <p:nvPr/>
        </p:nvCxnSpPr>
        <p:spPr>
          <a:xfrm rot="-8107">
            <a:off x="711207" y="1695450"/>
            <a:ext cx="5384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2563EB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graphicFrame>
        <p:nvGraphicFramePr>
          <p:cNvPr id="8" name="Table 8"/>
          <p:cNvGraphicFramePr>
            <a:graphicFrameLocks noGrp="1"/>
          </p:cNvGraphicFramePr>
          <p:nvPr/>
        </p:nvGraphicFramePr>
        <p:xfrm>
          <a:off x="711200" y="1854200"/>
          <a:ext cx="5384800" cy="36360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1905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79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680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　参数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D132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　取值（autoscaling/v2）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D1326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60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536174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　绑定对象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0D1326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　6 个业务 Deployment 各 1 个 HPA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60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536174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　触发指标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0D1326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　CPU averageUtilization = 60%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60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536174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　副本区间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2563EB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　minReplicas 2 → maxReplicas 6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536174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　扩容策略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6666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2E343C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　稳定窗口 0s；每 30s 最多 +100% 或</a:t>
                      </a:r>
                      <a:endParaRPr lang="en-US" sz="1100"/>
                    </a:p>
                    <a:p>
                      <a:pPr marL="0" indent="0" algn="l">
                        <a:lnSpc>
                          <a:spcPct val="116666"/>
                        </a:lnSpc>
                      </a:pPr>
                      <a:r>
                        <a:rPr lang="en-US" sz="1200" b="0" i="0" u="none" strike="noStrike">
                          <a:solidFill>
                            <a:srgbClr val="2E343C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　+2 Pod，selectPolicy 取较快者</a:t>
                      </a: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536174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　缩容策略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6666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2E343C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　稳定窗口 120s；每 60s 最多 -50%，</a:t>
                      </a:r>
                      <a:endParaRPr lang="en-US" sz="1100"/>
                    </a:p>
                    <a:p>
                      <a:pPr marL="0" indent="0" algn="l">
                        <a:lnSpc>
                          <a:spcPct val="116666"/>
                        </a:lnSpc>
                      </a:pPr>
                      <a:r>
                        <a:rPr lang="en-US" sz="1200" b="0" i="0" u="none" strike="noStrike">
                          <a:solidFill>
                            <a:srgbClr val="2E343C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　避免负载抖动导致频繁伸缩</a:t>
                      </a: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AutoShape 9"/>
          <p:cNvSpPr/>
          <p:nvPr/>
        </p:nvSpPr>
        <p:spPr>
          <a:xfrm>
            <a:off x="6400800" y="1346200"/>
            <a:ext cx="5080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实测五步（脚本自动留存三态）</a:t>
            </a:r>
            <a:endParaRPr lang="en-US" sz="1100"/>
          </a:p>
        </p:txBody>
      </p:sp>
      <p:cxnSp>
        <p:nvCxnSpPr>
          <p:cNvPr id="10" name="Connector 10"/>
          <p:cNvCxnSpPr/>
          <p:nvPr/>
        </p:nvCxnSpPr>
        <p:spPr>
          <a:xfrm rot="-8594">
            <a:off x="6400808" y="1695450"/>
            <a:ext cx="508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2563EB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11" name="AutoShape 11"/>
          <p:cNvSpPr/>
          <p:nvPr/>
        </p:nvSpPr>
        <p:spPr>
          <a:xfrm>
            <a:off x="6400800" y="1854000"/>
            <a:ext cx="4318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700" b="1" i="0" u="none" strike="noStrike">
                <a:solidFill>
                  <a:srgbClr val="2563EB"/>
                </a:solidFill>
                <a:latin typeface="Roboto Mono"/>
                <a:ea typeface="Roboto Mono"/>
                <a:cs typeface="Roboto Mono"/>
                <a:sym typeface="Roboto Mono"/>
              </a:rPr>
              <a:t>1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6807200" y="1828800"/>
            <a:ext cx="4673600" cy="482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记录扩容前副本数、CPU 基线与 HPA 状态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6400800" y="2466000"/>
            <a:ext cx="4318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700" b="1" i="0" u="none" strike="noStrike">
                <a:solidFill>
                  <a:srgbClr val="2563EB"/>
                </a:solidFill>
                <a:latin typeface="Roboto Mono"/>
                <a:ea typeface="Roboto Mono"/>
                <a:cs typeface="Roboto Mono"/>
                <a:sym typeface="Roboto Mono"/>
              </a:rPr>
              <a:t>2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6807200" y="2440800"/>
            <a:ext cx="4673600" cy="482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k6 三场景持续加压：航班查询、酒店查询、并发下单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6400800" y="3078000"/>
            <a:ext cx="4318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700" b="1" i="0" u="none" strike="noStrike">
                <a:solidFill>
                  <a:srgbClr val="2563EB"/>
                </a:solidFill>
                <a:latin typeface="Roboto Mono"/>
                <a:ea typeface="Roboto Mono"/>
                <a:cs typeface="Roboto Mono"/>
                <a:sym typeface="Roboto Mono"/>
              </a:rPr>
              <a:t>3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6807200" y="3052800"/>
            <a:ext cx="4673600" cy="482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watch kubectl get hpa、get pods，观察副本 2 → N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6400800" y="3690000"/>
            <a:ext cx="4318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700" b="1" i="0" u="none" strike="noStrike">
                <a:solidFill>
                  <a:srgbClr val="2563EB"/>
                </a:solidFill>
                <a:latin typeface="Roboto Mono"/>
                <a:ea typeface="Roboto Mono"/>
                <a:cs typeface="Roboto Mono"/>
                <a:sym typeface="Roboto Mono"/>
              </a:rPr>
              <a:t>4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6807200" y="3664800"/>
            <a:ext cx="4673600" cy="482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停止加压，经过 120s 稳定窗口后观察逐步回落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6400800" y="4302000"/>
            <a:ext cx="4318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700" b="1" i="0" u="none" strike="noStrike">
                <a:solidFill>
                  <a:srgbClr val="2563EB"/>
                </a:solidFill>
                <a:latin typeface="Roboto Mono"/>
                <a:ea typeface="Roboto Mono"/>
                <a:cs typeface="Roboto Mono"/>
                <a:sym typeface="Roboto Mono"/>
              </a:rPr>
              <a:t>5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6807200" y="4276800"/>
            <a:ext cx="4673600" cy="482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扩容前 / 中 / 后三态存档，回填实验记录表</a:t>
            </a:r>
            <a:endParaRPr lang="en-US" sz="1100"/>
          </a:p>
        </p:txBody>
      </p:sp>
      <p:cxnSp>
        <p:nvCxnSpPr>
          <p:cNvPr id="21" name="Connector 21"/>
          <p:cNvCxnSpPr/>
          <p:nvPr/>
        </p:nvCxnSpPr>
        <p:spPr>
          <a:xfrm rot="-8594">
            <a:off x="6400808" y="4895850"/>
            <a:ext cx="508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9DEE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2" name="AutoShape 22"/>
          <p:cNvSpPr/>
          <p:nvPr/>
        </p:nvSpPr>
        <p:spPr>
          <a:xfrm>
            <a:off x="6223000" y="5051500"/>
            <a:ext cx="508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 dirty="0">
                <a:solidFill>
                  <a:srgbClr val="536174"/>
                </a:solidFill>
                <a:latin typeface="Roboto Mono"/>
                <a:ea typeface="Roboto Mono"/>
                <a:cs typeface="Roboto Mono"/>
                <a:sym typeface="Roboto Mono"/>
              </a:rPr>
              <a:t>scripts/experiments/Invoke-MicroserviceHpaExperiment.ps1</a:t>
            </a:r>
            <a:endParaRPr lang="en-US" sz="1100" dirty="0"/>
          </a:p>
        </p:txBody>
      </p:sp>
      <p:sp>
        <p:nvSpPr>
          <p:cNvPr id="23" name="AutoShape 23"/>
          <p:cNvSpPr/>
          <p:nvPr/>
        </p:nvSpPr>
        <p:spPr>
          <a:xfrm>
            <a:off x="711200" y="5588000"/>
            <a:ext cx="10769600" cy="1044000"/>
          </a:xfrm>
          <a:prstGeom prst="roundRect">
            <a:avLst>
              <a:gd name="adj" fmla="val 0"/>
            </a:avLst>
          </a:prstGeom>
          <a:solidFill>
            <a:srgbClr val="FCF7EB">
              <a:alpha val="100000"/>
            </a:srgbClr>
          </a:solidFill>
          <a:ln w="12700" cap="flat" cmpd="sng">
            <a:solidFill>
              <a:srgbClr val="D6B278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4" name="AutoShape 24"/>
          <p:cNvSpPr/>
          <p:nvPr/>
        </p:nvSpPr>
        <p:spPr>
          <a:xfrm>
            <a:off x="914400" y="5742000"/>
            <a:ext cx="1397000" cy="72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 dirty="0" err="1">
                <a:solidFill>
                  <a:srgbClr val="B07610"/>
                </a:solidFill>
                <a:latin typeface="Noto Sans SC"/>
                <a:ea typeface="Noto Sans SC"/>
                <a:cs typeface="Noto Sans SC"/>
                <a:sym typeface="Noto Sans SC"/>
              </a:rPr>
              <a:t>已实测通过</a:t>
            </a:r>
            <a:endParaRPr lang="en-US" sz="1100" dirty="0"/>
          </a:p>
        </p:txBody>
      </p:sp>
      <p:sp>
        <p:nvSpPr>
          <p:cNvPr id="25" name="AutoShape 25"/>
          <p:cNvSpPr/>
          <p:nvPr/>
        </p:nvSpPr>
        <p:spPr>
          <a:xfrm>
            <a:off x="2413000" y="5742000"/>
            <a:ext cx="8890000" cy="72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 dirty="0">
                <a:solidFill>
                  <a:srgbClr val="785814"/>
                </a:solidFill>
                <a:latin typeface="Noto Sans SC"/>
                <a:ea typeface="Noto Sans SC"/>
                <a:cs typeface="Noto Sans SC"/>
                <a:sym typeface="Noto Sans SC"/>
              </a:rPr>
              <a:t>09-02 已实测：k6 </a:t>
            </a:r>
            <a:r>
              <a:rPr lang="en-US" sz="1400" b="0" i="0" u="none" strike="noStrike" dirty="0" err="1">
                <a:solidFill>
                  <a:srgbClr val="785814"/>
                </a:solidFill>
                <a:latin typeface="Noto Sans SC"/>
                <a:ea typeface="Noto Sans SC"/>
                <a:cs typeface="Noto Sans SC"/>
                <a:sym typeface="Noto Sans SC"/>
              </a:rPr>
              <a:t>加压后副本由</a:t>
            </a:r>
            <a:r>
              <a:rPr lang="en-US" sz="1400" b="0" i="0" u="none" strike="noStrike" dirty="0">
                <a:solidFill>
                  <a:srgbClr val="785814"/>
                </a:solidFill>
                <a:latin typeface="Noto Sans SC"/>
                <a:ea typeface="Noto Sans SC"/>
                <a:cs typeface="Noto Sans SC"/>
                <a:sym typeface="Noto Sans SC"/>
              </a:rPr>
              <a:t> 2 </a:t>
            </a:r>
            <a:r>
              <a:rPr lang="en-US" sz="1400" b="0" i="0" u="none" strike="noStrike" dirty="0" err="1">
                <a:solidFill>
                  <a:srgbClr val="785814"/>
                </a:solidFill>
                <a:latin typeface="Noto Sans SC"/>
                <a:ea typeface="Noto Sans SC"/>
                <a:cs typeface="Noto Sans SC"/>
                <a:sym typeface="Noto Sans SC"/>
              </a:rPr>
              <a:t>扩至</a:t>
            </a:r>
            <a:r>
              <a:rPr lang="en-US" sz="1400" b="0" i="0" u="none" strike="noStrike" dirty="0">
                <a:solidFill>
                  <a:srgbClr val="785814"/>
                </a:solidFill>
                <a:latin typeface="Noto Sans SC"/>
                <a:ea typeface="Noto Sans SC"/>
                <a:cs typeface="Noto Sans SC"/>
                <a:sym typeface="Noto Sans SC"/>
              </a:rPr>
              <a:t> 6，停止加压后经 120s </a:t>
            </a:r>
            <a:r>
              <a:rPr lang="en-US" sz="1400" b="0" i="0" u="none" strike="noStrike" dirty="0" err="1">
                <a:solidFill>
                  <a:srgbClr val="785814"/>
                </a:solidFill>
                <a:latin typeface="Noto Sans SC"/>
                <a:ea typeface="Noto Sans SC"/>
                <a:cs typeface="Noto Sans SC"/>
                <a:sym typeface="Noto Sans SC"/>
              </a:rPr>
              <a:t>稳定窗口缩回</a:t>
            </a:r>
            <a:r>
              <a:rPr lang="en-US" sz="1400" b="0" i="0" u="none" strike="noStrike" dirty="0">
                <a:solidFill>
                  <a:srgbClr val="785814"/>
                </a:solidFill>
                <a:latin typeface="Noto Sans SC"/>
                <a:ea typeface="Noto Sans SC"/>
                <a:cs typeface="Noto Sans SC"/>
                <a:sym typeface="Noto Sans SC"/>
              </a:rPr>
              <a:t> 2，CPU </a:t>
            </a:r>
            <a:r>
              <a:rPr lang="en-US" sz="1400" b="0" i="0" u="none" strike="noStrike" dirty="0" err="1">
                <a:solidFill>
                  <a:srgbClr val="785814"/>
                </a:solidFill>
                <a:latin typeface="Noto Sans SC"/>
                <a:ea typeface="Noto Sans SC"/>
                <a:cs typeface="Noto Sans SC"/>
                <a:sym typeface="Noto Sans SC"/>
              </a:rPr>
              <a:t>峰值</a:t>
            </a:r>
            <a:r>
              <a:rPr lang="en-US" sz="1400" b="0" i="0" u="none" strike="noStrike" dirty="0">
                <a:solidFill>
                  <a:srgbClr val="785814"/>
                </a:solidFill>
                <a:latin typeface="Noto Sans SC"/>
                <a:ea typeface="Noto Sans SC"/>
                <a:cs typeface="Noto Sans SC"/>
                <a:sym typeface="Noto Sans SC"/>
              </a:rPr>
              <a:t> 237%，</a:t>
            </a:r>
            <a:r>
              <a:rPr lang="en-US" sz="1400" b="0" i="0" u="none" strike="noStrike" dirty="0" err="1">
                <a:solidFill>
                  <a:srgbClr val="785814"/>
                </a:solidFill>
                <a:latin typeface="Noto Sans SC"/>
                <a:ea typeface="Noto Sans SC"/>
                <a:cs typeface="Noto Sans SC"/>
                <a:sym typeface="Noto Sans SC"/>
              </a:rPr>
              <a:t>实验判定</a:t>
            </a:r>
            <a:r>
              <a:rPr lang="en-US" sz="1400" b="0" i="0" u="none" strike="noStrike" dirty="0">
                <a:solidFill>
                  <a:srgbClr val="785814"/>
                </a:solidFill>
                <a:latin typeface="Noto Sans SC"/>
                <a:ea typeface="Noto Sans SC"/>
                <a:cs typeface="Noto Sans SC"/>
                <a:sym typeface="Noto Sans SC"/>
              </a:rPr>
              <a:t> passed=</a:t>
            </a:r>
            <a:r>
              <a:rPr lang="en-US" sz="1400" b="0" i="0" u="none" strike="noStrike" dirty="0" err="1">
                <a:solidFill>
                  <a:srgbClr val="785814"/>
                </a:solidFill>
                <a:latin typeface="Noto Sans SC"/>
                <a:ea typeface="Noto Sans SC"/>
                <a:cs typeface="Noto Sans SC"/>
                <a:sym typeface="Noto Sans SC"/>
              </a:rPr>
              <a:t>true；完整记录与截图存于</a:t>
            </a:r>
            <a:r>
              <a:rPr lang="en-US" sz="1400" b="0" i="0" u="none" strike="noStrike" dirty="0">
                <a:solidFill>
                  <a:srgbClr val="785814"/>
                </a:solidFill>
                <a:latin typeface="Noto Sans SC"/>
                <a:ea typeface="Noto Sans SC"/>
                <a:cs typeface="Noto Sans SC"/>
                <a:sym typeface="Noto Sans SC"/>
              </a:rPr>
              <a:t> 04_tests/stress/results。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8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11200" y="330200"/>
            <a:ext cx="6350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2563EB"/>
                </a:solidFill>
                <a:latin typeface="微软雅黑"/>
                <a:ea typeface="Roboto Mono"/>
                <a:cs typeface="Roboto Mono"/>
                <a:sym typeface="Roboto Mono"/>
              </a:rPr>
              <a:t>13 / FAULT TOLERANCE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10769600" y="330200"/>
            <a:ext cx="7112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8C96A6"/>
                </a:solidFill>
                <a:latin typeface="微软雅黑"/>
                <a:ea typeface="Roboto Mono"/>
                <a:cs typeface="Roboto Mono"/>
                <a:sym typeface="Roboto Mono"/>
              </a:rPr>
              <a:t>16 / 20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11200" y="584200"/>
            <a:ext cx="107696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600" b="1" i="0" u="none" strike="noStrike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故障隔离实证：身份服务宕机</a:t>
            </a:r>
            <a:endParaRPr lang="en-US" sz="1100"/>
          </a:p>
        </p:txBody>
      </p:sp>
      <p:cxnSp>
        <p:nvCxnSpPr>
          <p:cNvPr id="5" name="Connector 5"/>
          <p:cNvCxnSpPr/>
          <p:nvPr/>
        </p:nvCxnSpPr>
        <p:spPr>
          <a:xfrm rot="-4053">
            <a:off x="711204" y="1162050"/>
            <a:ext cx="10769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9DEE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" name="AutoShape 6"/>
          <p:cNvSpPr/>
          <p:nvPr/>
        </p:nvSpPr>
        <p:spPr>
          <a:xfrm>
            <a:off x="711200" y="1346200"/>
            <a:ext cx="5080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实验时间线（2026-08-31，真实执行留档）</a:t>
            </a:r>
            <a:endParaRPr lang="en-US" sz="1100"/>
          </a:p>
        </p:txBody>
      </p:sp>
      <p:cxnSp>
        <p:nvCxnSpPr>
          <p:cNvPr id="7" name="Connector 7"/>
          <p:cNvCxnSpPr/>
          <p:nvPr/>
        </p:nvCxnSpPr>
        <p:spPr>
          <a:xfrm rot="-8594">
            <a:off x="711208" y="1695450"/>
            <a:ext cx="508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2563EB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8" name="AutoShape 8"/>
          <p:cNvSpPr/>
          <p:nvPr/>
        </p:nvSpPr>
        <p:spPr>
          <a:xfrm>
            <a:off x="762000" y="1930400"/>
            <a:ext cx="127000" cy="127000"/>
          </a:xfrm>
          <a:prstGeom prst="ellipse">
            <a:avLst/>
          </a:prstGeom>
          <a:solidFill>
            <a:srgbClr val="2563E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1041400" y="1854200"/>
            <a:ext cx="127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2563EB"/>
                </a:solidFill>
                <a:latin typeface="Roboto Mono"/>
                <a:ea typeface="Roboto Mono"/>
                <a:cs typeface="Roboto Mono"/>
                <a:sym typeface="Roboto Mono"/>
              </a:rPr>
              <a:t>10:15:51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2286000" y="1854200"/>
            <a:ext cx="35052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采集基线：订单 0、机票库存 317</a:t>
            </a:r>
            <a:endParaRPr lang="en-US" sz="1100"/>
          </a:p>
        </p:txBody>
      </p:sp>
      <p:cxnSp>
        <p:nvCxnSpPr>
          <p:cNvPr id="11" name="Connector 11"/>
          <p:cNvCxnSpPr/>
          <p:nvPr/>
        </p:nvCxnSpPr>
        <p:spPr>
          <a:xfrm rot="5314074">
            <a:off x="571500" y="2355929"/>
            <a:ext cx="50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BFD7FF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12" name="AutoShape 12"/>
          <p:cNvSpPr/>
          <p:nvPr/>
        </p:nvSpPr>
        <p:spPr>
          <a:xfrm>
            <a:off x="762000" y="2667000"/>
            <a:ext cx="127000" cy="127000"/>
          </a:xfrm>
          <a:prstGeom prst="ellipse">
            <a:avLst/>
          </a:prstGeom>
          <a:solidFill>
            <a:srgbClr val="C9302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" name="AutoShape 13"/>
          <p:cNvSpPr/>
          <p:nvPr/>
        </p:nvSpPr>
        <p:spPr>
          <a:xfrm>
            <a:off x="1041400" y="2590800"/>
            <a:ext cx="127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C9302C"/>
                </a:solidFill>
                <a:latin typeface="Roboto Mono"/>
                <a:ea typeface="Roboto Mono"/>
                <a:cs typeface="Roboto Mono"/>
                <a:sym typeface="Roboto Mono"/>
              </a:rPr>
              <a:t>10:16:04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2286000" y="2590800"/>
            <a:ext cx="35052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主动停止 identity-service（注入故障）</a:t>
            </a:r>
            <a:endParaRPr lang="en-US" sz="1100"/>
          </a:p>
        </p:txBody>
      </p:sp>
      <p:cxnSp>
        <p:nvCxnSpPr>
          <p:cNvPr id="15" name="Connector 15"/>
          <p:cNvCxnSpPr/>
          <p:nvPr/>
        </p:nvCxnSpPr>
        <p:spPr>
          <a:xfrm rot="5367569">
            <a:off x="152400" y="3511580"/>
            <a:ext cx="1346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BFD7FF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16" name="AutoShape 16"/>
          <p:cNvSpPr/>
          <p:nvPr/>
        </p:nvSpPr>
        <p:spPr>
          <a:xfrm>
            <a:off x="1041400" y="2946400"/>
            <a:ext cx="4749800" cy="11684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D9DEE7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AutoShape 17"/>
          <p:cNvSpPr/>
          <p:nvPr/>
        </p:nvSpPr>
        <p:spPr>
          <a:xfrm>
            <a:off x="1219200" y="3048000"/>
            <a:ext cx="4394200" cy="990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41666"/>
              </a:lnSpc>
              <a:defRPr/>
            </a:pPr>
            <a:r>
              <a:rPr lang="en-US" sz="1400" b="1" i="0" u="none" strike="noStrike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故障期间观测：</a:t>
            </a:r>
            <a:endParaRPr lang="en-US" sz="1100"/>
          </a:p>
          <a:p>
            <a:pPr marL="0" indent="0" algn="l">
              <a:lnSpc>
                <a:spcPct val="141666"/>
              </a:lnSpc>
            </a:pPr>
            <a:r>
              <a:rPr lang="en-US" sz="1400" b="0" i="0" u="none" strike="noStrike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下单接口 503「身份服务暂不可用，请稍后重试」</a:t>
            </a:r>
          </a:p>
          <a:p>
            <a:pPr marL="0" indent="0" algn="l">
              <a:lnSpc>
                <a:spcPct val="141666"/>
              </a:lnSpc>
            </a:pPr>
            <a:r>
              <a:rPr lang="en-US" sz="1400" b="0" i="0" u="none" strike="noStrike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航班查询仍返回 200；traffic 健康检查保持 UP</a:t>
            </a:r>
          </a:p>
        </p:txBody>
      </p:sp>
      <p:sp>
        <p:nvSpPr>
          <p:cNvPr id="18" name="AutoShape 18"/>
          <p:cNvSpPr/>
          <p:nvPr/>
        </p:nvSpPr>
        <p:spPr>
          <a:xfrm>
            <a:off x="762000" y="4292600"/>
            <a:ext cx="127000" cy="127000"/>
          </a:xfrm>
          <a:prstGeom prst="ellipse">
            <a:avLst/>
          </a:prstGeom>
          <a:solidFill>
            <a:srgbClr val="1E7E4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" name="AutoShape 19"/>
          <p:cNvSpPr/>
          <p:nvPr/>
        </p:nvSpPr>
        <p:spPr>
          <a:xfrm>
            <a:off x="1041400" y="4216400"/>
            <a:ext cx="127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E7E45"/>
                </a:solidFill>
                <a:latin typeface="Roboto Mono"/>
                <a:ea typeface="Roboto Mono"/>
                <a:cs typeface="Roboto Mono"/>
                <a:sym typeface="Roboto Mono"/>
              </a:rPr>
              <a:t>10:16:32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2286000" y="4216400"/>
            <a:ext cx="35052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重启完成（中断约 28s），自动恢复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711200" y="4724400"/>
            <a:ext cx="5080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41666"/>
              </a:lnSpc>
              <a:defRPr/>
            </a:pPr>
            <a:r>
              <a:rPr lang="en-US" sz="1400" b="1" i="0" u="none" strike="noStrike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四道防线共同生效</a:t>
            </a:r>
            <a:endParaRPr lang="en-US" sz="1100"/>
          </a:p>
          <a:p>
            <a:pPr marL="0" indent="0" algn="l">
              <a:lnSpc>
                <a:spcPct val="141666"/>
              </a:lnSpc>
            </a:pPr>
            <a:r>
              <a:rPr lang="en-US" sz="1400" b="0" i="0" u="none" strike="noStrike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连接 1s / 读取 2s 超时；依赖失败统一 503；</a:t>
            </a:r>
          </a:p>
          <a:p>
            <a:pPr marL="0" indent="0" algn="l">
              <a:lnSpc>
                <a:spcPct val="141666"/>
              </a:lnSpc>
            </a:pPr>
            <a:r>
              <a:rPr lang="en-US" sz="1400" b="0" i="0" u="none" strike="noStrike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校验不过则事务不进入库存扣减阶段；</a:t>
            </a:r>
          </a:p>
          <a:p>
            <a:pPr marL="0" indent="0" algn="l">
              <a:lnSpc>
                <a:spcPct val="141666"/>
              </a:lnSpc>
            </a:pPr>
            <a:r>
              <a:rPr lang="en-US" sz="1400" b="0" i="0" u="none" strike="noStrike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优雅停机保证在途请求处理完再退出。</a:t>
            </a:r>
          </a:p>
        </p:txBody>
      </p:sp>
      <p:sp>
        <p:nvSpPr>
          <p:cNvPr id="22" name="AutoShape 22"/>
          <p:cNvSpPr/>
          <p:nvPr/>
        </p:nvSpPr>
        <p:spPr>
          <a:xfrm>
            <a:off x="6096000" y="1346200"/>
            <a:ext cx="53848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故障前 / 故障中 / 恢复后对比</a:t>
            </a:r>
            <a:endParaRPr lang="en-US" sz="1100"/>
          </a:p>
        </p:txBody>
      </p:sp>
      <p:cxnSp>
        <p:nvCxnSpPr>
          <p:cNvPr id="23" name="Connector 23"/>
          <p:cNvCxnSpPr/>
          <p:nvPr/>
        </p:nvCxnSpPr>
        <p:spPr>
          <a:xfrm rot="-8107">
            <a:off x="6096007" y="1695450"/>
            <a:ext cx="5384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2563EB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graphicFrame>
        <p:nvGraphicFramePr>
          <p:cNvPr id="24" name="Table 24"/>
          <p:cNvGraphicFramePr>
            <a:graphicFrameLocks noGrp="1"/>
          </p:cNvGraphicFramePr>
          <p:nvPr/>
        </p:nvGraphicFramePr>
        <p:xfrm>
          <a:off x="6096000" y="1854200"/>
          <a:ext cx="5384800" cy="34776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1905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68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68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392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　观测指标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D132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故障前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D132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故障中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D132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恢复后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D1326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48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536174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　订单总数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0D1326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0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1E7E45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0 未新增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0D1326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0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48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536174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　机票库存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0D1326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317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1E7E45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317 未扣减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0D1326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317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48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536174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　下单接口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0D1326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200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C9302C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503 固定提示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0D1326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200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48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536174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　航班查询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0D1326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200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1E7E45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200 不受影响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0D1326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200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192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536174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　traffic 健康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0D1326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UP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1E7E45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UP 未被拖垮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0D1326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UP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5" name="AutoShape 25"/>
          <p:cNvSpPr/>
          <p:nvPr/>
        </p:nvSpPr>
        <p:spPr>
          <a:xfrm>
            <a:off x="6096000" y="5689600"/>
            <a:ext cx="5384800" cy="685800"/>
          </a:xfrm>
          <a:prstGeom prst="roundRect">
            <a:avLst>
              <a:gd name="adj" fmla="val 0"/>
            </a:avLst>
          </a:prstGeom>
          <a:solidFill>
            <a:srgbClr val="0D132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6" name="AutoShape 26"/>
          <p:cNvSpPr/>
          <p:nvPr/>
        </p:nvSpPr>
        <p:spPr>
          <a:xfrm>
            <a:off x="6299200" y="5791200"/>
            <a:ext cx="4978400" cy="482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结论：故障被封闭在单条依赖链路，不级联、零脏数据，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重启后自动恢复，实验判定 passed = true。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8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11200" y="330200"/>
            <a:ext cx="6350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2563EB"/>
                </a:solidFill>
                <a:latin typeface="微软雅黑"/>
                <a:ea typeface="Roboto Mono"/>
                <a:cs typeface="Roboto Mono"/>
                <a:sym typeface="Roboto Mono"/>
              </a:rPr>
              <a:t>14 / BENCHMARK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10769600" y="330200"/>
            <a:ext cx="7112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8C96A6"/>
                </a:solidFill>
                <a:latin typeface="微软雅黑"/>
                <a:ea typeface="Roboto Mono"/>
                <a:cs typeface="Roboto Mono"/>
                <a:sym typeface="Roboto Mono"/>
              </a:rPr>
              <a:t>17 / 20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11200" y="584200"/>
            <a:ext cx="107696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600" b="1" i="0" u="none" strike="noStrike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单体 vs 微服务性能对比</a:t>
            </a:r>
            <a:endParaRPr lang="en-US" sz="1100"/>
          </a:p>
        </p:txBody>
      </p:sp>
      <p:cxnSp>
        <p:nvCxnSpPr>
          <p:cNvPr id="5" name="Connector 5"/>
          <p:cNvCxnSpPr/>
          <p:nvPr/>
        </p:nvCxnSpPr>
        <p:spPr>
          <a:xfrm rot="-4053">
            <a:off x="711204" y="1162050"/>
            <a:ext cx="10769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9DEE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" name="AutoShape 6"/>
          <p:cNvSpPr/>
          <p:nvPr/>
        </p:nvSpPr>
        <p:spPr>
          <a:xfrm>
            <a:off x="711200" y="1346200"/>
            <a:ext cx="5080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公平性设计：四同 + 三场景 + 三轮中位数</a:t>
            </a:r>
            <a:endParaRPr lang="en-US" sz="1100"/>
          </a:p>
        </p:txBody>
      </p:sp>
      <p:cxnSp>
        <p:nvCxnSpPr>
          <p:cNvPr id="7" name="Connector 7"/>
          <p:cNvCxnSpPr/>
          <p:nvPr/>
        </p:nvCxnSpPr>
        <p:spPr>
          <a:xfrm rot="-8594">
            <a:off x="711208" y="1695450"/>
            <a:ext cx="508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2563EB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graphicFrame>
        <p:nvGraphicFramePr>
          <p:cNvPr id="8" name="Table 8"/>
          <p:cNvGraphicFramePr>
            <a:graphicFrameLocks noGrp="1"/>
          </p:cNvGraphicFramePr>
          <p:nvPr/>
        </p:nvGraphicFramePr>
        <p:xfrm>
          <a:off x="711200" y="1854200"/>
          <a:ext cx="5080000" cy="2839755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1219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89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3999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场景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D132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　接口（k6 脚本）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D132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　验证目标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D1326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0D132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航班查询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2E343C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　GET /api/flight/search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2E343C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　吞吐、P95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0D132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酒店查询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2E343C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　GET /api/hotel/search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2E343C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　吞吐、P95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8333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0D132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并发</a:t>
                      </a:r>
                      <a:endParaRPr lang="en-US" sz="1100"/>
                    </a:p>
                    <a:p>
                      <a:pPr marL="0" indent="0" algn="ctr">
                        <a:lnSpc>
                          <a:spcPct val="108333"/>
                        </a:lnSpc>
                      </a:pPr>
                      <a:r>
                        <a:rPr lang="en-US" sz="1200" b="1" i="0" u="none" strike="noStrike">
                          <a:solidFill>
                            <a:srgbClr val="0D132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下单</a:t>
                      </a: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6666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2E343C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　POST /api/hotel/order/create</a:t>
                      </a:r>
                      <a:endParaRPr lang="en-US" sz="1100"/>
                    </a:p>
                    <a:p>
                      <a:pPr marL="0" indent="0" algn="l">
                        <a:lnSpc>
                          <a:spcPct val="116666"/>
                        </a:lnSpc>
                      </a:pPr>
                      <a:r>
                        <a:rPr lang="en-US" sz="1100" b="0" i="0" u="none" strike="noStrike">
                          <a:solidFill>
                            <a:srgbClr val="2E343C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　50 VU 竞争 1 间房</a:t>
                      </a: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6666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2E343C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　高压下</a:t>
                      </a:r>
                      <a:endParaRPr lang="en-US" sz="1100"/>
                    </a:p>
                    <a:p>
                      <a:pPr marL="0" indent="0" algn="l">
                        <a:lnSpc>
                          <a:spcPct val="116666"/>
                        </a:lnSpc>
                      </a:pPr>
                      <a:r>
                        <a:rPr lang="en-US" sz="1200" b="0" i="0" u="none" strike="noStrike">
                          <a:solidFill>
                            <a:srgbClr val="2E343C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　不超卖</a:t>
                      </a: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536174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口径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>
                        <a:alpha val="100000"/>
                      </a:srgb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2E343C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　同提交 / 同数据量 / 同硬件 / 同脚本，预热后 3 轮取中位数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>
                        <a:alpha val="100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/>
                      </a:pPr>
                      <a:endParaRPr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AutoShape 9"/>
          <p:cNvSpPr/>
          <p:nvPr/>
        </p:nvSpPr>
        <p:spPr>
          <a:xfrm>
            <a:off x="711200" y="4521200"/>
            <a:ext cx="5080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41666"/>
              </a:lnSpc>
              <a:defRPr/>
            </a:pPr>
            <a:r>
              <a:rPr lang="en-US" sz="1400" b="1" i="0" u="none" strike="noStrike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采集指标：</a:t>
            </a:r>
            <a:r>
              <a:rPr lang="en-US" sz="1400" b="0" i="0" u="none" strike="noStrike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并发数、总请求、吞吐 req/s、平均与</a:t>
            </a:r>
            <a:endParaRPr lang="en-US" sz="1100"/>
          </a:p>
          <a:p>
            <a:pPr marL="0" indent="0" algn="l">
              <a:lnSpc>
                <a:spcPct val="141666"/>
              </a:lnSpc>
            </a:pPr>
            <a:r>
              <a:rPr lang="en-US" sz="1400" b="0" i="0" u="none" strike="noStrike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P95 响应、错误率，另开终端采样 CPU 与内存。</a:t>
            </a:r>
          </a:p>
          <a:p>
            <a:pPr marL="0" indent="0" algn="l">
              <a:lnSpc>
                <a:spcPct val="141666"/>
              </a:lnSpc>
            </a:pPr>
            <a:r>
              <a:rPr lang="en-US" sz="1400" b="1" i="0" u="none" strike="noStrike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对照方式：</a:t>
            </a:r>
            <a:r>
              <a:rPr lang="en-US" sz="1400" b="0" i="0" u="none" strike="noStrike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单体 8080 与微服务 8081–8086 各跑</a:t>
            </a:r>
          </a:p>
          <a:p>
            <a:pPr marL="0" indent="0" algn="l">
              <a:lnSpc>
                <a:spcPct val="141666"/>
              </a:lnSpc>
            </a:pPr>
            <a:r>
              <a:rPr lang="en-US" sz="1400" b="0" i="0" u="none" strike="noStrike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3 轮，--summary-export 原始 JSON 落 results/。</a:t>
            </a:r>
          </a:p>
        </p:txBody>
      </p:sp>
      <p:sp>
        <p:nvSpPr>
          <p:cNvPr id="10" name="AutoShape 10"/>
          <p:cNvSpPr/>
          <p:nvPr/>
        </p:nvSpPr>
        <p:spPr>
          <a:xfrm>
            <a:off x="6096000" y="1346200"/>
            <a:ext cx="53848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结果记录表（2026-09-02 实测，三轮中位数）</a:t>
            </a:r>
            <a:endParaRPr lang="en-US" sz="1100"/>
          </a:p>
        </p:txBody>
      </p:sp>
      <p:cxnSp>
        <p:nvCxnSpPr>
          <p:cNvPr id="11" name="Connector 11"/>
          <p:cNvCxnSpPr/>
          <p:nvPr/>
        </p:nvCxnSpPr>
        <p:spPr>
          <a:xfrm rot="-8107">
            <a:off x="6096007" y="1695450"/>
            <a:ext cx="5384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2563EB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graphicFrame>
        <p:nvGraphicFramePr>
          <p:cNvPr id="12" name="Table 12"/>
          <p:cNvGraphicFramePr>
            <a:graphicFrameLocks noGrp="1"/>
          </p:cNvGraphicFramePr>
          <p:nvPr/>
        </p:nvGraphicFramePr>
        <p:xfrm>
          <a:off x="6096000" y="1854200"/>
          <a:ext cx="5384800" cy="3686556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1219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2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65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41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4958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场景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D132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版本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D132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req/s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D132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P95 ms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D132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错误率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D1326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9496">
                <a:tc rowSpan="2"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sz="1200" b="0">
                          <a:solidFill>
                            <a:srgbClr val="2E343C"/>
                          </a:solidFill>
                          <a:latin typeface="Noto Sans SC"/>
                        </a:rPr>
                        <a:t>航班查询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sz="1200" b="0">
                          <a:solidFill>
                            <a:srgbClr val="2E343C"/>
                          </a:solidFill>
                          <a:latin typeface="Roboto Mono"/>
                        </a:rPr>
                        <a:t>单体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sz="1200" b="0">
                          <a:solidFill>
                            <a:srgbClr val="B07610"/>
                          </a:solidFill>
                          <a:latin typeface="Noto Sans SC"/>
                        </a:rPr>
                        <a:t>30.964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F7EB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sz="1200" b="0">
                          <a:solidFill>
                            <a:srgbClr val="B07610"/>
                          </a:solidFill>
                          <a:latin typeface="Noto Sans SC"/>
                        </a:rPr>
                        <a:t>20.533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F7EB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sz="1200" b="0">
                          <a:solidFill>
                            <a:srgbClr val="B07610"/>
                          </a:solidFill>
                          <a:latin typeface="Noto Sans SC"/>
                        </a:rPr>
                        <a:t>0%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F7EB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9496">
                <a:tc vMerge="1">
                  <a:txBody>
                    <a:bodyPr/>
                    <a:lstStyle/>
                    <a:p>
                      <a:pPr algn="ctr">
                        <a:defRPr/>
                      </a:pPr>
                      <a:endParaRPr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sz="1200" b="0">
                          <a:solidFill>
                            <a:srgbClr val="2E343C"/>
                          </a:solidFill>
                          <a:latin typeface="Roboto Mono"/>
                        </a:rPr>
                        <a:t>微服务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sz="1200" b="0">
                          <a:solidFill>
                            <a:srgbClr val="B07610"/>
                          </a:solidFill>
                          <a:latin typeface="Noto Sans SC"/>
                        </a:rPr>
                        <a:t>31.565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F7EB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sz="1200" b="0">
                          <a:solidFill>
                            <a:srgbClr val="B07610"/>
                          </a:solidFill>
                          <a:latin typeface="Noto Sans SC"/>
                        </a:rPr>
                        <a:t>4.595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F7EB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sz="1200" b="0">
                          <a:solidFill>
                            <a:srgbClr val="B07610"/>
                          </a:solidFill>
                          <a:latin typeface="Noto Sans SC"/>
                        </a:rPr>
                        <a:t>0%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F7EB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9496">
                <a:tc rowSpan="2"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sz="1200" b="0">
                          <a:solidFill>
                            <a:srgbClr val="2E343C"/>
                          </a:solidFill>
                          <a:latin typeface="Noto Sans SC"/>
                        </a:rPr>
                        <a:t>酒店查询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sz="1200" b="0">
                          <a:solidFill>
                            <a:srgbClr val="2E343C"/>
                          </a:solidFill>
                          <a:latin typeface="Roboto Mono"/>
                        </a:rPr>
                        <a:t>单体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sz="1200" b="0">
                          <a:solidFill>
                            <a:srgbClr val="B07610"/>
                          </a:solidFill>
                          <a:latin typeface="Noto Sans SC"/>
                        </a:rPr>
                        <a:t>30.803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F7EB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sz="1200" b="0">
                          <a:solidFill>
                            <a:srgbClr val="B07610"/>
                          </a:solidFill>
                          <a:latin typeface="Noto Sans SC"/>
                        </a:rPr>
                        <a:t>22.794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F7EB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sz="1200" b="0">
                          <a:solidFill>
                            <a:srgbClr val="B07610"/>
                          </a:solidFill>
                          <a:latin typeface="Noto Sans SC"/>
                        </a:rPr>
                        <a:t>0%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F7EB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9496">
                <a:tc vMerge="1">
                  <a:txBody>
                    <a:bodyPr/>
                    <a:lstStyle/>
                    <a:p>
                      <a:pPr algn="ctr">
                        <a:defRPr/>
                      </a:pPr>
                      <a:endParaRPr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sz="1200" b="0">
                          <a:solidFill>
                            <a:srgbClr val="2E343C"/>
                          </a:solidFill>
                          <a:latin typeface="Roboto Mono"/>
                        </a:rPr>
                        <a:t>微服务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sz="1200" b="0">
                          <a:solidFill>
                            <a:srgbClr val="B07610"/>
                          </a:solidFill>
                          <a:latin typeface="Noto Sans SC"/>
                        </a:rPr>
                        <a:t>31.564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F7EB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sz="1200" b="0">
                          <a:solidFill>
                            <a:srgbClr val="B07610"/>
                          </a:solidFill>
                          <a:latin typeface="Noto Sans SC"/>
                        </a:rPr>
                        <a:t>4.436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F7EB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sz="1200" b="0">
                          <a:solidFill>
                            <a:srgbClr val="B07610"/>
                          </a:solidFill>
                          <a:latin typeface="Noto Sans SC"/>
                        </a:rPr>
                        <a:t>0%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F7EB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9496">
                <a:tc rowSpan="2"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sz="1200" b="0">
                          <a:solidFill>
                            <a:srgbClr val="2E343C"/>
                          </a:solidFill>
                          <a:latin typeface="Noto Sans SC"/>
                        </a:rPr>
                        <a:t>并发下单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sz="1200" b="0">
                          <a:solidFill>
                            <a:srgbClr val="2E343C"/>
                          </a:solidFill>
                          <a:latin typeface="Roboto Mono"/>
                        </a:rPr>
                        <a:t>单体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sz="1200" b="0">
                          <a:solidFill>
                            <a:srgbClr val="B07610"/>
                          </a:solidFill>
                          <a:latin typeface="Noto Sans SC"/>
                        </a:rPr>
                        <a:t>30.667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F7EB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sz="1200" b="0">
                          <a:solidFill>
                            <a:srgbClr val="B07610"/>
                          </a:solidFill>
                          <a:latin typeface="Noto Sans SC"/>
                        </a:rPr>
                        <a:t>801.52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F7EB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sz="1200" b="0">
                          <a:solidFill>
                            <a:srgbClr val="B07610"/>
                          </a:solidFill>
                          <a:latin typeface="Noto Sans SC"/>
                        </a:rPr>
                        <a:t>0%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F7EB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9496">
                <a:tc vMerge="1">
                  <a:txBody>
                    <a:bodyPr/>
                    <a:lstStyle/>
                    <a:p>
                      <a:pPr algn="ctr">
                        <a:defRPr/>
                      </a:pPr>
                      <a:endParaRPr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sz="1200" b="0">
                          <a:solidFill>
                            <a:srgbClr val="2E343C"/>
                          </a:solidFill>
                          <a:latin typeface="Roboto Mono"/>
                        </a:rPr>
                        <a:t>微服务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sz="1200" b="0">
                          <a:solidFill>
                            <a:srgbClr val="B07610"/>
                          </a:solidFill>
                          <a:latin typeface="Noto Sans SC"/>
                        </a:rPr>
                        <a:t>23.626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F7EB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sz="1200" b="0">
                          <a:solidFill>
                            <a:srgbClr val="B07610"/>
                          </a:solidFill>
                          <a:latin typeface="Noto Sans SC"/>
                        </a:rPr>
                        <a:t>139.68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F7EB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sz="1200" b="0">
                          <a:solidFill>
                            <a:srgbClr val="B07610"/>
                          </a:solidFill>
                          <a:latin typeface="Noto Sans SC"/>
                        </a:rPr>
                        <a:t>0%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F7EB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3" name="AutoShape 13"/>
          <p:cNvSpPr/>
          <p:nvPr/>
        </p:nvSpPr>
        <p:spPr>
          <a:xfrm>
            <a:off x="711200" y="5943600"/>
            <a:ext cx="10769600" cy="609600"/>
          </a:xfrm>
          <a:prstGeom prst="roundRect">
            <a:avLst>
              <a:gd name="adj" fmla="val 0"/>
            </a:avLst>
          </a:prstGeom>
          <a:solidFill>
            <a:srgbClr val="0D132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" name="AutoShape 14"/>
          <p:cNvSpPr/>
          <p:nvPr/>
        </p:nvSpPr>
        <p:spPr>
          <a:xfrm>
            <a:off x="914400" y="6019800"/>
            <a:ext cx="103632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并发下单双重核对：k6 teardown 自动断言成功订单数 ≤ 初始库存；SQL 复核库存非负且订单数等于库存扣减量，任一不过即判失败。</a:t>
            </a:r>
            <a:endParaRPr lang="en-US" sz="11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8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11200" y="330200"/>
            <a:ext cx="6350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2563EB"/>
                </a:solidFill>
                <a:latin typeface="微软雅黑"/>
                <a:ea typeface="Roboto Mono"/>
                <a:cs typeface="Roboto Mono"/>
                <a:sym typeface="Roboto Mono"/>
              </a:rPr>
              <a:t>15 / SUMMARY &amp; DEMO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10769600" y="330200"/>
            <a:ext cx="7112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8C96A6"/>
                </a:solidFill>
                <a:latin typeface="微软雅黑"/>
                <a:ea typeface="Roboto Mono"/>
                <a:cs typeface="Roboto Mono"/>
                <a:sym typeface="Roboto Mono"/>
              </a:rPr>
              <a:t>18 / 20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11200" y="584200"/>
            <a:ext cx="107696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600" b="1" i="0" u="none" strike="noStrike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过程管理与演示路线</a:t>
            </a:r>
            <a:endParaRPr lang="en-US" sz="1100"/>
          </a:p>
        </p:txBody>
      </p:sp>
      <p:cxnSp>
        <p:nvCxnSpPr>
          <p:cNvPr id="5" name="Connector 5"/>
          <p:cNvCxnSpPr/>
          <p:nvPr/>
        </p:nvCxnSpPr>
        <p:spPr>
          <a:xfrm rot="-4053">
            <a:off x="711204" y="1162050"/>
            <a:ext cx="10769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9DEE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" name="AutoShape 6"/>
          <p:cNvSpPr/>
          <p:nvPr/>
        </p:nvSpPr>
        <p:spPr>
          <a:xfrm>
            <a:off x="711200" y="1346200"/>
            <a:ext cx="5080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过程管理与工程诚信</a:t>
            </a:r>
            <a:endParaRPr lang="en-US" sz="1100"/>
          </a:p>
        </p:txBody>
      </p:sp>
      <p:cxnSp>
        <p:nvCxnSpPr>
          <p:cNvPr id="7" name="Connector 7"/>
          <p:cNvCxnSpPr/>
          <p:nvPr/>
        </p:nvCxnSpPr>
        <p:spPr>
          <a:xfrm rot="-8594">
            <a:off x="711208" y="1695450"/>
            <a:ext cx="508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2563EB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8" name="AutoShape 8"/>
          <p:cNvSpPr/>
          <p:nvPr/>
        </p:nvSpPr>
        <p:spPr>
          <a:xfrm>
            <a:off x="711200" y="1879600"/>
            <a:ext cx="5080000" cy="368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127000" indent="-127000" algn="l">
              <a:lnSpc>
                <a:spcPct val="154166"/>
              </a:lnSpc>
              <a:buClr>
                <a:srgbClr val="2E343C"/>
              </a:buClr>
              <a:buChar char="•"/>
              <a:defRPr/>
            </a:pPr>
            <a:r>
              <a:rPr lang="en-US" sz="1500" b="0" i="0" u="none" strike="noStrike" dirty="0" err="1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每日站会记录、看板任务流转、PR</a:t>
            </a:r>
            <a:r>
              <a:rPr lang="en-US" sz="1500" b="0" i="0" u="none" strike="noStrike" dirty="0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sz="1500" b="0" i="0" u="none" strike="noStrike" dirty="0" err="1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评审全程留痕</a:t>
            </a:r>
            <a:endParaRPr lang="en-US" sz="1500" dirty="0"/>
          </a:p>
          <a:p>
            <a:pPr marL="127000" indent="-127000" algn="l">
              <a:lnSpc>
                <a:spcPct val="154166"/>
              </a:lnSpc>
              <a:buClr>
                <a:srgbClr val="2E343C"/>
              </a:buClr>
              <a:buChar char="•"/>
            </a:pPr>
            <a:r>
              <a:rPr lang="en-US" sz="1500" b="0" i="0" u="none" strike="noStrike" dirty="0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245 </a:t>
            </a:r>
            <a:r>
              <a:rPr lang="en-US" sz="1500" b="0" i="0" u="none" strike="noStrike" dirty="0" err="1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次提交，monolith-start</a:t>
            </a:r>
            <a:r>
              <a:rPr lang="en-US" sz="1500" b="0" i="0" u="none" strike="noStrike" dirty="0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 与 microservices-phase1 </a:t>
            </a:r>
            <a:r>
              <a:rPr lang="en-US" sz="1500" b="0" i="0" u="none" strike="noStrike" dirty="0" err="1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两个标签冻结阶段基线</a:t>
            </a:r>
            <a:endParaRPr lang="en-US" sz="1500" b="0" i="0" u="none" strike="noStrike" dirty="0">
              <a:solidFill>
                <a:srgbClr val="2E343C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127000" indent="-127000" algn="l">
              <a:lnSpc>
                <a:spcPct val="154166"/>
              </a:lnSpc>
              <a:buClr>
                <a:srgbClr val="2E343C"/>
              </a:buClr>
              <a:buChar char="•"/>
            </a:pPr>
            <a:r>
              <a:rPr lang="en-US" sz="1500" b="0" i="0" u="none" strike="noStrike" dirty="0" err="1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交付物按</a:t>
            </a:r>
            <a:r>
              <a:rPr lang="en-US" sz="1500" b="0" i="0" u="none" strike="noStrike" dirty="0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 01 </a:t>
            </a:r>
            <a:r>
              <a:rPr lang="en-US" sz="1500" b="0" i="0" u="none" strike="noStrike" dirty="0" err="1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需求至</a:t>
            </a:r>
            <a:r>
              <a:rPr lang="en-US" sz="1500" b="0" i="0" u="none" strike="noStrike" dirty="0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 06 </a:t>
            </a:r>
            <a:r>
              <a:rPr lang="en-US" sz="1500" b="0" i="0" u="none" strike="noStrike" dirty="0" err="1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交付六目录归档，证据总表逐项索引</a:t>
            </a:r>
            <a:endParaRPr lang="en-US" sz="1500" b="0" i="0" u="none" strike="noStrike" dirty="0">
              <a:solidFill>
                <a:srgbClr val="2E343C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127000" indent="-127000" algn="l">
              <a:lnSpc>
                <a:spcPct val="154166"/>
              </a:lnSpc>
              <a:buClr>
                <a:srgbClr val="2E343C"/>
              </a:buClr>
              <a:buChar char="•"/>
            </a:pPr>
            <a:r>
              <a:rPr lang="en-US" sz="1500" b="0" i="0" u="none" strike="noStrike" dirty="0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AI 使用规范与记录详见第 3 页</a:t>
            </a:r>
          </a:p>
          <a:p>
            <a:pPr marL="127000" indent="-127000" algn="l">
              <a:lnSpc>
                <a:spcPct val="154166"/>
              </a:lnSpc>
              <a:buClr>
                <a:srgbClr val="2E343C"/>
              </a:buClr>
              <a:buChar char="•"/>
            </a:pPr>
            <a:r>
              <a:rPr lang="en-US" sz="1500" b="0" i="0" u="none" strike="noStrike" dirty="0" err="1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边界声明：不含真实支付与出票；API Gateway、注册中心、配置中心列为后续阶段</a:t>
            </a:r>
            <a:endParaRPr lang="en-US" sz="1500" b="0" i="0" u="none" strike="noStrike" dirty="0">
              <a:solidFill>
                <a:srgbClr val="2E343C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127000" indent="-127000" algn="l">
              <a:lnSpc>
                <a:spcPct val="154166"/>
              </a:lnSpc>
              <a:buClr>
                <a:srgbClr val="2E343C"/>
              </a:buClr>
              <a:buChar char="•"/>
            </a:pPr>
            <a:r>
              <a:rPr lang="en-US" sz="1500" b="0" i="0" u="none" strike="noStrike" dirty="0" err="1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性能对比与</a:t>
            </a:r>
            <a:r>
              <a:rPr lang="en-US" sz="1500" b="0" i="0" u="none" strike="noStrike" dirty="0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 HPA </a:t>
            </a:r>
            <a:r>
              <a:rPr lang="en-US" sz="1500" b="0" i="0" u="none" strike="noStrike" dirty="0" err="1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扩缩容均已有</a:t>
            </a:r>
            <a:r>
              <a:rPr lang="en-US" sz="1500" b="0" i="0" u="none" strike="noStrike" dirty="0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 09-02 </a:t>
            </a:r>
            <a:r>
              <a:rPr lang="en-US" sz="1500" b="0" i="0" u="none" strike="noStrike" dirty="0" err="1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实测记录，结论可复现</a:t>
            </a:r>
            <a:endParaRPr lang="en-US" sz="1500" b="0" i="0" u="none" strike="noStrike" dirty="0">
              <a:solidFill>
                <a:srgbClr val="2E343C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6096000" y="1346200"/>
            <a:ext cx="53848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现场演示路线</a:t>
            </a:r>
            <a:endParaRPr lang="en-US" sz="1100"/>
          </a:p>
        </p:txBody>
      </p:sp>
      <p:cxnSp>
        <p:nvCxnSpPr>
          <p:cNvPr id="10" name="Connector 10"/>
          <p:cNvCxnSpPr/>
          <p:nvPr/>
        </p:nvCxnSpPr>
        <p:spPr>
          <a:xfrm rot="-8107">
            <a:off x="6096007" y="1695450"/>
            <a:ext cx="5384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2563EB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11" name="AutoShape 11"/>
          <p:cNvSpPr/>
          <p:nvPr/>
        </p:nvSpPr>
        <p:spPr>
          <a:xfrm>
            <a:off x="6096000" y="1905000"/>
            <a:ext cx="4318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2563EB"/>
                </a:solidFill>
                <a:latin typeface="Roboto Mono"/>
                <a:ea typeface="Roboto Mono"/>
                <a:cs typeface="Roboto Mono"/>
                <a:sym typeface="Roboto Mono"/>
              </a:rPr>
              <a:t>1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6502400" y="1879600"/>
            <a:ext cx="49784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仓库结构与 Run #217 流水线全绿记录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6096000" y="2438400"/>
            <a:ext cx="4318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2563EB"/>
                </a:solidFill>
                <a:latin typeface="Roboto Mono"/>
                <a:ea typeface="Roboto Mono"/>
                <a:cs typeface="Roboto Mono"/>
                <a:sym typeface="Roboto Mono"/>
              </a:rPr>
              <a:t>2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6502400" y="2413000"/>
            <a:ext cx="49784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提交改动触发流水线，展示测试门禁实时执行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6096000" y="2971800"/>
            <a:ext cx="4318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2563EB"/>
                </a:solidFill>
                <a:latin typeface="Roboto Mono"/>
                <a:ea typeface="Roboto Mono"/>
                <a:cs typeface="Roboto Mono"/>
                <a:sym typeface="Roboto Mono"/>
              </a:rPr>
              <a:t>3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6502400" y="2946400"/>
            <a:ext cx="54720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kubectl 展示 Deployment、HPA、StatefulSet 与 Pod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6096000" y="3505200"/>
            <a:ext cx="4318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2563EB"/>
                </a:solidFill>
                <a:latin typeface="Roboto Mono"/>
                <a:ea typeface="Roboto Mono"/>
                <a:cs typeface="Roboto Mono"/>
                <a:sym typeface="Roboto Mono"/>
              </a:rPr>
              <a:t>4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6502400" y="3479800"/>
            <a:ext cx="49784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重点用例：UC04 交通订单履约、UC11 AI 行程生成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6096000" y="4038600"/>
            <a:ext cx="4318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2563EB"/>
                </a:solidFill>
                <a:latin typeface="Roboto Mono"/>
                <a:ea typeface="Roboto Mono"/>
                <a:cs typeface="Roboto Mono"/>
                <a:sym typeface="Roboto Mono"/>
              </a:rPr>
              <a:t>5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6502400" y="4013200"/>
            <a:ext cx="49784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k6 加压观察 HPA 副本 2 向 6 弹性爬升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6096000" y="4572000"/>
            <a:ext cx="4318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2563EB"/>
                </a:solidFill>
                <a:latin typeface="Roboto Mono"/>
                <a:ea typeface="Roboto Mono"/>
                <a:cs typeface="Roboto Mono"/>
                <a:sym typeface="Roboto Mono"/>
              </a:rPr>
              <a:t>6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6502400" y="4546600"/>
            <a:ext cx="49784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停止身份服务复现故障隔离与自动恢复</a:t>
            </a:r>
            <a:endParaRPr lang="en-US" sz="1100"/>
          </a:p>
        </p:txBody>
      </p:sp>
      <p:cxnSp>
        <p:nvCxnSpPr>
          <p:cNvPr id="23" name="Connector 23"/>
          <p:cNvCxnSpPr/>
          <p:nvPr/>
        </p:nvCxnSpPr>
        <p:spPr>
          <a:xfrm rot="-8107">
            <a:off x="6096007" y="5124450"/>
            <a:ext cx="5384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9DEE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4" name="AutoShape 24"/>
          <p:cNvSpPr/>
          <p:nvPr/>
        </p:nvSpPr>
        <p:spPr>
          <a:xfrm>
            <a:off x="6096000" y="5257800"/>
            <a:ext cx="53848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536174"/>
                </a:solidFill>
                <a:latin typeface="Noto Sans SC"/>
                <a:ea typeface="Noto Sans SC"/>
                <a:cs typeface="Noto Sans SC"/>
                <a:sym typeface="Noto Sans SC"/>
              </a:rPr>
              <a:t>演示脚本位于 scripts/experiments/ 与 04_tests，所有命令可重复执行。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711200" y="5791200"/>
            <a:ext cx="10769600" cy="711200"/>
          </a:xfrm>
          <a:prstGeom prst="roundRect">
            <a:avLst>
              <a:gd name="adj" fmla="val 0"/>
            </a:avLst>
          </a:prstGeom>
          <a:solidFill>
            <a:srgbClr val="0D132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6" name="AutoShape 26"/>
          <p:cNvSpPr/>
          <p:nvPr/>
        </p:nvSpPr>
        <p:spPr>
          <a:xfrm>
            <a:off x="965200" y="5892800"/>
            <a:ext cx="102616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总结：同一代码库交付单体回归基线与六服务云原生形态——结论有证据、过程可复现、边界不夸大。</a:t>
            </a:r>
            <a:endParaRPr lang="en-US" sz="11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720000" y="1620000"/>
            <a:ext cx="10753200" cy="30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0" b="1">
                <a:latin typeface="Microsoft YaHei"/>
              </a:rPr>
              <a:t>谢谢大家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4284000"/>
            <a:ext cx="853440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>
                <a:latin typeface="Microsoft YaHei"/>
              </a:rPr>
              <a:t>TravelMate：从单体到六服务的云原生改造</a:t>
            </a:r>
          </a:p>
          <a:p>
            <a:pPr algn="ctr"/>
            <a:r>
              <a:rPr sz="2200" b="0">
                <a:latin typeface="Microsoft YaHei"/>
              </a:rPr>
              <a:t>第 5 组 · Miracle 小组　|　2026-09-04 最终答辩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2800" y="331200"/>
            <a:ext cx="6350400" cy="23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2563EB"/>
                </a:solidFill>
                <a:latin typeface="微软雅黑"/>
              </a:rPr>
              <a:t>16 / THANKS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140</TotalTime>
  <Words>2839</Words>
  <Application>Microsoft Office PowerPoint</Application>
  <PresentationFormat>宽屏</PresentationFormat>
  <Paragraphs>583</Paragraphs>
  <Slides>20</Slides>
  <Notes>17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20</vt:i4>
      </vt:variant>
    </vt:vector>
  </HeadingPairs>
  <TitlesOfParts>
    <vt:vector size="27" baseType="lpstr">
      <vt:lpstr>Noto Sans SC</vt:lpstr>
      <vt:lpstr>微软雅黑</vt:lpstr>
      <vt:lpstr>微软雅黑</vt:lpstr>
      <vt:lpstr>Arial</vt:lpstr>
      <vt:lpstr>Roboto Mono</vt:lpstr>
      <vt:lpstr>Office 主题​​</vt:lpstr>
      <vt:lpstr>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Youth Yang</cp:lastModifiedBy>
  <cp:revision>7</cp:revision>
  <dcterms:modified xsi:type="dcterms:W3CDTF">2026-09-03T07:29:44Z</dcterms:modified>
</cp:coreProperties>
</file>